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Person 1 (Model)</a:t>
            </a:r>
          </a:p>
          <a:p/>
          <a:p>
            <a:r>
              <a:t>SPEAKER NOTES:</a:t>
            </a:r>
          </a:p>
          <a:p>
            <a:r>
              <a:t>Welcome everyone. Today we are presenting our Week 3 status on reproducing the 2024 Automatika paper on Speech Emotion Recognition. In this phase, we implemented the paper's deep 1D Convolutional Neural Network architecture, established strict anti-leakage training protocols, and carried out 54 controlled experiments to test whether noise augmentation and new feature types truly boost emotion detection.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Person 1 (Model)</a:t>
            </a:r>
          </a:p>
          <a:p/>
          <a:p>
            <a:r>
              <a:t>SPEAKER NOTES:</a:t>
            </a:r>
          </a:p>
          <a:p>
            <a:r>
              <a:t>To orient everyone on our progress: In Week 1, we processed the raw EmoDB audio, extracted MFCC and MFMC features, and verified with basic SVMs that the signal contains emotional information. In Week 2, we created the 5-set noise augmentation datasets and set up two versions: Version A, which only augments the training set, and Version B, which augments before splitting. Our mission in Week 3 was to train the 1D-CNN across all setups and compare the results with the paper.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Person 1 (Model)</a:t>
            </a:r>
          </a:p>
          <a:p/>
          <a:p>
            <a:r>
              <a:t>SPEAKER NOTES:</a:t>
            </a:r>
          </a:p>
          <a:p>
            <a:r>
              <a:t>This slide illustrates the full end-to-end journey of an audio clip in plain terms. First, we take an emotional recording spoken by an actor. Second, we transform the complex raw sound wave into acoustic frequency representations: either standard MFCCs or magnitude-based MFMCs. Third, these features are fed into a 1D Convolutional Neural Network that automatically detects emotional patterns. Finally, the network outputs a probability score across seven emotions to make its final guess.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Person 1 (Model)</a:t>
            </a:r>
          </a:p>
          <a:p/>
          <a:p>
            <a:r>
              <a:t>SPEAKER NOTES:</a:t>
            </a:r>
          </a:p>
          <a:p>
            <a:r>
              <a:t>For non-deep-learning audiences, the easiest way to understand a 1D Convolutional Neural Network is as a hierarchy of pattern scanners. Instead of scanning pixels on a photo, it scans across the acoustic frequencies of speech. It uses four stages, starting with simple acoustic shapes and building up to complex emotional signatures. It is relatively lightweight, with about 65,000 parameters, and uses Dropout and Batch Normalization to help it generalize.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Person 2 (Augmentation)</a:t>
            </a:r>
          </a:p>
          <a:p/>
          <a:p>
            <a:r>
              <a:t>SPEAKER NOTES:</a:t>
            </a:r>
          </a:p>
          <a:p>
            <a:r>
              <a:t>Now turning to data augmentation. Neural networks easily memorize small datasets. With only 535 total audio files, a network can quickly overfit. To teach the network robustness, the paper specifies creating five versions of every audio clip: the original, a clean copy, and three versions with increasing levels of Gaussian white noise—1%, 2.5%, and 5%. The image on the right shows the acoustic fingerprints extracted from these audio clips.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Person 2 (Augmentation)</a:t>
            </a:r>
          </a:p>
          <a:p/>
          <a:p>
            <a:r>
              <a:t>SPEAKER NOTES:</a:t>
            </a:r>
          </a:p>
          <a:p>
            <a:r>
              <a:t>This slide highlights the central methodological distinction of our project. We ran 54 distinct training runs across two feature types, three coefficient sizes, and three random seeds. Most importantly, we tested two augmentation protocols: Version A splits the data before augmenting, so the test set has zero overlap with training. Version B augments all files first and then splits. In Version B, almost 96% of test clips are simply noisy replicas of training recordings. This contrast is crucial for interpreting published deep learning accuracy claims.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Person 3 (Training)</a:t>
            </a:r>
          </a:p>
          <a:p/>
          <a:p>
            <a:r>
              <a:t>SPEAKER NOTES:</a:t>
            </a:r>
          </a:p>
          <a:p>
            <a:r>
              <a:t>Turning to training results: The table on the left presents the mean and standard deviation across all three seeds. Under our clean setup (Version A), MFCC test accuracy reaches about 70.7%, and MFMC reaches about 72.3%. However, when we look at Version B on the right column of the table, test accuracy jumps to nearly 89%. The confusion matrix on the right shows where the model succeeds and struggles: it recognizes Anger and Happiness with high precision, but frequently confuses Neutral, Boredom, and Sadness.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Person 3 (Training)</a:t>
            </a:r>
          </a:p>
          <a:p/>
          <a:p>
            <a:r>
              <a:t>SPEAKER NOTES:</a:t>
            </a:r>
          </a:p>
          <a:p>
            <a:r>
              <a:t>Here are our key takeaways. First, our clean leak-free result is around 71 to 72%, which is well below the paper's claimed 97.2%. Second, when we augment before splitting, accuracy jumps sharply into the upper 80s, indicating that data leakage is a plausible contributing factor. However, our setup also differs in input dimensions and filter count, and we could not find an explicit statement in the paper confirming their split order. Third, leakage cannot explain why our baseline without augmentation is 64 to 71% compared to the paper's 86.9%. Finally, with 107 test clips and standard deviations of 4 to 7%, only the 12-coefficient MFMC gain stands out clearly.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Person 4 (Evaluation)</a:t>
            </a:r>
          </a:p>
          <a:p/>
          <a:p>
            <a:r>
              <a:t>SPEAKER NOTES:</a:t>
            </a:r>
          </a:p>
          <a:p>
            <a:r>
              <a:t>Turning to our methodology: To reproduce the paper faithfully, we had to resolve several technical ambiguities. The paper mentions 144 features, whereas 12, 24, and 30 coefficients yield 24, 48, and 60 pooled statistics. We also used 'same' padding so the 1D convolutions would not run out of dimensions, and corrected the 4th layer to 64 filters. Importantly, we note that the 12-coefficient model feeds into a smaller flatten layer than the 24 and 30 models, meaning capacity differences also play a role.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Person 4 (Evaluation)</a:t>
            </a:r>
          </a:p>
          <a:p/>
          <a:p>
            <a:r>
              <a:t>SPEAKER NOTES:</a:t>
            </a:r>
          </a:p>
          <a:p>
            <a:r>
              <a:t>Finally, our plan for Week 4: EmoDB is a German-language dataset with 10 speakers. To test whether these conclusions hold globally, we will expand our verified pipeline to three additional corpora: CAFE in Canadian French, AESDD in Greek, and MESD in Mexican Spanish. This cross-lingual evaluation will help us determine if the augmentation patterns and feature dynamics we observed generalize across languages.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All Team Members</a:t>
            </a:r>
          </a:p>
          <a:p/>
          <a:p>
            <a:r>
              <a:t>SPEAKER NOTES:</a:t>
            </a:r>
          </a:p>
          <a:p>
            <a:r>
              <a:t>Backup slide: Shows the exact layer parameters and training curves. Notice how training loss rapidly approaches zero across all runs, while validation loss diverges after epoch 20 to 30, illustrating that all models experience overfitting on this small dataset.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ounded Rectangle 1"/>
          <p:cNvSpPr/>
          <p:nvPr/>
        </p:nvSpPr>
        <p:spPr>
          <a:xfrm>
            <a:off x="1371600" y="1097280"/>
            <a:ext cx="9448495"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1645920"/>
            <a:ext cx="8534095" cy="3474720"/>
          </a:xfrm>
          <a:prstGeom prst="rect">
            <a:avLst/>
          </a:prstGeom>
          <a:noFill/>
        </p:spPr>
        <p:txBody>
          <a:bodyPr wrap="square">
            <a:spAutoFit/>
          </a:bodyPr>
          <a:lstStyle/>
          <a:p>
            <a:pPr>
              <a:spcAft>
                <a:spcPts val="1400"/>
              </a:spcAft>
              <a:defRPr sz="1200" b="1">
                <a:solidFill>
                  <a:srgbClr val="0E7490"/>
                </a:solidFill>
              </a:defRPr>
            </a:pPr>
            <a:r>
              <a:t>RESEARCH PAPER REPRODUCTION • WEEK 3</a:t>
            </a:r>
          </a:p>
          <a:p>
            <a:pPr>
              <a:spcAft>
                <a:spcPts val="1000"/>
              </a:spcAft>
              <a:defRPr sz="3200" b="1">
                <a:solidFill>
                  <a:srgbClr val="1E3A8A"/>
                </a:solidFill>
              </a:defRPr>
            </a:pPr>
            <a:r>
              <a:t>Speech Emotion Recognition with 1D-CNN</a:t>
            </a:r>
          </a:p>
          <a:p>
            <a:pPr>
              <a:spcAft>
                <a:spcPts val="2800"/>
              </a:spcAft>
              <a:defRPr sz="1800">
                <a:solidFill>
                  <a:srgbClr val="475569"/>
                </a:solidFill>
              </a:defRPr>
            </a:pPr>
            <a:r>
              <a:t>Evaluating Audio Data Augmentation and Feature Representations on EmoDB</a:t>
            </a:r>
          </a:p>
          <a:p>
            <a:pPr>
              <a:defRPr sz="1400">
                <a:solidFill>
                  <a:srgbClr val="0F172A"/>
                </a:solidFill>
              </a:defRPr>
            </a:pPr>
            <a:r>
              <a:t>Reproduction of: Thomas Mary Little Flower et al. (Automatika 2024)</a:t>
            </a:r>
            <a:br/>
            <a:r>
              <a:t>Team Emotion • Project Status &amp; Findings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E7490"/>
                </a:solidFill>
              </a:defRPr>
            </a:pPr>
            <a:r>
              <a:t>SPEECH EMOTION RECOGNITION • WEEK 3</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defRPr>
            </a:pPr>
            <a:r>
              <a:t>Project Roadmap: From Data Pipeline to Deep Learning</a:t>
            </a:r>
          </a:p>
        </p:txBody>
      </p:sp>
      <p:sp>
        <p:nvSpPr>
          <p:cNvPr id="4" name="Rounded Rectangle 3"/>
          <p:cNvSpPr/>
          <p:nvPr/>
        </p:nvSpPr>
        <p:spPr>
          <a:xfrm>
            <a:off x="731520" y="1645920"/>
            <a:ext cx="32918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2926080" cy="457200"/>
          </a:xfrm>
          <a:prstGeom prst="rect">
            <a:avLst/>
          </a:prstGeom>
          <a:noFill/>
        </p:spPr>
        <p:txBody>
          <a:bodyPr wrap="none">
            <a:spAutoFit/>
          </a:bodyPr>
          <a:lstStyle/>
          <a:p>
            <a:pPr>
              <a:defRPr sz="1400" b="1">
                <a:solidFill>
                  <a:srgbClr val="1E3A8A"/>
                </a:solidFill>
              </a:defRPr>
            </a:pPr>
            <a:r>
              <a:t>Week 1: Foundations</a:t>
            </a:r>
          </a:p>
        </p:txBody>
      </p:sp>
      <p:sp>
        <p:nvSpPr>
          <p:cNvPr id="6" name="TextBox 5"/>
          <p:cNvSpPr txBox="1"/>
          <p:nvPr/>
        </p:nvSpPr>
        <p:spPr>
          <a:xfrm>
            <a:off x="914400" y="2286000"/>
            <a:ext cx="2926080" cy="3474720"/>
          </a:xfrm>
          <a:prstGeom prst="rect">
            <a:avLst/>
          </a:prstGeom>
          <a:noFill/>
        </p:spPr>
        <p:txBody>
          <a:bodyPr wrap="square">
            <a:spAutoFit/>
          </a:bodyPr>
          <a:lstStyle/>
          <a:p>
            <a:pPr>
              <a:defRPr sz="1300">
                <a:solidFill>
                  <a:srgbClr val="0F172A"/>
                </a:solidFill>
              </a:defRPr>
            </a:pPr>
            <a:r>
              <a:t>• Loaded 535 EmoDB audio clips across 7 emotions.</a:t>
            </a:r>
          </a:p>
          <a:p>
            <a:pPr>
              <a:defRPr sz="1300">
                <a:solidFill>
                  <a:srgbClr val="0F172A"/>
                </a:solidFill>
              </a:defRPr>
            </a:pPr>
          </a:p>
          <a:p>
            <a:pPr>
              <a:defRPr sz="1300">
                <a:solidFill>
                  <a:srgbClr val="0F172A"/>
                </a:solidFill>
              </a:defRPr>
            </a:pPr>
            <a:r>
              <a:t>• Implemented MFCC and MFMC feature extraction (12, 24, 30 coefficients).</a:t>
            </a:r>
          </a:p>
          <a:p>
            <a:pPr>
              <a:defRPr sz="1300">
                <a:solidFill>
                  <a:srgbClr val="0F172A"/>
                </a:solidFill>
              </a:defRPr>
            </a:pPr>
          </a:p>
          <a:p>
            <a:pPr>
              <a:defRPr sz="1300">
                <a:solidFill>
                  <a:srgbClr val="0F172A"/>
                </a:solidFill>
              </a:defRPr>
            </a:pPr>
            <a:r>
              <a:t>• Established stratified 60/20/20 split.</a:t>
            </a:r>
          </a:p>
          <a:p>
            <a:pPr>
              <a:defRPr sz="1300">
                <a:solidFill>
                  <a:srgbClr val="0F172A"/>
                </a:solidFill>
              </a:defRPr>
            </a:pPr>
          </a:p>
          <a:p>
            <a:pPr>
              <a:defRPr sz="1300">
                <a:solidFill>
                  <a:srgbClr val="0F172A"/>
                </a:solidFill>
              </a:defRPr>
            </a:pPr>
            <a:r>
              <a:t>• Classical baselines: SVM reached 88.8% test accuracy without augmentation.</a:t>
            </a:r>
          </a:p>
        </p:txBody>
      </p:sp>
      <p:sp>
        <p:nvSpPr>
          <p:cNvPr id="7" name="Rounded Rectangle 6"/>
          <p:cNvSpPr/>
          <p:nvPr/>
        </p:nvSpPr>
        <p:spPr>
          <a:xfrm>
            <a:off x="4434840" y="1645920"/>
            <a:ext cx="32918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783080"/>
            <a:ext cx="2926080" cy="457200"/>
          </a:xfrm>
          <a:prstGeom prst="rect">
            <a:avLst/>
          </a:prstGeom>
          <a:noFill/>
        </p:spPr>
        <p:txBody>
          <a:bodyPr wrap="none">
            <a:spAutoFit/>
          </a:bodyPr>
          <a:lstStyle/>
          <a:p>
            <a:pPr>
              <a:defRPr sz="1400" b="1">
                <a:solidFill>
                  <a:srgbClr val="1E3A8A"/>
                </a:solidFill>
              </a:defRPr>
            </a:pPr>
            <a:r>
              <a:t>Week 2: Augmentation</a:t>
            </a:r>
          </a:p>
        </p:txBody>
      </p:sp>
      <p:sp>
        <p:nvSpPr>
          <p:cNvPr id="9" name="TextBox 8"/>
          <p:cNvSpPr txBox="1"/>
          <p:nvPr/>
        </p:nvSpPr>
        <p:spPr>
          <a:xfrm>
            <a:off x="4617720" y="2286000"/>
            <a:ext cx="2926080" cy="3474720"/>
          </a:xfrm>
          <a:prstGeom prst="rect">
            <a:avLst/>
          </a:prstGeom>
          <a:noFill/>
        </p:spPr>
        <p:txBody>
          <a:bodyPr wrap="square">
            <a:spAutoFit/>
          </a:bodyPr>
          <a:lstStyle/>
          <a:p>
            <a:pPr>
              <a:defRPr sz="1300">
                <a:solidFill>
                  <a:srgbClr val="0F172A"/>
                </a:solidFill>
              </a:defRPr>
            </a:pPr>
            <a:r>
              <a:t>• Built 5x Gaussian noise augmentation pipeline (noise levels 0.01, 0.025, 0.05).</a:t>
            </a:r>
          </a:p>
          <a:p>
            <a:pPr>
              <a:defRPr sz="1300">
                <a:solidFill>
                  <a:srgbClr val="0F172A"/>
                </a:solidFill>
              </a:defRPr>
            </a:pPr>
          </a:p>
          <a:p>
            <a:pPr>
              <a:defRPr sz="1300">
                <a:solidFill>
                  <a:srgbClr val="0F172A"/>
                </a:solidFill>
              </a:defRPr>
            </a:pPr>
            <a:r>
              <a:t>• Created Version A: augment training clips only (clean protocol, 1,819 rows).</a:t>
            </a:r>
          </a:p>
          <a:p>
            <a:pPr>
              <a:defRPr sz="1300">
                <a:solidFill>
                  <a:srgbClr val="0F172A"/>
                </a:solidFill>
              </a:defRPr>
            </a:pPr>
          </a:p>
          <a:p>
            <a:pPr>
              <a:defRPr sz="1300">
                <a:solidFill>
                  <a:srgbClr val="0F172A"/>
                </a:solidFill>
              </a:defRPr>
            </a:pPr>
            <a:r>
              <a:t>• Created Version B: augment all clips then split (potential leakage, 2,675 rows).</a:t>
            </a:r>
          </a:p>
          <a:p>
            <a:pPr>
              <a:defRPr sz="1300">
                <a:solidFill>
                  <a:srgbClr val="0F172A"/>
                </a:solidFill>
              </a:defRPr>
            </a:pPr>
          </a:p>
          <a:p>
            <a:pPr>
              <a:defRPr sz="1300">
                <a:solidFill>
                  <a:srgbClr val="0F172A"/>
                </a:solidFill>
              </a:defRPr>
            </a:pPr>
            <a:r>
              <a:t>• Verified zero feature NaNs and bitwise identical clean copies.</a:t>
            </a:r>
          </a:p>
        </p:txBody>
      </p:sp>
      <p:sp>
        <p:nvSpPr>
          <p:cNvPr id="10" name="Rounded Rectangle 9"/>
          <p:cNvSpPr/>
          <p:nvPr/>
        </p:nvSpPr>
        <p:spPr>
          <a:xfrm>
            <a:off x="8138160" y="1645920"/>
            <a:ext cx="3291840" cy="4389120"/>
          </a:xfrm>
          <a:prstGeom prst="roundRect">
            <a:avLst/>
          </a:prstGeom>
          <a:solidFill>
            <a:srgbClr val="EEF2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783080"/>
            <a:ext cx="2926080" cy="457200"/>
          </a:xfrm>
          <a:prstGeom prst="rect">
            <a:avLst/>
          </a:prstGeom>
          <a:noFill/>
        </p:spPr>
        <p:txBody>
          <a:bodyPr wrap="none">
            <a:spAutoFit/>
          </a:bodyPr>
          <a:lstStyle/>
          <a:p>
            <a:pPr>
              <a:defRPr sz="1400" b="1">
                <a:solidFill>
                  <a:srgbClr val="1E3A8A"/>
                </a:solidFill>
              </a:defRPr>
            </a:pPr>
            <a:r>
              <a:t>Week 3: Deep Learning Goal</a:t>
            </a:r>
          </a:p>
        </p:txBody>
      </p:sp>
      <p:sp>
        <p:nvSpPr>
          <p:cNvPr id="12" name="TextBox 11"/>
          <p:cNvSpPr txBox="1"/>
          <p:nvPr/>
        </p:nvSpPr>
        <p:spPr>
          <a:xfrm>
            <a:off x="8321040" y="2286000"/>
            <a:ext cx="2926080" cy="3474720"/>
          </a:xfrm>
          <a:prstGeom prst="rect">
            <a:avLst/>
          </a:prstGeom>
          <a:noFill/>
        </p:spPr>
        <p:txBody>
          <a:bodyPr wrap="square">
            <a:spAutoFit/>
          </a:bodyPr>
          <a:lstStyle/>
          <a:p>
            <a:pPr>
              <a:defRPr sz="1300">
                <a:solidFill>
                  <a:srgbClr val="1E3A8A"/>
                </a:solidFill>
              </a:defRPr>
            </a:pPr>
            <a:r>
              <a:t>• Build and compile the paper's 1D-CNN architecture.</a:t>
            </a:r>
          </a:p>
          <a:p>
            <a:pPr>
              <a:defRPr sz="1300">
                <a:solidFill>
                  <a:srgbClr val="1E3A8A"/>
                </a:solidFill>
              </a:defRPr>
            </a:pPr>
          </a:p>
          <a:p>
            <a:pPr>
              <a:defRPr sz="1300">
                <a:solidFill>
                  <a:srgbClr val="1E3A8A"/>
                </a:solidFill>
              </a:defRPr>
            </a:pPr>
            <a:r>
              <a:t>• Execute 18 experimental configurations across 3 independent random seeds (54 runs).</a:t>
            </a:r>
          </a:p>
          <a:p>
            <a:pPr>
              <a:defRPr sz="1300">
                <a:solidFill>
                  <a:srgbClr val="1E3A8A"/>
                </a:solidFill>
              </a:defRPr>
            </a:pPr>
          </a:p>
          <a:p>
            <a:pPr>
              <a:defRPr sz="1300">
                <a:solidFill>
                  <a:srgbClr val="1E3A8A"/>
                </a:solidFill>
              </a:defRPr>
            </a:pPr>
            <a:r>
              <a:t>• Strictly prevent evaluation data contamination.</a:t>
            </a:r>
          </a:p>
          <a:p>
            <a:pPr>
              <a:defRPr sz="1300">
                <a:solidFill>
                  <a:srgbClr val="1E3A8A"/>
                </a:solidFill>
              </a:defRPr>
            </a:pPr>
          </a:p>
          <a:p>
            <a:pPr>
              <a:defRPr sz="1300">
                <a:solidFill>
                  <a:srgbClr val="1E3A8A"/>
                </a:solidFill>
              </a:defRPr>
            </a:pPr>
            <a:r>
              <a:t>• Scientifically evaluate the paper's high accuracy claims (86.9% baseline, 97.2% with augmentation).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E7490"/>
                </a:solidFill>
              </a:defRPr>
            </a:pPr>
            <a:r>
              <a:t>SPEECH EMOTION RECOGNITION • WEEK 3</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defRPr>
            </a:pPr>
            <a:r>
              <a:t>The Speech Emotion Recognition Pipeline</a:t>
            </a:r>
          </a:p>
        </p:txBody>
      </p:sp>
      <p:sp>
        <p:nvSpPr>
          <p:cNvPr id="4" name="Rounded Rectangle 3"/>
          <p:cNvSpPr/>
          <p:nvPr/>
        </p:nvSpPr>
        <p:spPr>
          <a:xfrm>
            <a:off x="731520" y="1828800"/>
            <a:ext cx="2377440" cy="40233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65960"/>
            <a:ext cx="2011680" cy="457200"/>
          </a:xfrm>
          <a:prstGeom prst="rect">
            <a:avLst/>
          </a:prstGeom>
          <a:noFill/>
        </p:spPr>
        <p:txBody>
          <a:bodyPr wrap="none">
            <a:spAutoFit/>
          </a:bodyPr>
          <a:lstStyle/>
          <a:p>
            <a:pPr>
              <a:defRPr sz="1400" b="1">
                <a:solidFill>
                  <a:srgbClr val="1E3A8A"/>
                </a:solidFill>
              </a:defRPr>
            </a:pPr>
            <a:r>
              <a:t>1. Speech Audio</a:t>
            </a:r>
          </a:p>
        </p:txBody>
      </p:sp>
      <p:sp>
        <p:nvSpPr>
          <p:cNvPr id="6" name="TextBox 5"/>
          <p:cNvSpPr txBox="1"/>
          <p:nvPr/>
        </p:nvSpPr>
        <p:spPr>
          <a:xfrm>
            <a:off x="868680" y="2560320"/>
            <a:ext cx="2103120" cy="2743200"/>
          </a:xfrm>
          <a:prstGeom prst="rect">
            <a:avLst/>
          </a:prstGeom>
          <a:noFill/>
        </p:spPr>
        <p:txBody>
          <a:bodyPr wrap="square">
            <a:spAutoFit/>
          </a:bodyPr>
          <a:lstStyle/>
          <a:p>
            <a:pPr>
              <a:defRPr sz="1300">
                <a:solidFill>
                  <a:srgbClr val="0F172A"/>
                </a:solidFill>
              </a:defRPr>
            </a:pPr>
            <a:r>
              <a:t>535 raw German utterances</a:t>
            </a:r>
          </a:p>
          <a:p>
            <a:pPr>
              <a:defRPr sz="1300">
                <a:solidFill>
                  <a:srgbClr val="0F172A"/>
                </a:solidFill>
              </a:defRPr>
            </a:pPr>
            <a:r>
              <a:t>(16 kHz Mono, 10 speakers)</a:t>
            </a:r>
          </a:p>
        </p:txBody>
      </p:sp>
      <p:sp>
        <p:nvSpPr>
          <p:cNvPr id="7" name="Rounded Rectangle 6"/>
          <p:cNvSpPr/>
          <p:nvPr/>
        </p:nvSpPr>
        <p:spPr>
          <a:xfrm>
            <a:off x="3520440" y="1828800"/>
            <a:ext cx="2377440" cy="40233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03320" y="1965960"/>
            <a:ext cx="2011680" cy="457200"/>
          </a:xfrm>
          <a:prstGeom prst="rect">
            <a:avLst/>
          </a:prstGeom>
          <a:noFill/>
        </p:spPr>
        <p:txBody>
          <a:bodyPr wrap="none">
            <a:spAutoFit/>
          </a:bodyPr>
          <a:lstStyle/>
          <a:p>
            <a:pPr>
              <a:defRPr sz="1400" b="1">
                <a:solidFill>
                  <a:srgbClr val="1E3A8A"/>
                </a:solidFill>
              </a:defRPr>
            </a:pPr>
            <a:r>
              <a:t>2. Acoustic Features</a:t>
            </a:r>
          </a:p>
        </p:txBody>
      </p:sp>
      <p:sp>
        <p:nvSpPr>
          <p:cNvPr id="9" name="TextBox 8"/>
          <p:cNvSpPr txBox="1"/>
          <p:nvPr/>
        </p:nvSpPr>
        <p:spPr>
          <a:xfrm>
            <a:off x="3657600" y="2560320"/>
            <a:ext cx="2103120" cy="2743200"/>
          </a:xfrm>
          <a:prstGeom prst="rect">
            <a:avLst/>
          </a:prstGeom>
          <a:noFill/>
        </p:spPr>
        <p:txBody>
          <a:bodyPr wrap="square">
            <a:spAutoFit/>
          </a:bodyPr>
          <a:lstStyle/>
          <a:p>
            <a:pPr>
              <a:defRPr sz="1300">
                <a:solidFill>
                  <a:srgbClr val="0F172A"/>
                </a:solidFill>
              </a:defRPr>
            </a:pPr>
            <a:r>
              <a:t>MFCC (cepstral) &amp;</a:t>
            </a:r>
          </a:p>
          <a:p>
            <a:pPr>
              <a:defRPr sz="1300">
                <a:solidFill>
                  <a:srgbClr val="0F172A"/>
                </a:solidFill>
              </a:defRPr>
            </a:pPr>
            <a:r>
              <a:t>MFMC (magnitude)</a:t>
            </a:r>
          </a:p>
          <a:p>
            <a:pPr>
              <a:defRPr sz="1300">
                <a:solidFill>
                  <a:srgbClr val="0F172A"/>
                </a:solidFill>
              </a:defRPr>
            </a:pPr>
            <a:r>
              <a:t>12, 24, 30 coefficients</a:t>
            </a:r>
          </a:p>
        </p:txBody>
      </p:sp>
      <p:sp>
        <p:nvSpPr>
          <p:cNvPr id="10" name="Rounded Rectangle 9"/>
          <p:cNvSpPr/>
          <p:nvPr/>
        </p:nvSpPr>
        <p:spPr>
          <a:xfrm>
            <a:off x="6309360" y="1828800"/>
            <a:ext cx="2377440" cy="40233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965960"/>
            <a:ext cx="2011680" cy="457200"/>
          </a:xfrm>
          <a:prstGeom prst="rect">
            <a:avLst/>
          </a:prstGeom>
          <a:noFill/>
        </p:spPr>
        <p:txBody>
          <a:bodyPr wrap="none">
            <a:spAutoFit/>
          </a:bodyPr>
          <a:lstStyle/>
          <a:p>
            <a:pPr>
              <a:defRPr sz="1400" b="1">
                <a:solidFill>
                  <a:srgbClr val="1E3A8A"/>
                </a:solidFill>
              </a:defRPr>
            </a:pPr>
            <a:r>
              <a:t>3. 1D-CNN Model</a:t>
            </a:r>
          </a:p>
        </p:txBody>
      </p:sp>
      <p:sp>
        <p:nvSpPr>
          <p:cNvPr id="12" name="TextBox 11"/>
          <p:cNvSpPr txBox="1"/>
          <p:nvPr/>
        </p:nvSpPr>
        <p:spPr>
          <a:xfrm>
            <a:off x="6446520" y="2560320"/>
            <a:ext cx="2103120" cy="2743200"/>
          </a:xfrm>
          <a:prstGeom prst="rect">
            <a:avLst/>
          </a:prstGeom>
          <a:noFill/>
        </p:spPr>
        <p:txBody>
          <a:bodyPr wrap="square">
            <a:spAutoFit/>
          </a:bodyPr>
          <a:lstStyle/>
          <a:p>
            <a:pPr>
              <a:defRPr sz="1300">
                <a:solidFill>
                  <a:srgbClr val="0F172A"/>
                </a:solidFill>
              </a:defRPr>
            </a:pPr>
            <a:r>
              <a:t>4 Convolutional Stages</a:t>
            </a:r>
          </a:p>
          <a:p>
            <a:pPr>
              <a:defRPr sz="1300">
                <a:solidFill>
                  <a:srgbClr val="0F172A"/>
                </a:solidFill>
              </a:defRPr>
            </a:pPr>
            <a:r>
              <a:t>Pattern detection &amp;</a:t>
            </a:r>
          </a:p>
          <a:p>
            <a:pPr>
              <a:defRPr sz="1300">
                <a:solidFill>
                  <a:srgbClr val="0F172A"/>
                </a:solidFill>
              </a:defRPr>
            </a:pPr>
            <a:r>
              <a:t>Temporal pooling</a:t>
            </a:r>
          </a:p>
        </p:txBody>
      </p:sp>
      <p:sp>
        <p:nvSpPr>
          <p:cNvPr id="13" name="Rounded Rectangle 12"/>
          <p:cNvSpPr/>
          <p:nvPr/>
        </p:nvSpPr>
        <p:spPr>
          <a:xfrm>
            <a:off x="9098280" y="1828800"/>
            <a:ext cx="2377440" cy="40233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81160" y="1965960"/>
            <a:ext cx="2011680" cy="457200"/>
          </a:xfrm>
          <a:prstGeom prst="rect">
            <a:avLst/>
          </a:prstGeom>
          <a:noFill/>
        </p:spPr>
        <p:txBody>
          <a:bodyPr wrap="none">
            <a:spAutoFit/>
          </a:bodyPr>
          <a:lstStyle/>
          <a:p>
            <a:pPr>
              <a:defRPr sz="1400" b="1">
                <a:solidFill>
                  <a:srgbClr val="1E3A8A"/>
                </a:solidFill>
              </a:defRPr>
            </a:pPr>
            <a:r>
              <a:t>4. Emotion Class</a:t>
            </a:r>
          </a:p>
        </p:txBody>
      </p:sp>
      <p:sp>
        <p:nvSpPr>
          <p:cNvPr id="15" name="TextBox 14"/>
          <p:cNvSpPr txBox="1"/>
          <p:nvPr/>
        </p:nvSpPr>
        <p:spPr>
          <a:xfrm>
            <a:off x="9235440" y="2560320"/>
            <a:ext cx="2103120" cy="2743200"/>
          </a:xfrm>
          <a:prstGeom prst="rect">
            <a:avLst/>
          </a:prstGeom>
          <a:noFill/>
        </p:spPr>
        <p:txBody>
          <a:bodyPr wrap="square">
            <a:spAutoFit/>
          </a:bodyPr>
          <a:lstStyle/>
          <a:p>
            <a:pPr>
              <a:defRPr sz="1300">
                <a:solidFill>
                  <a:srgbClr val="0F172A"/>
                </a:solidFill>
              </a:defRPr>
            </a:pPr>
            <a:r>
              <a:t>Predicts 1 of 7 emotions:</a:t>
            </a:r>
          </a:p>
          <a:p>
            <a:pPr>
              <a:defRPr sz="1300">
                <a:solidFill>
                  <a:srgbClr val="0F172A"/>
                </a:solidFill>
              </a:defRPr>
            </a:pPr>
            <a:r>
              <a:t>Anger, Boredom, Disgust,</a:t>
            </a:r>
          </a:p>
          <a:p>
            <a:pPr>
              <a:defRPr sz="1300">
                <a:solidFill>
                  <a:srgbClr val="0F172A"/>
                </a:solidFill>
              </a:defRPr>
            </a:pPr>
            <a:r>
              <a:t>Fear, Happy, Neutral, Sad</a:t>
            </a:r>
          </a:p>
        </p:txBody>
      </p:sp>
      <p:sp>
        <p:nvSpPr>
          <p:cNvPr id="16" name="TextBox 15"/>
          <p:cNvSpPr txBox="1"/>
          <p:nvPr/>
        </p:nvSpPr>
        <p:spPr>
          <a:xfrm>
            <a:off x="3154680" y="3474720"/>
            <a:ext cx="365760" cy="457200"/>
          </a:xfrm>
          <a:prstGeom prst="rect">
            <a:avLst/>
          </a:prstGeom>
          <a:noFill/>
        </p:spPr>
        <p:txBody>
          <a:bodyPr wrap="none">
            <a:spAutoFit/>
          </a:bodyPr>
          <a:lstStyle/>
          <a:p>
            <a:pPr>
              <a:defRPr sz="2400">
                <a:solidFill>
                  <a:srgbClr val="0E7490"/>
                </a:solidFill>
              </a:defRPr>
            </a:pPr>
            <a:r>
              <a:t>➔</a:t>
            </a:r>
          </a:p>
        </p:txBody>
      </p:sp>
      <p:sp>
        <p:nvSpPr>
          <p:cNvPr id="17" name="TextBox 16"/>
          <p:cNvSpPr txBox="1"/>
          <p:nvPr/>
        </p:nvSpPr>
        <p:spPr>
          <a:xfrm>
            <a:off x="5943600" y="3474720"/>
            <a:ext cx="365760" cy="457200"/>
          </a:xfrm>
          <a:prstGeom prst="rect">
            <a:avLst/>
          </a:prstGeom>
          <a:noFill/>
        </p:spPr>
        <p:txBody>
          <a:bodyPr wrap="none">
            <a:spAutoFit/>
          </a:bodyPr>
          <a:lstStyle/>
          <a:p>
            <a:pPr>
              <a:defRPr sz="2400">
                <a:solidFill>
                  <a:srgbClr val="0E7490"/>
                </a:solidFill>
              </a:defRPr>
            </a:pPr>
            <a:r>
              <a:t>➔</a:t>
            </a:r>
          </a:p>
        </p:txBody>
      </p:sp>
      <p:sp>
        <p:nvSpPr>
          <p:cNvPr id="18" name="TextBox 17"/>
          <p:cNvSpPr txBox="1"/>
          <p:nvPr/>
        </p:nvSpPr>
        <p:spPr>
          <a:xfrm>
            <a:off x="8732520" y="3474720"/>
            <a:ext cx="365760" cy="457200"/>
          </a:xfrm>
          <a:prstGeom prst="rect">
            <a:avLst/>
          </a:prstGeom>
          <a:noFill/>
        </p:spPr>
        <p:txBody>
          <a:bodyPr wrap="none">
            <a:spAutoFit/>
          </a:bodyPr>
          <a:lstStyle/>
          <a:p>
            <a:pPr>
              <a:defRPr sz="2400">
                <a:solidFill>
                  <a:srgbClr val="0E7490"/>
                </a:solidFill>
              </a:defRPr>
            </a:pP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E7490"/>
                </a:solidFill>
              </a:defRPr>
            </a:pPr>
            <a:r>
              <a:t>SPEECH EMOTION RECOGNITION • WEEK 3</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defRPr>
            </a:pPr>
            <a:r>
              <a:t>The 1D-CNN Model Explained Simply</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754880" cy="457200"/>
          </a:xfrm>
          <a:prstGeom prst="rect">
            <a:avLst/>
          </a:prstGeom>
          <a:noFill/>
        </p:spPr>
        <p:txBody>
          <a:bodyPr wrap="none">
            <a:spAutoFit/>
          </a:bodyPr>
          <a:lstStyle/>
          <a:p>
            <a:pPr>
              <a:defRPr sz="1400" b="1">
                <a:solidFill>
                  <a:srgbClr val="1E3A8A"/>
                </a:solidFill>
              </a:defRPr>
            </a:pPr>
            <a:r>
              <a:t>What the Model Does</a:t>
            </a:r>
          </a:p>
        </p:txBody>
      </p:sp>
      <p:sp>
        <p:nvSpPr>
          <p:cNvPr id="6" name="TextBox 5"/>
          <p:cNvSpPr txBox="1"/>
          <p:nvPr/>
        </p:nvSpPr>
        <p:spPr>
          <a:xfrm>
            <a:off x="914400" y="2286000"/>
            <a:ext cx="4754880" cy="3474720"/>
          </a:xfrm>
          <a:prstGeom prst="rect">
            <a:avLst/>
          </a:prstGeom>
          <a:noFill/>
        </p:spPr>
        <p:txBody>
          <a:bodyPr wrap="square">
            <a:spAutoFit/>
          </a:bodyPr>
          <a:lstStyle/>
          <a:p>
            <a:pPr>
              <a:defRPr sz="1300">
                <a:solidFill>
                  <a:srgbClr val="0F172A"/>
                </a:solidFill>
              </a:defRPr>
            </a:pPr>
            <a:r>
              <a:t>• A Pattern Scanner: Just as image CNNs scan for edges and textures, a 1D-CNN scans across acoustic coefficients for characteristic emotional shapes.</a:t>
            </a:r>
          </a:p>
          <a:p>
            <a:pPr>
              <a:defRPr sz="1300">
                <a:solidFill>
                  <a:srgbClr val="0F172A"/>
                </a:solidFill>
              </a:defRPr>
            </a:pPr>
          </a:p>
          <a:p>
            <a:pPr>
              <a:defRPr sz="1300">
                <a:solidFill>
                  <a:srgbClr val="0F172A"/>
                </a:solidFill>
              </a:defRPr>
            </a:pPr>
            <a:r>
              <a:t>• 4 Successive Stages: The network starts with 8 pattern detectors, progressively widening to 16, 32, and 64 detectors to capture complex acoustic combinations.</a:t>
            </a:r>
          </a:p>
          <a:p>
            <a:pPr>
              <a:defRPr sz="1300">
                <a:solidFill>
                  <a:srgbClr val="0F172A"/>
                </a:solidFill>
              </a:defRPr>
            </a:pPr>
          </a:p>
          <a:p>
            <a:pPr>
              <a:defRPr sz="1300">
                <a:solidFill>
                  <a:srgbClr val="0F172A"/>
                </a:solidFill>
              </a:defRPr>
            </a:pPr>
            <a:r>
              <a:t>• Summary Pooling: After each scan, it compresses the features by half (MaxPooling) to keep only the strongest indicators.</a:t>
            </a:r>
          </a:p>
          <a:p>
            <a:pPr>
              <a:defRPr sz="1300">
                <a:solidFill>
                  <a:srgbClr val="0F172A"/>
                </a:solidFill>
              </a:defRPr>
            </a:pPr>
          </a:p>
          <a:p>
            <a:pPr>
              <a:defRPr sz="1300">
                <a:solidFill>
                  <a:srgbClr val="0F172A"/>
                </a:solidFill>
              </a:defRPr>
            </a:pPr>
            <a:r>
              <a:t>• Decision Layer: A dense layer of 120 neurons synthesizes these clues and outputs probabilities for the 7 emotion categories.</a:t>
            </a:r>
          </a:p>
        </p:txBody>
      </p:sp>
      <p:sp>
        <p:nvSpPr>
          <p:cNvPr id="7" name="Rounded Rectangle 6"/>
          <p:cNvSpPr/>
          <p:nvPr/>
        </p:nvSpPr>
        <p:spPr>
          <a:xfrm>
            <a:off x="6217920" y="1645920"/>
            <a:ext cx="5212080" cy="4389120"/>
          </a:xfrm>
          <a:prstGeom prst="roundRect">
            <a:avLst/>
          </a:prstGeom>
          <a:solidFill>
            <a:srgbClr val="EEF2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83080"/>
            <a:ext cx="4846320" cy="457200"/>
          </a:xfrm>
          <a:prstGeom prst="rect">
            <a:avLst/>
          </a:prstGeom>
          <a:noFill/>
        </p:spPr>
        <p:txBody>
          <a:bodyPr wrap="none">
            <a:spAutoFit/>
          </a:bodyPr>
          <a:lstStyle/>
          <a:p>
            <a:pPr>
              <a:defRPr sz="1400" b="1">
                <a:solidFill>
                  <a:srgbClr val="1E3A8A"/>
                </a:solidFill>
              </a:defRPr>
            </a:pPr>
            <a:r>
              <a:t>Design Highlights &amp; Analogy</a:t>
            </a:r>
          </a:p>
        </p:txBody>
      </p:sp>
      <p:sp>
        <p:nvSpPr>
          <p:cNvPr id="9" name="TextBox 8"/>
          <p:cNvSpPr txBox="1"/>
          <p:nvPr/>
        </p:nvSpPr>
        <p:spPr>
          <a:xfrm>
            <a:off x="6400800" y="2286000"/>
            <a:ext cx="4846320" cy="3474720"/>
          </a:xfrm>
          <a:prstGeom prst="rect">
            <a:avLst/>
          </a:prstGeom>
          <a:noFill/>
        </p:spPr>
        <p:txBody>
          <a:bodyPr wrap="square">
            <a:spAutoFit/>
          </a:bodyPr>
          <a:lstStyle/>
          <a:p>
            <a:pPr>
              <a:defRPr sz="1300">
                <a:solidFill>
                  <a:srgbClr val="1E3A8A"/>
                </a:solidFill>
              </a:defRPr>
            </a:pPr>
            <a:r>
              <a:t>• The Analogy: Think of a sound engineer listening through four specialized equalizer filters. First they check broad pitch, then tonal harshness, then energy spread, and finally decide the speaker's emotional state.</a:t>
            </a:r>
          </a:p>
          <a:p>
            <a:pPr>
              <a:defRPr sz="1300">
                <a:solidFill>
                  <a:srgbClr val="1E3A8A"/>
                </a:solidFill>
              </a:defRPr>
            </a:pPr>
          </a:p>
          <a:p>
            <a:pPr>
              <a:defRPr sz="1300">
                <a:solidFill>
                  <a:srgbClr val="1E3A8A"/>
                </a:solidFill>
              </a:defRPr>
            </a:pPr>
            <a:r>
              <a:t>• Total Parameters: ~65,000 trainable weights—compact and fast enough to run on standard computers.</a:t>
            </a:r>
          </a:p>
          <a:p>
            <a:pPr>
              <a:defRPr sz="1300">
                <a:solidFill>
                  <a:srgbClr val="1E3A8A"/>
                </a:solidFill>
              </a:defRPr>
            </a:pPr>
          </a:p>
          <a:p>
            <a:pPr>
              <a:defRPr sz="1300">
                <a:solidFill>
                  <a:srgbClr val="1E3A8A"/>
                </a:solidFill>
              </a:defRPr>
            </a:pPr>
            <a:r>
              <a:t>• Regularization: Uses Dropout (randomly turning off neurons during training) and Batch Normalization to prevent the model from simply memorizing training clips.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E7490"/>
                </a:solidFill>
              </a:defRPr>
            </a:pPr>
            <a:r>
              <a:t>SPEECH EMOTION RECOGNITION • WEEK 3</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defRPr>
            </a:pPr>
            <a:r>
              <a:t>Data Augmentation: Teaching the Model Robustness</a:t>
            </a:r>
          </a:p>
        </p:txBody>
      </p:sp>
      <p:sp>
        <p:nvSpPr>
          <p:cNvPr id="4" name="Rounded Rectangle 3"/>
          <p:cNvSpPr/>
          <p:nvPr/>
        </p:nvSpPr>
        <p:spPr>
          <a:xfrm>
            <a:off x="731520" y="1645920"/>
            <a:ext cx="530352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937760" cy="457200"/>
          </a:xfrm>
          <a:prstGeom prst="rect">
            <a:avLst/>
          </a:prstGeom>
          <a:noFill/>
        </p:spPr>
        <p:txBody>
          <a:bodyPr wrap="none">
            <a:spAutoFit/>
          </a:bodyPr>
          <a:lstStyle/>
          <a:p>
            <a:pPr>
              <a:defRPr sz="1400" b="1">
                <a:solidFill>
                  <a:srgbClr val="1E3A8A"/>
                </a:solidFill>
              </a:defRPr>
            </a:pPr>
            <a:r>
              <a:t>The 5-Set Noise Augmentation</a:t>
            </a:r>
          </a:p>
        </p:txBody>
      </p:sp>
      <p:sp>
        <p:nvSpPr>
          <p:cNvPr id="6" name="TextBox 5"/>
          <p:cNvSpPr txBox="1"/>
          <p:nvPr/>
        </p:nvSpPr>
        <p:spPr>
          <a:xfrm>
            <a:off x="914400" y="2286000"/>
            <a:ext cx="4937760" cy="3474720"/>
          </a:xfrm>
          <a:prstGeom prst="rect">
            <a:avLst/>
          </a:prstGeom>
          <a:noFill/>
        </p:spPr>
        <p:txBody>
          <a:bodyPr wrap="square">
            <a:spAutoFit/>
          </a:bodyPr>
          <a:lstStyle/>
          <a:p>
            <a:pPr>
              <a:defRPr sz="1200">
                <a:solidFill>
                  <a:srgbClr val="0F172A"/>
                </a:solidFill>
              </a:defRPr>
            </a:pPr>
            <a:r>
              <a:t>• Why Augment? Deep learning models need large amounts of diverse data. EmoDB has only 535 clips, making models prone to memorization.</a:t>
            </a:r>
          </a:p>
          <a:p>
            <a:pPr>
              <a:defRPr sz="1200">
                <a:solidFill>
                  <a:srgbClr val="0F172A"/>
                </a:solidFill>
              </a:defRPr>
            </a:pPr>
          </a:p>
          <a:p>
            <a:pPr>
              <a:defRPr sz="1200">
                <a:solidFill>
                  <a:srgbClr val="0F172A"/>
                </a:solidFill>
              </a:defRPr>
            </a:pPr>
            <a:r>
              <a:t>• The 5 Augmented Copies per Recording:</a:t>
            </a:r>
          </a:p>
          <a:p>
            <a:pPr>
              <a:defRPr sz="1200">
                <a:solidFill>
                  <a:srgbClr val="0F172A"/>
                </a:solidFill>
              </a:defRPr>
            </a:pPr>
            <a:r>
              <a:t>   1. Set 1: Original audio waveform (clean)</a:t>
            </a:r>
          </a:p>
          <a:p>
            <a:pPr>
              <a:defRPr sz="1200">
                <a:solidFill>
                  <a:srgbClr val="0F172A"/>
                </a:solidFill>
              </a:defRPr>
            </a:pPr>
            <a:r>
              <a:t>   2. Set 2: Exact zero-noise copy of original</a:t>
            </a:r>
          </a:p>
          <a:p>
            <a:pPr>
              <a:defRPr sz="1200">
                <a:solidFill>
                  <a:srgbClr val="0F172A"/>
                </a:solidFill>
              </a:defRPr>
            </a:pPr>
            <a:r>
              <a:t>   3. Set 3: Audio + 1% gentle background noise</a:t>
            </a:r>
          </a:p>
          <a:p>
            <a:pPr>
              <a:defRPr sz="1200">
                <a:solidFill>
                  <a:srgbClr val="0F172A"/>
                </a:solidFill>
              </a:defRPr>
            </a:pPr>
            <a:r>
              <a:t>   4. Set 4: Audio + 2.5% moderate background noise</a:t>
            </a:r>
          </a:p>
          <a:p>
            <a:pPr>
              <a:defRPr sz="1200">
                <a:solidFill>
                  <a:srgbClr val="0F172A"/>
                </a:solidFill>
              </a:defRPr>
            </a:pPr>
            <a:r>
              <a:t>   5. Set 5: Audio + 5.0% noticeable background noise</a:t>
            </a:r>
          </a:p>
          <a:p>
            <a:pPr>
              <a:defRPr sz="1200">
                <a:solidFill>
                  <a:srgbClr val="0F172A"/>
                </a:solidFill>
              </a:defRPr>
            </a:pPr>
          </a:p>
          <a:p>
            <a:pPr>
              <a:defRPr sz="1200">
                <a:solidFill>
                  <a:srgbClr val="0F172A"/>
                </a:solidFill>
              </a:defRPr>
            </a:pPr>
            <a:r>
              <a:t>• The Goal: Force the network to focus on underlying vocal emotion rather than delicate background silence or recording quirks.</a:t>
            </a:r>
          </a:p>
        </p:txBody>
      </p:sp>
      <p:sp>
        <p:nvSpPr>
          <p:cNvPr id="7" name="Rounded Rectangle 6"/>
          <p:cNvSpPr/>
          <p:nvPr/>
        </p:nvSpPr>
        <p:spPr>
          <a:xfrm>
            <a:off x="630936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783080"/>
            <a:ext cx="4754880" cy="457200"/>
          </a:xfrm>
          <a:prstGeom prst="rect">
            <a:avLst/>
          </a:prstGeom>
          <a:noFill/>
        </p:spPr>
        <p:txBody>
          <a:bodyPr wrap="none">
            <a:spAutoFit/>
          </a:bodyPr>
          <a:lstStyle/>
          <a:p>
            <a:pPr>
              <a:defRPr sz="1400" b="1">
                <a:solidFill>
                  <a:srgbClr val="1E3A8A"/>
                </a:solidFill>
              </a:defRPr>
            </a:pPr>
            <a:r>
              <a:t>Acoustic Representations (MFCC vs MFMC)</a:t>
            </a:r>
          </a:p>
        </p:txBody>
      </p:sp>
      <p:pic>
        <p:nvPicPr>
          <p:cNvPr id="9" name="Picture 8" descr="mfcc_vs_mfmc_examples.png"/>
          <p:cNvPicPr>
            <a:picLocks noChangeAspect="1"/>
          </p:cNvPicPr>
          <p:nvPr/>
        </p:nvPicPr>
        <p:blipFill>
          <a:blip r:embed="rId2"/>
          <a:stretch>
            <a:fillRect/>
          </a:stretch>
        </p:blipFill>
        <p:spPr>
          <a:xfrm>
            <a:off x="6492240" y="2194560"/>
            <a:ext cx="4754880" cy="21945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E7490"/>
                </a:solidFill>
              </a:defRPr>
            </a:pPr>
            <a:r>
              <a:t>SPEECH EMOTION RECOGNITION • WEEK 3</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defRPr>
            </a:pPr>
            <a:r>
              <a:t>Experimental Matrix &amp; Preventing Data Leakage</a:t>
            </a:r>
          </a:p>
        </p:txBody>
      </p:sp>
      <p:sp>
        <p:nvSpPr>
          <p:cNvPr id="4" name="Rounded Rectangle 3"/>
          <p:cNvSpPr/>
          <p:nvPr/>
        </p:nvSpPr>
        <p:spPr>
          <a:xfrm>
            <a:off x="731520" y="1645920"/>
            <a:ext cx="32918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2926080" cy="457200"/>
          </a:xfrm>
          <a:prstGeom prst="rect">
            <a:avLst/>
          </a:prstGeom>
          <a:noFill/>
        </p:spPr>
        <p:txBody>
          <a:bodyPr wrap="none">
            <a:spAutoFit/>
          </a:bodyPr>
          <a:lstStyle/>
          <a:p>
            <a:pPr>
              <a:defRPr sz="1400" b="1">
                <a:solidFill>
                  <a:srgbClr val="1E3A8A"/>
                </a:solidFill>
              </a:defRPr>
            </a:pPr>
            <a:r>
              <a:t>The 54-Run Matrix</a:t>
            </a:r>
          </a:p>
        </p:txBody>
      </p:sp>
      <p:sp>
        <p:nvSpPr>
          <p:cNvPr id="6" name="TextBox 5"/>
          <p:cNvSpPr txBox="1"/>
          <p:nvPr/>
        </p:nvSpPr>
        <p:spPr>
          <a:xfrm>
            <a:off x="914400" y="2286000"/>
            <a:ext cx="2926080" cy="3474720"/>
          </a:xfrm>
          <a:prstGeom prst="rect">
            <a:avLst/>
          </a:prstGeom>
          <a:noFill/>
        </p:spPr>
        <p:txBody>
          <a:bodyPr wrap="square">
            <a:spAutoFit/>
          </a:bodyPr>
          <a:lstStyle/>
          <a:p>
            <a:pPr>
              <a:defRPr sz="1300">
                <a:solidFill>
                  <a:srgbClr val="0F172A"/>
                </a:solidFill>
              </a:defRPr>
            </a:pPr>
            <a:r>
              <a:t>• 2 Features: MFCC &amp; MFMC</a:t>
            </a:r>
          </a:p>
          <a:p>
            <a:pPr>
              <a:defRPr sz="1300">
                <a:solidFill>
                  <a:srgbClr val="0F172A"/>
                </a:solidFill>
              </a:defRPr>
            </a:pPr>
          </a:p>
          <a:p>
            <a:pPr>
              <a:defRPr sz="1300">
                <a:solidFill>
                  <a:srgbClr val="0F172A"/>
                </a:solidFill>
              </a:defRPr>
            </a:pPr>
            <a:r>
              <a:t>• 3 Coeff Sizes: 12, 24, 30</a:t>
            </a:r>
          </a:p>
          <a:p>
            <a:pPr>
              <a:defRPr sz="1300">
                <a:solidFill>
                  <a:srgbClr val="0F172A"/>
                </a:solidFill>
              </a:defRPr>
            </a:pPr>
          </a:p>
          <a:p>
            <a:pPr>
              <a:defRPr sz="1300">
                <a:solidFill>
                  <a:srgbClr val="0F172A"/>
                </a:solidFill>
              </a:defRPr>
            </a:pPr>
            <a:r>
              <a:t>• 3 Setup Modes:</a:t>
            </a:r>
          </a:p>
          <a:p>
            <a:pPr>
              <a:defRPr sz="1300">
                <a:solidFill>
                  <a:srgbClr val="0F172A"/>
                </a:solidFill>
              </a:defRPr>
            </a:pPr>
            <a:r>
              <a:t>   - None (original 321 train)</a:t>
            </a:r>
          </a:p>
          <a:p>
            <a:pPr>
              <a:defRPr sz="1300">
                <a:solidFill>
                  <a:srgbClr val="0F172A"/>
                </a:solidFill>
              </a:defRPr>
            </a:pPr>
            <a:r>
              <a:t>   - Version A (clean after-split)</a:t>
            </a:r>
          </a:p>
          <a:p>
            <a:pPr>
              <a:defRPr sz="1300">
                <a:solidFill>
                  <a:srgbClr val="0F172A"/>
                </a:solidFill>
              </a:defRPr>
            </a:pPr>
            <a:r>
              <a:t>   - Version B (augment-first)</a:t>
            </a:r>
          </a:p>
          <a:p>
            <a:pPr>
              <a:defRPr sz="1300">
                <a:solidFill>
                  <a:srgbClr val="0F172A"/>
                </a:solidFill>
              </a:defRPr>
            </a:pPr>
          </a:p>
          <a:p>
            <a:pPr>
              <a:defRPr sz="1300">
                <a:solidFill>
                  <a:srgbClr val="0F172A"/>
                </a:solidFill>
              </a:defRPr>
            </a:pPr>
            <a:r>
              <a:t>• 3 Random Seeds: 42, 43, 44</a:t>
            </a:r>
          </a:p>
          <a:p>
            <a:pPr>
              <a:defRPr sz="1300">
                <a:solidFill>
                  <a:srgbClr val="0F172A"/>
                </a:solidFill>
              </a:defRPr>
            </a:pPr>
          </a:p>
          <a:p>
            <a:pPr>
              <a:defRPr sz="1300">
                <a:solidFill>
                  <a:srgbClr val="0F172A"/>
                </a:solidFill>
              </a:defRPr>
            </a:pPr>
            <a:r>
              <a:t>• Total: 54 fully trained models (100 epochs each).</a:t>
            </a:r>
          </a:p>
        </p:txBody>
      </p:sp>
      <p:sp>
        <p:nvSpPr>
          <p:cNvPr id="7" name="Rounded Rectangle 6"/>
          <p:cNvSpPr/>
          <p:nvPr/>
        </p:nvSpPr>
        <p:spPr>
          <a:xfrm>
            <a:off x="4434840" y="1645920"/>
            <a:ext cx="3291840" cy="4389120"/>
          </a:xfrm>
          <a:prstGeom prst="roundRect">
            <a:avLst/>
          </a:prstGeom>
          <a:solidFill>
            <a:srgbClr val="EEF2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783080"/>
            <a:ext cx="2926080" cy="457200"/>
          </a:xfrm>
          <a:prstGeom prst="rect">
            <a:avLst/>
          </a:prstGeom>
          <a:noFill/>
        </p:spPr>
        <p:txBody>
          <a:bodyPr wrap="none">
            <a:spAutoFit/>
          </a:bodyPr>
          <a:lstStyle/>
          <a:p>
            <a:pPr>
              <a:defRPr sz="1400" b="1">
                <a:solidFill>
                  <a:srgbClr val="1E3A8A"/>
                </a:solidFill>
              </a:defRPr>
            </a:pPr>
            <a:r>
              <a:t>Version A: Honest Split</a:t>
            </a:r>
          </a:p>
        </p:txBody>
      </p:sp>
      <p:sp>
        <p:nvSpPr>
          <p:cNvPr id="9" name="TextBox 8"/>
          <p:cNvSpPr txBox="1"/>
          <p:nvPr/>
        </p:nvSpPr>
        <p:spPr>
          <a:xfrm>
            <a:off x="4617720" y="2286000"/>
            <a:ext cx="2926080" cy="3474720"/>
          </a:xfrm>
          <a:prstGeom prst="rect">
            <a:avLst/>
          </a:prstGeom>
          <a:noFill/>
        </p:spPr>
        <p:txBody>
          <a:bodyPr wrap="square">
            <a:spAutoFit/>
          </a:bodyPr>
          <a:lstStyle/>
          <a:p>
            <a:pPr>
              <a:defRPr sz="1300">
                <a:solidFill>
                  <a:srgbClr val="1E3A8A"/>
                </a:solidFill>
              </a:defRPr>
            </a:pPr>
            <a:r>
              <a:t>• Split FIRST, then augment:</a:t>
            </a:r>
          </a:p>
          <a:p>
            <a:pPr>
              <a:defRPr sz="1300">
                <a:solidFill>
                  <a:srgbClr val="1E3A8A"/>
                </a:solidFill>
              </a:defRPr>
            </a:pPr>
            <a:r>
              <a:t>   - Train (321 clips) -&gt; 1,605</a:t>
            </a:r>
          </a:p>
          <a:p>
            <a:pPr>
              <a:defRPr sz="1300">
                <a:solidFill>
                  <a:srgbClr val="1E3A8A"/>
                </a:solidFill>
              </a:defRPr>
            </a:pPr>
            <a:r>
              <a:t>   - Val (107 clips) -&gt; clean only</a:t>
            </a:r>
          </a:p>
          <a:p>
            <a:pPr>
              <a:defRPr sz="1300">
                <a:solidFill>
                  <a:srgbClr val="1E3A8A"/>
                </a:solidFill>
              </a:defRPr>
            </a:pPr>
            <a:r>
              <a:t>   - Test (107 clips) -&gt; clean only</a:t>
            </a:r>
          </a:p>
          <a:p>
            <a:pPr>
              <a:defRPr sz="1300">
                <a:solidFill>
                  <a:srgbClr val="1E3A8A"/>
                </a:solidFill>
              </a:defRPr>
            </a:pPr>
          </a:p>
          <a:p>
            <a:pPr>
              <a:defRPr sz="1300">
                <a:solidFill>
                  <a:srgbClr val="1E3A8A"/>
                </a:solidFill>
              </a:defRPr>
            </a:pPr>
            <a:r>
              <a:t>• Strict Zero Leakage: 0% overlap between train and test recordings.</a:t>
            </a:r>
          </a:p>
          <a:p>
            <a:pPr>
              <a:defRPr sz="1300">
                <a:solidFill>
                  <a:srgbClr val="1E3A8A"/>
                </a:solidFill>
              </a:defRPr>
            </a:pPr>
          </a:p>
          <a:p>
            <a:pPr>
              <a:defRPr sz="1300">
                <a:solidFill>
                  <a:srgbClr val="1E3A8A"/>
                </a:solidFill>
              </a:defRPr>
            </a:pPr>
            <a:r>
              <a:t>• Standardized using training statistics only.</a:t>
            </a:r>
          </a:p>
          <a:p>
            <a:pPr>
              <a:defRPr sz="1300">
                <a:solidFill>
                  <a:srgbClr val="1E3A8A"/>
                </a:solidFill>
              </a:defRPr>
            </a:pPr>
          </a:p>
          <a:p>
            <a:pPr>
              <a:defRPr sz="1300">
                <a:solidFill>
                  <a:srgbClr val="1E3A8A"/>
                </a:solidFill>
              </a:defRPr>
            </a:pPr>
            <a:r>
              <a:t>• Measures true real-world generalization.</a:t>
            </a:r>
          </a:p>
        </p:txBody>
      </p:sp>
      <p:sp>
        <p:nvSpPr>
          <p:cNvPr id="10" name="Rounded Rectangle 9"/>
          <p:cNvSpPr/>
          <p:nvPr/>
        </p:nvSpPr>
        <p:spPr>
          <a:xfrm>
            <a:off x="8138160" y="1645920"/>
            <a:ext cx="32918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783080"/>
            <a:ext cx="2926080" cy="457200"/>
          </a:xfrm>
          <a:prstGeom prst="rect">
            <a:avLst/>
          </a:prstGeom>
          <a:noFill/>
        </p:spPr>
        <p:txBody>
          <a:bodyPr wrap="none">
            <a:spAutoFit/>
          </a:bodyPr>
          <a:lstStyle/>
          <a:p>
            <a:pPr>
              <a:defRPr sz="1400" b="1">
                <a:solidFill>
                  <a:srgbClr val="1E3A8A"/>
                </a:solidFill>
              </a:defRPr>
            </a:pPr>
            <a:r>
              <a:t>Version B: Augment-First</a:t>
            </a:r>
          </a:p>
        </p:txBody>
      </p:sp>
      <p:sp>
        <p:nvSpPr>
          <p:cNvPr id="12" name="TextBox 11"/>
          <p:cNvSpPr txBox="1"/>
          <p:nvPr/>
        </p:nvSpPr>
        <p:spPr>
          <a:xfrm>
            <a:off x="8321040" y="2286000"/>
            <a:ext cx="2926080" cy="3474720"/>
          </a:xfrm>
          <a:prstGeom prst="rect">
            <a:avLst/>
          </a:prstGeom>
          <a:noFill/>
        </p:spPr>
        <p:txBody>
          <a:bodyPr wrap="square">
            <a:spAutoFit/>
          </a:bodyPr>
          <a:lstStyle/>
          <a:p>
            <a:pPr>
              <a:defRPr sz="1300">
                <a:solidFill>
                  <a:srgbClr val="0F172A"/>
                </a:solidFill>
              </a:defRPr>
            </a:pPr>
            <a:r>
              <a:t>• Augment FIRST, then split:</a:t>
            </a:r>
          </a:p>
          <a:p>
            <a:pPr>
              <a:defRPr sz="1300">
                <a:solidFill>
                  <a:srgbClr val="0F172A"/>
                </a:solidFill>
              </a:defRPr>
            </a:pPr>
            <a:r>
              <a:t>   - 535 clips -&gt; 2,675 rows</a:t>
            </a:r>
          </a:p>
          <a:p>
            <a:pPr>
              <a:defRPr sz="1300">
                <a:solidFill>
                  <a:srgbClr val="0F172A"/>
                </a:solidFill>
              </a:defRPr>
            </a:pPr>
            <a:r>
              <a:t>   - Split 60/20/20 randomly</a:t>
            </a:r>
          </a:p>
          <a:p>
            <a:pPr>
              <a:defRPr sz="1300">
                <a:solidFill>
                  <a:srgbClr val="0F172A"/>
                </a:solidFill>
              </a:defRPr>
            </a:pPr>
          </a:p>
          <a:p>
            <a:pPr>
              <a:defRPr sz="1300">
                <a:solidFill>
                  <a:srgbClr val="0F172A"/>
                </a:solidFill>
              </a:defRPr>
            </a:pPr>
            <a:r>
              <a:t>• Pervasive Leakage:</a:t>
            </a:r>
          </a:p>
          <a:p>
            <a:pPr>
              <a:defRPr sz="1300">
                <a:solidFill>
                  <a:srgbClr val="0F172A"/>
                </a:solidFill>
              </a:defRPr>
            </a:pPr>
            <a:r>
              <a:t>   - 95.89% of test clips share source audio with training!</a:t>
            </a:r>
          </a:p>
          <a:p>
            <a:pPr>
              <a:defRPr sz="1300">
                <a:solidFill>
                  <a:srgbClr val="0F172A"/>
                </a:solidFill>
              </a:defRPr>
            </a:pPr>
            <a:r>
              <a:t>   - 96.64% of validation clips share source audio with training!</a:t>
            </a:r>
          </a:p>
          <a:p>
            <a:pPr>
              <a:defRPr sz="1300">
                <a:solidFill>
                  <a:srgbClr val="0F172A"/>
                </a:solidFill>
              </a:defRPr>
            </a:pPr>
          </a:p>
          <a:p>
            <a:pPr>
              <a:defRPr sz="1300">
                <a:solidFill>
                  <a:srgbClr val="0F172A"/>
                </a:solidFill>
              </a:defRPr>
            </a:pPr>
            <a:r>
              <a:t>• The network is tested on noisy copies of clips it already memorized.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E7490"/>
                </a:solidFill>
              </a:defRPr>
            </a:pPr>
            <a:r>
              <a:t>SPEECH EMOTION RECOGNITION • WEEK 3</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defRPr>
            </a:pPr>
            <a:r>
              <a:t>Experimental Results &amp; Confusion Matrix</a:t>
            </a:r>
          </a:p>
        </p:txBody>
      </p:sp>
      <p:sp>
        <p:nvSpPr>
          <p:cNvPr id="4" name="Rounded Rectangle 3"/>
          <p:cNvSpPr/>
          <p:nvPr/>
        </p:nvSpPr>
        <p:spPr>
          <a:xfrm>
            <a:off x="731520" y="1645920"/>
            <a:ext cx="621792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5852160" cy="457200"/>
          </a:xfrm>
          <a:prstGeom prst="rect">
            <a:avLst/>
          </a:prstGeom>
          <a:noFill/>
        </p:spPr>
        <p:txBody>
          <a:bodyPr wrap="none">
            <a:spAutoFit/>
          </a:bodyPr>
          <a:lstStyle/>
          <a:p>
            <a:pPr>
              <a:defRPr sz="1400" b="1">
                <a:solidFill>
                  <a:srgbClr val="1E3A8A"/>
                </a:solidFill>
              </a:defRPr>
            </a:pPr>
            <a:r>
              <a:t>Test &amp; Validation Accuracy (Mean ± Std)</a:t>
            </a:r>
          </a:p>
        </p:txBody>
      </p:sp>
      <p:pic>
        <p:nvPicPr>
          <p:cNvPr id="6" name="Picture 5" descr="final_results_table.png"/>
          <p:cNvPicPr>
            <a:picLocks noChangeAspect="1"/>
          </p:cNvPicPr>
          <p:nvPr/>
        </p:nvPicPr>
        <p:blipFill>
          <a:blip r:embed="rId2"/>
          <a:stretch>
            <a:fillRect/>
          </a:stretch>
        </p:blipFill>
        <p:spPr>
          <a:xfrm>
            <a:off x="914400" y="2194560"/>
            <a:ext cx="5852160" cy="2964603"/>
          </a:xfrm>
          <a:prstGeom prst="rect">
            <a:avLst/>
          </a:prstGeom>
        </p:spPr>
      </p:pic>
      <p:sp>
        <p:nvSpPr>
          <p:cNvPr id="7" name="Rounded Rectangle 6"/>
          <p:cNvSpPr/>
          <p:nvPr/>
        </p:nvSpPr>
        <p:spPr>
          <a:xfrm>
            <a:off x="7223760" y="1645920"/>
            <a:ext cx="42062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0" y="1783080"/>
            <a:ext cx="3840480" cy="457200"/>
          </a:xfrm>
          <a:prstGeom prst="rect">
            <a:avLst/>
          </a:prstGeom>
          <a:noFill/>
        </p:spPr>
        <p:txBody>
          <a:bodyPr wrap="none">
            <a:spAutoFit/>
          </a:bodyPr>
          <a:lstStyle/>
          <a:p>
            <a:pPr>
              <a:defRPr sz="1400" b="1">
                <a:solidFill>
                  <a:srgbClr val="1E3A8A"/>
                </a:solidFill>
              </a:defRPr>
            </a:pPr>
            <a:r>
              <a:t>Emotion Confusion Matrix (MFCC Best)</a:t>
            </a:r>
          </a:p>
        </p:txBody>
      </p:sp>
      <p:pic>
        <p:nvPicPr>
          <p:cNvPr id="9" name="Picture 8" descr="confusion_matrix_best_mfcc_after_split.png"/>
          <p:cNvPicPr>
            <a:picLocks noChangeAspect="1"/>
          </p:cNvPicPr>
          <p:nvPr/>
        </p:nvPicPr>
        <p:blipFill>
          <a:blip r:embed="rId3"/>
          <a:stretch>
            <a:fillRect/>
          </a:stretch>
        </p:blipFill>
        <p:spPr>
          <a:xfrm>
            <a:off x="7406640" y="2194560"/>
            <a:ext cx="3840480" cy="312039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E7490"/>
                </a:solidFill>
              </a:defRPr>
            </a:pPr>
            <a:r>
              <a:t>SPEECH EMOTION RECOGNITION • WEEK 3</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defRPr>
            </a:pPr>
            <a:r>
              <a:t>Key Findings &amp; Scientific Interpretations</a:t>
            </a:r>
          </a:p>
        </p:txBody>
      </p:sp>
      <p:sp>
        <p:nvSpPr>
          <p:cNvPr id="4" name="Rounded Rectangle 3"/>
          <p:cNvSpPr/>
          <p:nvPr/>
        </p:nvSpPr>
        <p:spPr>
          <a:xfrm>
            <a:off x="731520" y="1645920"/>
            <a:ext cx="1069848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10332720" cy="457200"/>
          </a:xfrm>
          <a:prstGeom prst="rect">
            <a:avLst/>
          </a:prstGeom>
          <a:noFill/>
        </p:spPr>
        <p:txBody>
          <a:bodyPr wrap="none">
            <a:spAutoFit/>
          </a:bodyPr>
          <a:lstStyle/>
          <a:p>
            <a:pPr>
              <a:defRPr sz="1400" b="1">
                <a:solidFill>
                  <a:srgbClr val="1E3A8A"/>
                </a:solidFill>
              </a:defRPr>
            </a:pPr>
            <a:r>
              <a:t>Observations and Evidence-Based Conclusions</a:t>
            </a:r>
          </a:p>
        </p:txBody>
      </p:sp>
      <p:sp>
        <p:nvSpPr>
          <p:cNvPr id="6" name="TextBox 5"/>
          <p:cNvSpPr txBox="1"/>
          <p:nvPr/>
        </p:nvSpPr>
        <p:spPr>
          <a:xfrm>
            <a:off x="1005840" y="2194560"/>
            <a:ext cx="10149840" cy="3657600"/>
          </a:xfrm>
          <a:prstGeom prst="rect">
            <a:avLst/>
          </a:prstGeom>
          <a:noFill/>
        </p:spPr>
        <p:txBody>
          <a:bodyPr wrap="square">
            <a:spAutoFit/>
          </a:bodyPr>
          <a:lstStyle/>
          <a:p>
            <a:pPr>
              <a:defRPr sz="1200">
                <a:solidFill>
                  <a:srgbClr val="0F172A"/>
                </a:solidFill>
              </a:defRPr>
            </a:pPr>
            <a:r>
              <a:t>1. Our leak-free result is far below the paper:</a:t>
            </a:r>
          </a:p>
          <a:p>
            <a:pPr>
              <a:defRPr sz="1200">
                <a:solidFill>
                  <a:srgbClr val="0F172A"/>
                </a:solidFill>
              </a:defRPr>
            </a:pPr>
            <a:r>
              <a:t>   • Under clean after-split augmentation (Version A), our models reach 70.7% to 72.3% test accuracy, compared to the paper's reported 97.2% with augmentation.</a:t>
            </a:r>
          </a:p>
          <a:p>
            <a:pPr>
              <a:defRPr sz="1200">
                <a:solidFill>
                  <a:srgbClr val="0F172A"/>
                </a:solidFill>
              </a:defRPr>
            </a:pPr>
          </a:p>
          <a:p>
            <a:pPr>
              <a:defRPr sz="1200">
                <a:solidFill>
                  <a:srgbClr val="0F172A"/>
                </a:solidFill>
              </a:defRPr>
            </a:pPr>
            <a:r>
              <a:t>2. Leakage is a plausible contributing factor, but not the only difference:</a:t>
            </a:r>
          </a:p>
          <a:p>
            <a:pPr>
              <a:defRPr sz="1200">
                <a:solidFill>
                  <a:srgbClr val="0F172A"/>
                </a:solidFill>
              </a:defRPr>
            </a:pPr>
            <a:r>
              <a:t>   • When we augment before splitting (Version B), test accuracy rises sharply to 87.2% – 89.3%. Because 95.9% of test files overlap with training, leakage is a plausible contributing factor.</a:t>
            </a:r>
          </a:p>
          <a:p>
            <a:pPr>
              <a:defRPr sz="1200">
                <a:solidFill>
                  <a:srgbClr val="0F172A"/>
                </a:solidFill>
              </a:defRPr>
            </a:pPr>
            <a:r>
              <a:t>   • However, our setup also differs from the paper in other ways (input size 24/48/60 vs 144, 64 vs 62 filters, batch size, noise scaling). We could not find a clear statement in the paper of whether augmentation happened before or after the split.</a:t>
            </a:r>
          </a:p>
          <a:p>
            <a:pPr>
              <a:defRPr sz="1200">
                <a:solidFill>
                  <a:srgbClr val="0F172A"/>
                </a:solidFill>
              </a:defRPr>
            </a:pPr>
          </a:p>
          <a:p>
            <a:pPr>
              <a:defRPr sz="1200">
                <a:solidFill>
                  <a:srgbClr val="0F172A"/>
                </a:solidFill>
              </a:defRPr>
            </a:pPr>
            <a:r>
              <a:t>3. Leakage cannot explain the no-augmentation baseline gap:</a:t>
            </a:r>
          </a:p>
          <a:p>
            <a:pPr>
              <a:defRPr sz="1200">
                <a:solidFill>
                  <a:srgbClr val="0F172A"/>
                </a:solidFill>
              </a:defRPr>
            </a:pPr>
            <a:r>
              <a:t>   • Our unaugmented baseline reaches 64% – 71% test accuracy, which is already far below the paper's 86.9% no-augmentation figure. Leakage cannot explain that gap since neither baseline contains augmented copies.</a:t>
            </a:r>
          </a:p>
          <a:p>
            <a:pPr>
              <a:defRPr sz="1200">
                <a:solidFill>
                  <a:srgbClr val="0F172A"/>
                </a:solidFill>
              </a:defRPr>
            </a:pPr>
          </a:p>
          <a:p>
            <a:pPr>
              <a:defRPr sz="1200">
                <a:solidFill>
                  <a:srgbClr val="0F172A"/>
                </a:solidFill>
              </a:defRPr>
            </a:pPr>
            <a:r>
              <a:t>4. Evidence suggests mixed augmentation effects:</a:t>
            </a:r>
          </a:p>
          <a:p>
            <a:pPr>
              <a:defRPr sz="1200">
                <a:solidFill>
                  <a:srgbClr val="0F172A"/>
                </a:solidFill>
              </a:defRPr>
            </a:pPr>
            <a:r>
              <a:t>   • The test set has only 107 clips (one clip is ~0.9%) and standard deviations reach 4% – 7%. Only the MFMC 12-coefficient gain (+11.9%, 51.7% -&gt; 63.6%) clearly stands out.</a:t>
            </a:r>
          </a:p>
          <a:p>
            <a:pPr>
              <a:defRPr sz="1200">
                <a:solidFill>
                  <a:srgbClr val="0F172A"/>
                </a:solidFill>
              </a:defRPr>
            </a:pPr>
            <a:r>
              <a:t>   • The idea that DCT decorrelation makes MFCC less sensitive to noise regularization remains an untested hypothesis.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E7490"/>
                </a:solidFill>
              </a:defRPr>
            </a:pPr>
            <a:r>
              <a:t>SPEECH EMOTION RECOGNITION • WEEK 3</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defRPr>
            </a:pPr>
            <a:r>
              <a:t>Assumptions &amp; Engineering Decisions</a:t>
            </a:r>
          </a:p>
        </p:txBody>
      </p:sp>
      <p:sp>
        <p:nvSpPr>
          <p:cNvPr id="4" name="Rounded Rectangle 3"/>
          <p:cNvSpPr/>
          <p:nvPr/>
        </p:nvSpPr>
        <p:spPr>
          <a:xfrm>
            <a:off x="731520" y="1645920"/>
            <a:ext cx="5212080" cy="1280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846320" cy="457200"/>
          </a:xfrm>
          <a:prstGeom prst="rect">
            <a:avLst/>
          </a:prstGeom>
          <a:noFill/>
        </p:spPr>
        <p:txBody>
          <a:bodyPr wrap="none">
            <a:spAutoFit/>
          </a:bodyPr>
          <a:lstStyle/>
          <a:p>
            <a:pPr>
              <a:defRPr sz="1400" b="1">
                <a:solidFill>
                  <a:srgbClr val="1E3A8A"/>
                </a:solidFill>
              </a:defRPr>
            </a:pPr>
            <a:r>
              <a:t>Input Dimension</a:t>
            </a:r>
          </a:p>
        </p:txBody>
      </p:sp>
      <p:sp>
        <p:nvSpPr>
          <p:cNvPr id="6" name="TextBox 5"/>
          <p:cNvSpPr txBox="1"/>
          <p:nvPr/>
        </p:nvSpPr>
        <p:spPr>
          <a:xfrm>
            <a:off x="868680" y="2148840"/>
            <a:ext cx="4937760" cy="685800"/>
          </a:xfrm>
          <a:prstGeom prst="rect">
            <a:avLst/>
          </a:prstGeom>
          <a:noFill/>
        </p:spPr>
        <p:txBody>
          <a:bodyPr wrap="square">
            <a:spAutoFit/>
          </a:bodyPr>
          <a:lstStyle/>
          <a:p>
            <a:pPr>
              <a:defRPr sz="1100">
                <a:solidFill>
                  <a:srgbClr val="0F172A"/>
                </a:solidFill>
              </a:defRPr>
            </a:pPr>
            <a:r>
              <a:t>Paper states 144 features; we used 24, 48, and 60 (mean and std pooled over time for 12, 24, 30 coefficients).</a:t>
            </a:r>
          </a:p>
        </p:txBody>
      </p:sp>
      <p:sp>
        <p:nvSpPr>
          <p:cNvPr id="7" name="Rounded Rectangle 6"/>
          <p:cNvSpPr/>
          <p:nvPr/>
        </p:nvSpPr>
        <p:spPr>
          <a:xfrm>
            <a:off x="6217920" y="1645920"/>
            <a:ext cx="5212080" cy="1280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83080"/>
            <a:ext cx="4846320" cy="457200"/>
          </a:xfrm>
          <a:prstGeom prst="rect">
            <a:avLst/>
          </a:prstGeom>
          <a:noFill/>
        </p:spPr>
        <p:txBody>
          <a:bodyPr wrap="none">
            <a:spAutoFit/>
          </a:bodyPr>
          <a:lstStyle/>
          <a:p>
            <a:pPr>
              <a:defRPr sz="1400" b="1">
                <a:solidFill>
                  <a:srgbClr val="1E3A8A"/>
                </a:solidFill>
              </a:defRPr>
            </a:pPr>
            <a:r>
              <a:t>Convolution Padding</a:t>
            </a:r>
          </a:p>
        </p:txBody>
      </p:sp>
      <p:sp>
        <p:nvSpPr>
          <p:cNvPr id="9" name="TextBox 8"/>
          <p:cNvSpPr txBox="1"/>
          <p:nvPr/>
        </p:nvSpPr>
        <p:spPr>
          <a:xfrm>
            <a:off x="6355080" y="2148840"/>
            <a:ext cx="4937760" cy="685800"/>
          </a:xfrm>
          <a:prstGeom prst="rect">
            <a:avLst/>
          </a:prstGeom>
          <a:noFill/>
        </p:spPr>
        <p:txBody>
          <a:bodyPr wrap="square">
            <a:spAutoFit/>
          </a:bodyPr>
          <a:lstStyle/>
          <a:p>
            <a:pPr>
              <a:defRPr sz="1100">
                <a:solidFill>
                  <a:srgbClr val="0F172A"/>
                </a:solidFill>
              </a:defRPr>
            </a:pPr>
            <a:r>
              <a:t>Used 'same' padding. With 'valid' padding, sequence lengths collapse to zero by layer 3 given kernel size 15 and 4 pooling layers.</a:t>
            </a:r>
          </a:p>
        </p:txBody>
      </p:sp>
      <p:sp>
        <p:nvSpPr>
          <p:cNvPr id="10" name="Rounded Rectangle 9"/>
          <p:cNvSpPr/>
          <p:nvPr/>
        </p:nvSpPr>
        <p:spPr>
          <a:xfrm>
            <a:off x="731520" y="3108960"/>
            <a:ext cx="5212080" cy="1280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246120"/>
            <a:ext cx="4846320" cy="457200"/>
          </a:xfrm>
          <a:prstGeom prst="rect">
            <a:avLst/>
          </a:prstGeom>
          <a:noFill/>
        </p:spPr>
        <p:txBody>
          <a:bodyPr wrap="none">
            <a:spAutoFit/>
          </a:bodyPr>
          <a:lstStyle/>
          <a:p>
            <a:pPr>
              <a:defRPr sz="1400" b="1">
                <a:solidFill>
                  <a:srgbClr val="1E3A8A"/>
                </a:solidFill>
              </a:defRPr>
            </a:pPr>
            <a:r>
              <a:t>Layer 4 Filters</a:t>
            </a:r>
          </a:p>
        </p:txBody>
      </p:sp>
      <p:sp>
        <p:nvSpPr>
          <p:cNvPr id="12" name="TextBox 11"/>
          <p:cNvSpPr txBox="1"/>
          <p:nvPr/>
        </p:nvSpPr>
        <p:spPr>
          <a:xfrm>
            <a:off x="868680" y="3611880"/>
            <a:ext cx="4937760" cy="685800"/>
          </a:xfrm>
          <a:prstGeom prst="rect">
            <a:avLst/>
          </a:prstGeom>
          <a:noFill/>
        </p:spPr>
        <p:txBody>
          <a:bodyPr wrap="square">
            <a:spAutoFit/>
          </a:bodyPr>
          <a:lstStyle/>
          <a:p>
            <a:pPr>
              <a:defRPr sz="1100">
                <a:solidFill>
                  <a:srgbClr val="0F172A"/>
                </a:solidFill>
              </a:defRPr>
            </a:pPr>
            <a:r>
              <a:t>Paper specifies 62 filters; we adopted 64 filters as the standard power-of-two following 8, 16, and 32.</a:t>
            </a:r>
          </a:p>
        </p:txBody>
      </p:sp>
      <p:sp>
        <p:nvSpPr>
          <p:cNvPr id="13" name="Rounded Rectangle 12"/>
          <p:cNvSpPr/>
          <p:nvPr/>
        </p:nvSpPr>
        <p:spPr>
          <a:xfrm>
            <a:off x="6217920" y="3108960"/>
            <a:ext cx="5212080" cy="1280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3246120"/>
            <a:ext cx="4846320" cy="457200"/>
          </a:xfrm>
          <a:prstGeom prst="rect">
            <a:avLst/>
          </a:prstGeom>
          <a:noFill/>
        </p:spPr>
        <p:txBody>
          <a:bodyPr wrap="none">
            <a:spAutoFit/>
          </a:bodyPr>
          <a:lstStyle/>
          <a:p>
            <a:pPr>
              <a:defRPr sz="1400" b="1">
                <a:solidFill>
                  <a:srgbClr val="1E3A8A"/>
                </a:solidFill>
              </a:defRPr>
            </a:pPr>
            <a:r>
              <a:t>Capacity Asymmetry</a:t>
            </a:r>
          </a:p>
        </p:txBody>
      </p:sp>
      <p:sp>
        <p:nvSpPr>
          <p:cNvPr id="15" name="TextBox 14"/>
          <p:cNvSpPr txBox="1"/>
          <p:nvPr/>
        </p:nvSpPr>
        <p:spPr>
          <a:xfrm>
            <a:off x="6355080" y="3611880"/>
            <a:ext cx="4937760" cy="685800"/>
          </a:xfrm>
          <a:prstGeom prst="rect">
            <a:avLst/>
          </a:prstGeom>
          <a:noFill/>
        </p:spPr>
        <p:txBody>
          <a:bodyPr wrap="square">
            <a:spAutoFit/>
          </a:bodyPr>
          <a:lstStyle/>
          <a:p>
            <a:pPr>
              <a:defRPr sz="1100">
                <a:solidFill>
                  <a:srgbClr val="0F172A"/>
                </a:solidFill>
              </a:defRPr>
            </a:pPr>
            <a:r>
              <a:t>12-coefficient model flattens to 64 units into Dense(120), while 24 and 30 flatten to 192 units. Comparisons are not purely about acoustic features.</a:t>
            </a:r>
          </a:p>
        </p:txBody>
      </p:sp>
      <p:sp>
        <p:nvSpPr>
          <p:cNvPr id="16" name="Rounded Rectangle 15"/>
          <p:cNvSpPr/>
          <p:nvPr/>
        </p:nvSpPr>
        <p:spPr>
          <a:xfrm>
            <a:off x="731520" y="4572000"/>
            <a:ext cx="5212080" cy="1280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709160"/>
            <a:ext cx="4846320" cy="457200"/>
          </a:xfrm>
          <a:prstGeom prst="rect">
            <a:avLst/>
          </a:prstGeom>
          <a:noFill/>
        </p:spPr>
        <p:txBody>
          <a:bodyPr wrap="none">
            <a:spAutoFit/>
          </a:bodyPr>
          <a:lstStyle/>
          <a:p>
            <a:pPr>
              <a:defRPr sz="1400" b="1">
                <a:solidFill>
                  <a:srgbClr val="1E3A8A"/>
                </a:solidFill>
              </a:defRPr>
            </a:pPr>
            <a:r>
              <a:t>Evaluation Protocol</a:t>
            </a:r>
          </a:p>
        </p:txBody>
      </p:sp>
      <p:sp>
        <p:nvSpPr>
          <p:cNvPr id="18" name="TextBox 17"/>
          <p:cNvSpPr txBox="1"/>
          <p:nvPr/>
        </p:nvSpPr>
        <p:spPr>
          <a:xfrm>
            <a:off x="868680" y="5074920"/>
            <a:ext cx="4937760" cy="685800"/>
          </a:xfrm>
          <a:prstGeom prst="rect">
            <a:avLst/>
          </a:prstGeom>
          <a:noFill/>
        </p:spPr>
        <p:txBody>
          <a:bodyPr wrap="square">
            <a:spAutoFit/>
          </a:bodyPr>
          <a:lstStyle/>
          <a:p>
            <a:pPr>
              <a:defRPr sz="1100">
                <a:solidFill>
                  <a:srgbClr val="0F172A"/>
                </a:solidFill>
              </a:defRPr>
            </a:pPr>
            <a:r>
              <a:t>Best models selected strictly on validation accuracy; test set scored exactly once after freezing model selection.</a:t>
            </a:r>
          </a:p>
        </p:txBody>
      </p:sp>
      <p:sp>
        <p:nvSpPr>
          <p:cNvPr id="19" name="Rounded Rectangle 18"/>
          <p:cNvSpPr/>
          <p:nvPr/>
        </p:nvSpPr>
        <p:spPr>
          <a:xfrm>
            <a:off x="6217920" y="4572000"/>
            <a:ext cx="5212080" cy="1280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4709160"/>
            <a:ext cx="4846320" cy="457200"/>
          </a:xfrm>
          <a:prstGeom prst="rect">
            <a:avLst/>
          </a:prstGeom>
          <a:noFill/>
        </p:spPr>
        <p:txBody>
          <a:bodyPr wrap="none">
            <a:spAutoFit/>
          </a:bodyPr>
          <a:lstStyle/>
          <a:p>
            <a:pPr>
              <a:defRPr sz="1400" b="1">
                <a:solidFill>
                  <a:srgbClr val="1E3A8A"/>
                </a:solidFill>
              </a:defRPr>
            </a:pPr>
            <a:r>
              <a:t>Train-Only Scaling</a:t>
            </a:r>
          </a:p>
        </p:txBody>
      </p:sp>
      <p:sp>
        <p:nvSpPr>
          <p:cNvPr id="21" name="TextBox 20"/>
          <p:cNvSpPr txBox="1"/>
          <p:nvPr/>
        </p:nvSpPr>
        <p:spPr>
          <a:xfrm>
            <a:off x="6355080" y="5074920"/>
            <a:ext cx="4937760" cy="685800"/>
          </a:xfrm>
          <a:prstGeom prst="rect">
            <a:avLst/>
          </a:prstGeom>
          <a:noFill/>
        </p:spPr>
        <p:txBody>
          <a:bodyPr wrap="square">
            <a:spAutoFit/>
          </a:bodyPr>
          <a:lstStyle/>
          <a:p>
            <a:pPr>
              <a:defRPr sz="1100">
                <a:solidFill>
                  <a:srgbClr val="0F172A"/>
                </a:solidFill>
              </a:defRPr>
            </a:pPr>
            <a:r>
              <a:t>StandardScaler fitted strictly on training data; validation and test normalized without data peek.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E7490"/>
                </a:solidFill>
              </a:defRPr>
            </a:pPr>
            <a:r>
              <a:t>SPEECH EMOTION RECOGNITION • WEEK 3</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defRPr>
            </a:pPr>
            <a:r>
              <a:t>Looking Ahead: Week 4 Multi-Corpus Evaluation</a:t>
            </a:r>
          </a:p>
        </p:txBody>
      </p:sp>
      <p:sp>
        <p:nvSpPr>
          <p:cNvPr id="4" name="Rounded Rectangle 3"/>
          <p:cNvSpPr/>
          <p:nvPr/>
        </p:nvSpPr>
        <p:spPr>
          <a:xfrm>
            <a:off x="731520" y="1645920"/>
            <a:ext cx="3291840" cy="4389120"/>
          </a:xfrm>
          <a:prstGeom prst="roundRect">
            <a:avLst/>
          </a:prstGeom>
          <a:solidFill>
            <a:srgbClr val="EEF2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2926080" cy="457200"/>
          </a:xfrm>
          <a:prstGeom prst="rect">
            <a:avLst/>
          </a:prstGeom>
          <a:noFill/>
        </p:spPr>
        <p:txBody>
          <a:bodyPr wrap="none">
            <a:spAutoFit/>
          </a:bodyPr>
          <a:lstStyle/>
          <a:p>
            <a:pPr>
              <a:defRPr sz="1400" b="1">
                <a:solidFill>
                  <a:srgbClr val="1E3A8A"/>
                </a:solidFill>
              </a:defRPr>
            </a:pPr>
            <a:r>
              <a:t>CAFE Dataset</a:t>
            </a:r>
          </a:p>
        </p:txBody>
      </p:sp>
      <p:sp>
        <p:nvSpPr>
          <p:cNvPr id="6" name="TextBox 5"/>
          <p:cNvSpPr txBox="1"/>
          <p:nvPr/>
        </p:nvSpPr>
        <p:spPr>
          <a:xfrm>
            <a:off x="914400" y="2286000"/>
            <a:ext cx="2926080" cy="3474720"/>
          </a:xfrm>
          <a:prstGeom prst="rect">
            <a:avLst/>
          </a:prstGeom>
          <a:noFill/>
        </p:spPr>
        <p:txBody>
          <a:bodyPr wrap="square">
            <a:spAutoFit/>
          </a:bodyPr>
          <a:lstStyle/>
          <a:p>
            <a:pPr>
              <a:defRPr sz="1300">
                <a:solidFill>
                  <a:srgbClr val="1E3A8A"/>
                </a:solidFill>
              </a:defRPr>
            </a:pPr>
            <a:r>
              <a:t>• Canadian French Speech</a:t>
            </a:r>
          </a:p>
          <a:p>
            <a:pPr>
              <a:defRPr sz="1300">
                <a:solidFill>
                  <a:srgbClr val="1E3A8A"/>
                </a:solidFill>
              </a:defRPr>
            </a:pPr>
          </a:p>
          <a:p>
            <a:pPr>
              <a:defRPr sz="1300">
                <a:solidFill>
                  <a:srgbClr val="1E3A8A"/>
                </a:solidFill>
              </a:defRPr>
            </a:pPr>
            <a:r>
              <a:t>• 6 fundamental emotions + neutral</a:t>
            </a:r>
          </a:p>
          <a:p>
            <a:pPr>
              <a:defRPr sz="1300">
                <a:solidFill>
                  <a:srgbClr val="1E3A8A"/>
                </a:solidFill>
              </a:defRPr>
            </a:pPr>
          </a:p>
          <a:p>
            <a:pPr>
              <a:defRPr sz="1300">
                <a:solidFill>
                  <a:srgbClr val="1E3A8A"/>
                </a:solidFill>
              </a:defRPr>
            </a:pPr>
            <a:r>
              <a:t>• 12 professional actors</a:t>
            </a:r>
          </a:p>
          <a:p>
            <a:pPr>
              <a:defRPr sz="1300">
                <a:solidFill>
                  <a:srgbClr val="1E3A8A"/>
                </a:solidFill>
              </a:defRPr>
            </a:pPr>
          </a:p>
          <a:p>
            <a:pPr>
              <a:defRPr sz="1300">
                <a:solidFill>
                  <a:srgbClr val="1E3A8A"/>
                </a:solidFill>
              </a:defRPr>
            </a:pPr>
            <a:r>
              <a:t>• Goal: Test whether MFMC vs MFCC behavior holds in French.</a:t>
            </a:r>
          </a:p>
        </p:txBody>
      </p:sp>
      <p:sp>
        <p:nvSpPr>
          <p:cNvPr id="7" name="Rounded Rectangle 6"/>
          <p:cNvSpPr/>
          <p:nvPr/>
        </p:nvSpPr>
        <p:spPr>
          <a:xfrm>
            <a:off x="4434840" y="1645920"/>
            <a:ext cx="32918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783080"/>
            <a:ext cx="2926080" cy="457200"/>
          </a:xfrm>
          <a:prstGeom prst="rect">
            <a:avLst/>
          </a:prstGeom>
          <a:noFill/>
        </p:spPr>
        <p:txBody>
          <a:bodyPr wrap="none">
            <a:spAutoFit/>
          </a:bodyPr>
          <a:lstStyle/>
          <a:p>
            <a:pPr>
              <a:defRPr sz="1400" b="1">
                <a:solidFill>
                  <a:srgbClr val="1E3A8A"/>
                </a:solidFill>
              </a:defRPr>
            </a:pPr>
            <a:r>
              <a:t>AESDD Dataset</a:t>
            </a:r>
          </a:p>
        </p:txBody>
      </p:sp>
      <p:sp>
        <p:nvSpPr>
          <p:cNvPr id="9" name="TextBox 8"/>
          <p:cNvSpPr txBox="1"/>
          <p:nvPr/>
        </p:nvSpPr>
        <p:spPr>
          <a:xfrm>
            <a:off x="4617720" y="2286000"/>
            <a:ext cx="2926080" cy="3474720"/>
          </a:xfrm>
          <a:prstGeom prst="rect">
            <a:avLst/>
          </a:prstGeom>
          <a:noFill/>
        </p:spPr>
        <p:txBody>
          <a:bodyPr wrap="square">
            <a:spAutoFit/>
          </a:bodyPr>
          <a:lstStyle/>
          <a:p>
            <a:pPr>
              <a:defRPr sz="1300">
                <a:solidFill>
                  <a:srgbClr val="0F172A"/>
                </a:solidFill>
              </a:defRPr>
            </a:pPr>
            <a:r>
              <a:t>• Greek Emotional Speech</a:t>
            </a:r>
          </a:p>
          <a:p>
            <a:pPr>
              <a:defRPr sz="1300">
                <a:solidFill>
                  <a:srgbClr val="0F172A"/>
                </a:solidFill>
              </a:defRPr>
            </a:pPr>
          </a:p>
          <a:p>
            <a:pPr>
              <a:defRPr sz="1300">
                <a:solidFill>
                  <a:srgbClr val="0F172A"/>
                </a:solidFill>
              </a:defRPr>
            </a:pPr>
            <a:r>
              <a:t>• 5 distinct emotional states</a:t>
            </a:r>
          </a:p>
          <a:p>
            <a:pPr>
              <a:defRPr sz="1300">
                <a:solidFill>
                  <a:srgbClr val="0F172A"/>
                </a:solidFill>
              </a:defRPr>
            </a:pPr>
          </a:p>
          <a:p>
            <a:pPr>
              <a:defRPr sz="1300">
                <a:solidFill>
                  <a:srgbClr val="0F172A"/>
                </a:solidFill>
              </a:defRPr>
            </a:pPr>
            <a:r>
              <a:t>• Acted dramatic speech</a:t>
            </a:r>
          </a:p>
          <a:p>
            <a:pPr>
              <a:defRPr sz="1300">
                <a:solidFill>
                  <a:srgbClr val="0F172A"/>
                </a:solidFill>
              </a:defRPr>
            </a:pPr>
          </a:p>
          <a:p>
            <a:pPr>
              <a:defRPr sz="1300">
                <a:solidFill>
                  <a:srgbClr val="0F172A"/>
                </a:solidFill>
              </a:defRPr>
            </a:pPr>
            <a:r>
              <a:t>• Goal: Evaluate noise augmentation benefits on smaller phonetic corpora.</a:t>
            </a:r>
          </a:p>
        </p:txBody>
      </p:sp>
      <p:sp>
        <p:nvSpPr>
          <p:cNvPr id="10" name="Rounded Rectangle 9"/>
          <p:cNvSpPr/>
          <p:nvPr/>
        </p:nvSpPr>
        <p:spPr>
          <a:xfrm>
            <a:off x="8138160" y="1645920"/>
            <a:ext cx="32918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783080"/>
            <a:ext cx="2926080" cy="457200"/>
          </a:xfrm>
          <a:prstGeom prst="rect">
            <a:avLst/>
          </a:prstGeom>
          <a:noFill/>
        </p:spPr>
        <p:txBody>
          <a:bodyPr wrap="none">
            <a:spAutoFit/>
          </a:bodyPr>
          <a:lstStyle/>
          <a:p>
            <a:pPr>
              <a:defRPr sz="1400" b="1">
                <a:solidFill>
                  <a:srgbClr val="1E3A8A"/>
                </a:solidFill>
              </a:defRPr>
            </a:pPr>
            <a:r>
              <a:t>MESD Dataset</a:t>
            </a:r>
          </a:p>
        </p:txBody>
      </p:sp>
      <p:sp>
        <p:nvSpPr>
          <p:cNvPr id="12" name="TextBox 11"/>
          <p:cNvSpPr txBox="1"/>
          <p:nvPr/>
        </p:nvSpPr>
        <p:spPr>
          <a:xfrm>
            <a:off x="8321040" y="2286000"/>
            <a:ext cx="2926080" cy="3474720"/>
          </a:xfrm>
          <a:prstGeom prst="rect">
            <a:avLst/>
          </a:prstGeom>
          <a:noFill/>
        </p:spPr>
        <p:txBody>
          <a:bodyPr wrap="square">
            <a:spAutoFit/>
          </a:bodyPr>
          <a:lstStyle/>
          <a:p>
            <a:pPr>
              <a:defRPr sz="1300">
                <a:solidFill>
                  <a:srgbClr val="0F172A"/>
                </a:solidFill>
              </a:defRPr>
            </a:pPr>
            <a:r>
              <a:t>• Mexican Spanish Emotional Speech</a:t>
            </a:r>
          </a:p>
          <a:p>
            <a:pPr>
              <a:defRPr sz="1300">
                <a:solidFill>
                  <a:srgbClr val="0F172A"/>
                </a:solidFill>
              </a:defRPr>
            </a:pPr>
          </a:p>
          <a:p>
            <a:pPr>
              <a:defRPr sz="1300">
                <a:solidFill>
                  <a:srgbClr val="0F172A"/>
                </a:solidFill>
              </a:defRPr>
            </a:pPr>
            <a:r>
              <a:t>• Multiple speaker categories</a:t>
            </a:r>
          </a:p>
          <a:p>
            <a:pPr>
              <a:defRPr sz="1300">
                <a:solidFill>
                  <a:srgbClr val="0F172A"/>
                </a:solidFill>
              </a:defRPr>
            </a:pPr>
          </a:p>
          <a:p>
            <a:pPr>
              <a:defRPr sz="1300">
                <a:solidFill>
                  <a:srgbClr val="0F172A"/>
                </a:solidFill>
              </a:defRPr>
            </a:pPr>
            <a:r>
              <a:t>• Real-world acoustic variance</a:t>
            </a:r>
          </a:p>
          <a:p>
            <a:pPr>
              <a:defRPr sz="1300">
                <a:solidFill>
                  <a:srgbClr val="0F172A"/>
                </a:solidFill>
              </a:defRPr>
            </a:pPr>
          </a:p>
          <a:p>
            <a:pPr>
              <a:defRPr sz="1300">
                <a:solidFill>
                  <a:srgbClr val="0F172A"/>
                </a:solidFill>
              </a:defRPr>
            </a:pPr>
            <a:r>
              <a:t>• Goal: Investigate cross-corpus generalization and speaker independence.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E7490"/>
                </a:solidFill>
              </a:defRPr>
            </a:pPr>
            <a:r>
              <a:t>SPEECH EMOTION RECOGNITION • WEEK 3</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defRPr>
            </a:pPr>
            <a:r>
              <a:t>Backup Slide: Layer Dimensions &amp; Convergence Curves</a:t>
            </a:r>
          </a:p>
        </p:txBody>
      </p:sp>
      <p:sp>
        <p:nvSpPr>
          <p:cNvPr id="4" name="Rounded Rectangle 3"/>
          <p:cNvSpPr/>
          <p:nvPr/>
        </p:nvSpPr>
        <p:spPr>
          <a:xfrm>
            <a:off x="731520" y="1645920"/>
            <a:ext cx="438912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023360" cy="457200"/>
          </a:xfrm>
          <a:prstGeom prst="rect">
            <a:avLst/>
          </a:prstGeom>
          <a:noFill/>
        </p:spPr>
        <p:txBody>
          <a:bodyPr wrap="none">
            <a:spAutoFit/>
          </a:bodyPr>
          <a:lstStyle/>
          <a:p>
            <a:pPr>
              <a:defRPr sz="1400" b="1">
                <a:solidFill>
                  <a:srgbClr val="1E3A8A"/>
                </a:solidFill>
              </a:defRPr>
            </a:pPr>
            <a:r>
              <a:t>Layer-by-Layer Architecture</a:t>
            </a:r>
          </a:p>
        </p:txBody>
      </p:sp>
      <p:sp>
        <p:nvSpPr>
          <p:cNvPr id="6" name="TextBox 5"/>
          <p:cNvSpPr txBox="1"/>
          <p:nvPr/>
        </p:nvSpPr>
        <p:spPr>
          <a:xfrm>
            <a:off x="914400" y="2194560"/>
            <a:ext cx="4023360" cy="3657600"/>
          </a:xfrm>
          <a:prstGeom prst="rect">
            <a:avLst/>
          </a:prstGeom>
          <a:noFill/>
        </p:spPr>
        <p:txBody>
          <a:bodyPr wrap="square">
            <a:spAutoFit/>
          </a:bodyPr>
          <a:lstStyle/>
          <a:p>
            <a:pPr>
              <a:defRPr sz="1100">
                <a:solidFill>
                  <a:srgbClr val="0F172A"/>
                </a:solidFill>
              </a:defRPr>
            </a:pPr>
            <a:r>
              <a:t>• Input: (batch, input_dim, 1) where input_dim in {24, 48, 60}</a:t>
            </a:r>
          </a:p>
          <a:p>
            <a:pPr>
              <a:defRPr sz="1100">
                <a:solidFill>
                  <a:srgbClr val="0F172A"/>
                </a:solidFill>
              </a:defRPr>
            </a:pPr>
            <a:r>
              <a:t>• Block 1: Conv1D(8, k=15, same) -&gt; BN -&gt; ReLU -&gt; MaxPool(2)</a:t>
            </a:r>
          </a:p>
          <a:p>
            <a:pPr>
              <a:defRPr sz="1100">
                <a:solidFill>
                  <a:srgbClr val="0F172A"/>
                </a:solidFill>
              </a:defRPr>
            </a:pPr>
            <a:r>
              <a:t>• Block 2: Conv1D(16, k=15, same) -&gt; BN -&gt; ReLU -&gt; MaxPool(2)</a:t>
            </a:r>
          </a:p>
          <a:p>
            <a:pPr>
              <a:defRPr sz="1100">
                <a:solidFill>
                  <a:srgbClr val="0F172A"/>
                </a:solidFill>
              </a:defRPr>
            </a:pPr>
            <a:r>
              <a:t>• Block 3: Conv1D(32, k=15, same) -&gt; BN -&gt; ReLU -&gt; MaxPool(2)</a:t>
            </a:r>
          </a:p>
          <a:p>
            <a:pPr>
              <a:defRPr sz="1100">
                <a:solidFill>
                  <a:srgbClr val="0F172A"/>
                </a:solidFill>
              </a:defRPr>
            </a:pPr>
            <a:r>
              <a:t>• Block 4: Conv1D(64, k=15, same) -&gt; BN -&gt; ReLU -&gt; MaxPool(2)</a:t>
            </a:r>
          </a:p>
          <a:p>
            <a:pPr>
              <a:defRPr sz="1100">
                <a:solidFill>
                  <a:srgbClr val="0F172A"/>
                </a:solidFill>
              </a:defRPr>
            </a:pPr>
            <a:r>
              <a:t>• Head: Dropout(0.3) -&gt; Flatten -&gt; Dense(120, ReLU) -&gt; Dropout(0.2) -&gt; Dense(7, Softmax)</a:t>
            </a:r>
          </a:p>
          <a:p>
            <a:pPr>
              <a:defRPr sz="1100">
                <a:solidFill>
                  <a:srgbClr val="0F172A"/>
                </a:solidFill>
              </a:defRPr>
            </a:pPr>
            <a:r>
              <a:t>• Total Parameters: 49,687 (12 coeffs) / 65,047 (24 &amp; 30 coeffs)</a:t>
            </a:r>
          </a:p>
        </p:txBody>
      </p:sp>
      <p:sp>
        <p:nvSpPr>
          <p:cNvPr id="7" name="Rounded Rectangle 6"/>
          <p:cNvSpPr/>
          <p:nvPr/>
        </p:nvSpPr>
        <p:spPr>
          <a:xfrm>
            <a:off x="5394960" y="1645920"/>
            <a:ext cx="60350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0" y="1783080"/>
            <a:ext cx="5669280" cy="457200"/>
          </a:xfrm>
          <a:prstGeom prst="rect">
            <a:avLst/>
          </a:prstGeom>
          <a:noFill/>
        </p:spPr>
        <p:txBody>
          <a:bodyPr wrap="none">
            <a:spAutoFit/>
          </a:bodyPr>
          <a:lstStyle/>
          <a:p>
            <a:pPr>
              <a:defRPr sz="1400" b="1">
                <a:solidFill>
                  <a:srgbClr val="1E3A8A"/>
                </a:solidFill>
              </a:defRPr>
            </a:pPr>
            <a:r>
              <a:t>Training &amp; Validation Convergence</a:t>
            </a:r>
          </a:p>
        </p:txBody>
      </p:sp>
      <p:pic>
        <p:nvPicPr>
          <p:cNvPr id="9" name="Picture 8" descr="training_curves_best_runs.png"/>
          <p:cNvPicPr>
            <a:picLocks noChangeAspect="1"/>
          </p:cNvPicPr>
          <p:nvPr/>
        </p:nvPicPr>
        <p:blipFill>
          <a:blip r:embed="rId2"/>
          <a:stretch>
            <a:fillRect/>
          </a:stretch>
        </p:blipFill>
        <p:spPr>
          <a:xfrm>
            <a:off x="5577840" y="2194560"/>
            <a:ext cx="5669280" cy="222721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