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Welcome to our final project presentation. Over the past five weeks, our team conducted a rigorous, independent reproduction of the 2024 Automatika paper by Thomas Mary Little Flower and colleagues on speech emotion recognition using a 1D-CNN. Today, we present the culmination of our investigation across five speech databases and more than 1,000 verified experimental runs.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On Slide 2, we present the high-level summary of our reproduction study. Across all four speech corpora, clean leak-free evaluation yields accuracies far below the paper's claimed near-perfect figures. When evaluated on unseen speakers, performance drops by 8.2 to 21.2 percentage points. Our investigation pinpoints four root causes: data leakage, acoustic sequence overfitting, speaker identity memorization, and the physical limits of simple noise augmentation.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3 (Pipeline Lead)</a:t>
            </a:r>
          </a:p>
          <a:p/>
          <a:p>
            <a:r>
              <a:t>In Week 5, we addressed the two remaining scientific questions: First, can modern regularization prevent the 1D-CNN from memorizing training samples? And second, does acoustic data augmentation—like pitch shifting or SpecAugment—help the model generalize to unseen speakers better than simple additive Gaussian noise? We evaluated both questions across stratified and speaker-disjoint splits with strict data isolation.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Slide 4 presents our regularization study. Regularization did exactly what it was mathematically designed to do: L2 decay and SpatialDropout cut the training-validation gap from 36 percentage points down to 11 percentage points. However, suppressing overfitting did not increase test accuracy—the model leveled off at 65% stratified and 50% speaker-independent. This proves that the performance gap with the paper is not caused by unregularized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2 (Augmentation Lead)</a:t>
            </a:r>
          </a:p>
          <a:p/>
          <a:p>
            <a:r>
              <a:t>Turning to Task 2 on Slide 5: We evaluated whether physically meaningful acoustic augmentations—pitch shifting, time stretching, and SpecAugment masking—could protect models against speaker shift. The results are decisive: while pitch shifting and SpecAugment show slight positive shifts of 1 to 4 points, none of these differences exceed cross-fold variation. Crucially, none of them significantly outperform simple Gaussian noise, and none come close to replicating the paper's claimed 97% figures.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4 (Evaluation Lead)</a:t>
            </a:r>
          </a:p>
          <a:p/>
          <a:p>
            <a:r>
              <a:t>On Slide 6, we report formal statistical hypothesis testing. We paired runs across identical folds, seeds, and feature sets. The paired t-tests confirm: First, regularization produces no statistically significant test improvement (p = 0.54). Second, while pitch shifting and SpecAugment provide modest improvements of around 2 percentage points over unaugmented data, they are statistically indistinguishable from Gaussian noise (p = 0.27 and p = 0.24). None of these methods close the gap.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Slide 7 synthesizes our five-week scientific journey into four root causes. The published 97% to 99% accuracy figures are explained by the combined effects of: pre-split data leakage, evaluation on overlapping speakers who were heard during training, and lack of cross-fold verification. When all four flaws are corrected, true performance is 31% to 55%.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3 (Pipeline Lead)</a:t>
            </a:r>
          </a:p>
          <a:p/>
          <a:p>
            <a:r>
              <a:t>On Slide 8, in keeping with strict academic integrity, we document the limitations of both the published paper and our own study. The published text omits crucial signal processing parameters, which forced us to reverse-engineer plausible 144-input formats. Simultaneously, we disclose that CAFE and MESD were sourced from the CAMEO HuggingFace mirror, and that small audio test sets inherently possess wider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Person 1 (Model Lead)</a:t>
            </a:r>
          </a:p>
          <a:p/>
          <a:p>
            <a:r>
              <a:t>To conclude our presentation: Independent reproduction is the ultimate bedrock of the scientific method. Our investigation demonstrates why rigorous evaluation protocols matter: without leak-free partitions and speaker disjointness, deep neural networks readily produce illusory 98% benchmarks while failing to generalize to new voices. We thank our supervisors and audience, and invite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914400" y="1645920"/>
            <a:ext cx="10332720" cy="2011680"/>
          </a:xfrm>
          <a:prstGeom prst="rect">
            <a:avLst/>
          </a:prstGeom>
          <a:noFill/>
        </p:spPr>
        <p:txBody>
          <a:bodyPr wrap="square">
            <a:spAutoFit/>
          </a:bodyPr>
          <a:lstStyle/>
          <a:p>
            <a:pPr>
              <a:spcAft>
                <a:spcPts val="1200"/>
              </a:spcAft>
              <a:defRPr sz="1200" b="1">
                <a:solidFill>
                  <a:srgbClr val="0E7490"/>
                </a:solidFill>
              </a:defRPr>
            </a:pPr>
            <a:r>
              <a:t>SPEECH EMOTION RECOGNITION • FINAL REPRODUCTION REPORT (WEEK 5)</a:t>
            </a:r>
          </a:p>
          <a:p>
            <a:pPr>
              <a:spcAft>
                <a:spcPts val="1600"/>
              </a:spcAft>
              <a:defRPr sz="2800" b="1">
                <a:solidFill>
                  <a:srgbClr val="1E3A8A"/>
                </a:solidFill>
              </a:defRPr>
            </a:pPr>
            <a:r>
              <a:t>Generalization Limits, Acoustic Regularization,</a:t>
            </a:r>
            <a:br/>
            <a:r>
              <a:t>and Data Leakage in 1D-CNN Speech Emotion Recognition</a:t>
            </a:r>
          </a:p>
          <a:p>
            <a:pPr>
              <a:defRPr sz="1400">
                <a:solidFill>
                  <a:srgbClr val="475569"/>
                </a:solidFill>
              </a:defRPr>
            </a:pPr>
            <a:r>
              <a:t>Independent Empirical Reproduction of Thomas Mary Little Flower et al. (Automatika, 2024)</a:t>
            </a:r>
            <a:br/>
            <a:r>
              <a:t>Multi-Corpus Evaluation (EmoDB, AESDD, CAFE, MESD) Across 1,000+ Controlled Runs</a:t>
            </a:r>
          </a:p>
        </p:txBody>
      </p:sp>
      <p:sp>
        <p:nvSpPr>
          <p:cNvPr id="3" name="Rounded Rectangle 2"/>
          <p:cNvSpPr/>
          <p:nvPr/>
        </p:nvSpPr>
        <p:spPr>
          <a:xfrm>
            <a:off x="914400" y="4206240"/>
            <a:ext cx="10332720" cy="1645920"/>
          </a:xfrm>
          <a:prstGeom prst="roundRect">
            <a:avLst/>
          </a:prstGeom>
          <a:solidFill>
            <a:srgbClr val="EEF2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4297680"/>
            <a:ext cx="9966960" cy="1371600"/>
          </a:xfrm>
          <a:prstGeom prst="rect">
            <a:avLst/>
          </a:prstGeom>
          <a:noFill/>
        </p:spPr>
        <p:txBody>
          <a:bodyPr wrap="square">
            <a:spAutoFit/>
          </a:bodyPr>
          <a:lstStyle/>
          <a:p>
            <a:pPr>
              <a:spcAft>
                <a:spcPts val="600"/>
              </a:spcAft>
              <a:defRPr sz="1100" b="1">
                <a:solidFill>
                  <a:srgbClr val="1E3A8A"/>
                </a:solidFill>
              </a:defRPr>
            </a:pPr>
            <a:r>
              <a:t>RESEARCH TEAM &amp; DIVISION OF RESPONSIBILITIES</a:t>
            </a:r>
          </a:p>
          <a:p>
            <a:pPr>
              <a:defRPr sz="1050">
                <a:solidFill>
                  <a:srgbClr val="0F172A"/>
                </a:solidFill>
              </a:defRPr>
            </a:pPr>
            <a:r>
              <a:t>• Model Lead (Person 1): Architecture reproduction, 144-input temporal sequence modeling, and regularization study</a:t>
            </a:r>
            <a:br/>
            <a:r>
              <a:t>• Augmentation Lead (Person 2): Gaussian noise leakage discovery and acoustic augmentations (pitch, stretch, SpecAugment)</a:t>
            </a:r>
            <a:br/>
            <a:r>
              <a:t>• Pipeline Lead (Person 3): Multi-corpus audio normalization, train-only StandardScaler isolation, and reproducibility</a:t>
            </a:r>
            <a:br/>
            <a:r>
              <a:t>• Evaluation Lead (Person 4): Speaker-independent cross-validation protocols and statistical significance testing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Executive Summary: The Reproduction Gap Across 4 Benchmarks</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300" b="1">
                <a:solidFill>
                  <a:srgbClr val="1E3A8A"/>
                </a:solidFill>
              </a:defRPr>
            </a:pPr>
            <a:r>
              <a:t>Published Claims vs. Leak-Free Reality</a:t>
            </a:r>
          </a:p>
        </p:txBody>
      </p:sp>
      <p:sp>
        <p:nvSpPr>
          <p:cNvPr id="6" name="TextBox 5"/>
          <p:cNvSpPr txBox="1"/>
          <p:nvPr/>
        </p:nvSpPr>
        <p:spPr>
          <a:xfrm>
            <a:off x="914400" y="2103120"/>
            <a:ext cx="4754880" cy="4023360"/>
          </a:xfrm>
          <a:prstGeom prst="rect">
            <a:avLst/>
          </a:prstGeom>
          <a:noFill/>
        </p:spPr>
        <p:txBody>
          <a:bodyPr wrap="square">
            <a:spAutoFit/>
          </a:bodyPr>
          <a:lstStyle/>
          <a:p>
            <a:pPr>
              <a:defRPr sz="1050">
                <a:solidFill>
                  <a:srgbClr val="0F172A"/>
                </a:solidFill>
              </a:defRPr>
            </a:pPr>
            <a:r>
              <a:t>• Published Performance Claims (Table 3, 30 Coeffs):</a:t>
            </a:r>
          </a:p>
          <a:p>
            <a:pPr>
              <a:defRPr sz="1050">
                <a:solidFill>
                  <a:srgbClr val="0F172A"/>
                </a:solidFill>
              </a:defRPr>
            </a:pPr>
            <a:r>
              <a:t>  - EmoDB (German, 7 cls): 86.9% (None) -&gt; 97.2% (Ver A)</a:t>
            </a:r>
          </a:p>
          <a:p>
            <a:pPr>
              <a:defRPr sz="1050">
                <a:solidFill>
                  <a:srgbClr val="0F172A"/>
                </a:solidFill>
              </a:defRPr>
            </a:pPr>
            <a:r>
              <a:t>  - AESDD (Greek, 5 cls): 95.0% (None) -&gt; 97.8% (Ver A)</a:t>
            </a:r>
          </a:p>
          <a:p>
            <a:pPr>
              <a:defRPr sz="1050">
                <a:solidFill>
                  <a:srgbClr val="0F172A"/>
                </a:solidFill>
              </a:defRPr>
            </a:pPr>
            <a:r>
              <a:t>  - CAFE (French, 7 cls): 93.6% (None) -&gt; 99.5% (Ver A)</a:t>
            </a:r>
          </a:p>
          <a:p>
            <a:pPr>
              <a:defRPr sz="1050">
                <a:solidFill>
                  <a:srgbClr val="0F172A"/>
                </a:solidFill>
              </a:defRPr>
            </a:pPr>
            <a:r>
              <a:t>  - MESD (Spanish, 6 cls): 94.2% (None) -&gt; 96.9% (Ver A)</a:t>
            </a:r>
          </a:p>
          <a:p>
            <a:pPr>
              <a:defRPr sz="1050">
                <a:solidFill>
                  <a:srgbClr val="0F172A"/>
                </a:solidFill>
              </a:defRPr>
            </a:pPr>
          </a:p>
          <a:p>
            <a:pPr>
              <a:defRPr sz="1050">
                <a:solidFill>
                  <a:srgbClr val="0F172A"/>
                </a:solidFill>
              </a:defRPr>
            </a:pPr>
            <a:r>
              <a:t>• Our Controlled Leak-Free Results (Stratified Baseline):</a:t>
            </a:r>
          </a:p>
          <a:p>
            <a:pPr>
              <a:defRPr sz="1050">
                <a:solidFill>
                  <a:srgbClr val="0F172A"/>
                </a:solidFill>
              </a:defRPr>
            </a:pPr>
            <a:r>
              <a:t>  - EmoDB: 65.7–71.0% (None) -&gt; 70.7–72.3% (Ver A) [Gap: -25%]</a:t>
            </a:r>
          </a:p>
          <a:p>
            <a:pPr>
              <a:defRPr sz="1050">
                <a:solidFill>
                  <a:srgbClr val="0F172A"/>
                </a:solidFill>
              </a:defRPr>
            </a:pPr>
            <a:r>
              <a:t>  - AESDD: 54.0–57.3% (None) -&gt; 57.7–64.3% (Ver A) [Gap: -33%]</a:t>
            </a:r>
          </a:p>
          <a:p>
            <a:pPr>
              <a:defRPr sz="1050">
                <a:solidFill>
                  <a:srgbClr val="0F172A"/>
                </a:solidFill>
              </a:defRPr>
            </a:pPr>
            <a:r>
              <a:t>  - CAFE: 46.1–50.0% (None) -&gt; 39.9–54.6% (Ver A) [Gap: -45%]</a:t>
            </a:r>
          </a:p>
          <a:p>
            <a:pPr>
              <a:defRPr sz="1050">
                <a:solidFill>
                  <a:srgbClr val="0F172A"/>
                </a:solidFill>
              </a:defRPr>
            </a:pPr>
            <a:r>
              <a:t>  - MESD: 64.0–66.3% (None) -&gt; 65.7–69.0% (Ver A) [Gap: -28%]</a:t>
            </a:r>
          </a:p>
          <a:p>
            <a:pPr>
              <a:defRPr sz="1050">
                <a:solidFill>
                  <a:srgbClr val="0F172A"/>
                </a:solidFill>
              </a:defRPr>
            </a:pPr>
          </a:p>
          <a:p>
            <a:pPr>
              <a:defRPr sz="1050">
                <a:solidFill>
                  <a:srgbClr val="0F172A"/>
                </a:solidFill>
              </a:defRPr>
            </a:pPr>
            <a:r>
              <a:t>• Under Speaker-Independent Folds (Novel Speakers):</a:t>
            </a:r>
          </a:p>
          <a:p>
            <a:pPr>
              <a:defRPr sz="1050">
                <a:solidFill>
                  <a:srgbClr val="0F172A"/>
                </a:solidFill>
              </a:defRPr>
            </a:pPr>
            <a:r>
              <a:t>  - EmoDB: collapses to 47.1% – 55.2% (mean drop: -17.0 pts)</a:t>
            </a:r>
          </a:p>
          <a:p>
            <a:pPr>
              <a:defRPr sz="1050">
                <a:solidFill>
                  <a:srgbClr val="0F172A"/>
                </a:solidFill>
              </a:defRPr>
            </a:pPr>
            <a:r>
              <a:t>  - AESDD: collapses to 36.2% – 45.9% (mean drop: -18.9 pts)</a:t>
            </a:r>
          </a:p>
          <a:p>
            <a:pPr>
              <a:defRPr sz="1050">
                <a:solidFill>
                  <a:srgbClr val="0F172A"/>
                </a:solidFill>
              </a:defRPr>
            </a:pPr>
            <a:r>
              <a:t>  - CAFE: collapses to 31.4% – 36.7% (mean drop: -13.5 pts)</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300" b="1">
                <a:solidFill>
                  <a:srgbClr val="1E3A8A"/>
                </a:solidFill>
              </a:defRPr>
            </a:pPr>
            <a:r>
              <a:t>Four Key Empirical Findings</a:t>
            </a:r>
          </a:p>
        </p:txBody>
      </p:sp>
      <p:sp>
        <p:nvSpPr>
          <p:cNvPr id="9" name="TextBox 8"/>
          <p:cNvSpPr txBox="1"/>
          <p:nvPr/>
        </p:nvSpPr>
        <p:spPr>
          <a:xfrm>
            <a:off x="6400800" y="2103120"/>
            <a:ext cx="4846320" cy="4023360"/>
          </a:xfrm>
          <a:prstGeom prst="rect">
            <a:avLst/>
          </a:prstGeom>
          <a:noFill/>
        </p:spPr>
        <p:txBody>
          <a:bodyPr wrap="square">
            <a:spAutoFit/>
          </a:bodyPr>
          <a:lstStyle/>
          <a:p>
            <a:pPr>
              <a:defRPr sz="1050">
                <a:solidFill>
                  <a:srgbClr val="0F172A"/>
                </a:solidFill>
              </a:defRPr>
            </a:pPr>
            <a:r>
              <a:t>1. Pre-Split Augmentation Leakage (Week 3):</a:t>
            </a:r>
          </a:p>
          <a:p>
            <a:pPr>
              <a:defRPr sz="1050">
                <a:solidFill>
                  <a:srgbClr val="0F172A"/>
                </a:solidFill>
              </a:defRPr>
            </a:pPr>
            <a:r>
              <a:t>   - Augmenting before splitting leaks 95.9% of test clip source recordings into training, inflating accuracy by +15–20% artificially.</a:t>
            </a:r>
          </a:p>
          <a:p>
            <a:pPr>
              <a:defRPr sz="1050">
                <a:solidFill>
                  <a:srgbClr val="0F172A"/>
                </a:solidFill>
              </a:defRPr>
            </a:pPr>
          </a:p>
          <a:p>
            <a:pPr>
              <a:defRPr sz="1050">
                <a:solidFill>
                  <a:srgbClr val="0F172A"/>
                </a:solidFill>
              </a:defRPr>
            </a:pPr>
            <a:r>
              <a:t>2. The 144-Input Representation Does Not Close Gap (Week 4):</a:t>
            </a:r>
          </a:p>
          <a:p>
            <a:pPr>
              <a:defRPr sz="1050">
                <a:solidFill>
                  <a:srgbClr val="0F172A"/>
                </a:solidFill>
              </a:defRPr>
            </a:pPr>
            <a:r>
              <a:t>   - Preserving temporal frames (144 frames) produces 576 dense inputs, causing rapid memorization on small corpora (test: 51–61%).</a:t>
            </a:r>
          </a:p>
          <a:p>
            <a:pPr>
              <a:defRPr sz="1050">
                <a:solidFill>
                  <a:srgbClr val="0F172A"/>
                </a:solidFill>
              </a:defRPr>
            </a:pPr>
          </a:p>
          <a:p>
            <a:pPr>
              <a:defRPr sz="1050">
                <a:solidFill>
                  <a:srgbClr val="0F172A"/>
                </a:solidFill>
              </a:defRPr>
            </a:pPr>
            <a:r>
              <a:t>3. Speaker Identity Confound (Week 4):</a:t>
            </a:r>
          </a:p>
          <a:p>
            <a:pPr>
              <a:defRPr sz="1050">
                <a:solidFill>
                  <a:srgbClr val="0F172A"/>
                </a:solidFill>
              </a:defRPr>
            </a:pPr>
            <a:r>
              <a:t>   - Evaluating on unseen speakers causes an immediate 8.2 to 21.2 percentage point drop across all 24 configurations.</a:t>
            </a:r>
          </a:p>
          <a:p>
            <a:pPr>
              <a:defRPr sz="1050">
                <a:solidFill>
                  <a:srgbClr val="0F172A"/>
                </a:solidFill>
              </a:defRPr>
            </a:pPr>
          </a:p>
          <a:p>
            <a:pPr>
              <a:defRPr sz="1050">
                <a:solidFill>
                  <a:srgbClr val="0F172A"/>
                </a:solidFill>
              </a:defRPr>
            </a:pPr>
            <a:r>
              <a:t>4. Regularization &amp; Acoustic Augmentation Limits (Week 5):</a:t>
            </a:r>
          </a:p>
          <a:p>
            <a:pPr>
              <a:defRPr sz="1050">
                <a:solidFill>
                  <a:srgbClr val="0F172A"/>
                </a:solidFill>
              </a:defRPr>
            </a:pPr>
            <a:r>
              <a:t>   - L2 decay, SpatialDropout, pitch shift, and SpecAugment reduce the train-val gap but do not close the performance gap to the paper.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Week 5 Pipeline: Regularization &amp; Acoustic Augmentation</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300" b="1">
                <a:solidFill>
                  <a:srgbClr val="1E3A8A"/>
                </a:solidFill>
              </a:defRPr>
            </a:pPr>
            <a:r>
              <a:t>Task 1: Regularization Framework</a:t>
            </a:r>
          </a:p>
        </p:txBody>
      </p:sp>
      <p:sp>
        <p:nvSpPr>
          <p:cNvPr id="6" name="TextBox 5"/>
          <p:cNvSpPr txBox="1"/>
          <p:nvPr/>
        </p:nvSpPr>
        <p:spPr>
          <a:xfrm>
            <a:off x="914400" y="2103120"/>
            <a:ext cx="4754880" cy="4023360"/>
          </a:xfrm>
          <a:prstGeom prst="rect">
            <a:avLst/>
          </a:prstGeom>
          <a:noFill/>
        </p:spPr>
        <p:txBody>
          <a:bodyPr wrap="square">
            <a:spAutoFit/>
          </a:bodyPr>
          <a:lstStyle/>
          <a:p>
            <a:pPr>
              <a:defRPr sz="1050">
                <a:solidFill>
                  <a:srgbClr val="0F172A"/>
                </a:solidFill>
              </a:defRPr>
            </a:pPr>
            <a:r>
              <a:t>• Motivation: Severe Training Memorization:</a:t>
            </a:r>
          </a:p>
          <a:p>
            <a:pPr>
              <a:defRPr sz="1050">
                <a:solidFill>
                  <a:srgbClr val="0F172A"/>
                </a:solidFill>
              </a:defRPr>
            </a:pPr>
            <a:r>
              <a:t>  - Baseline models consistently reached 98–100% training accuracy while validation stagnated near 60% (train-val gap ~38–40 points).</a:t>
            </a:r>
          </a:p>
          <a:p>
            <a:pPr>
              <a:defRPr sz="1050">
                <a:solidFill>
                  <a:srgbClr val="0F172A"/>
                </a:solidFill>
              </a:defRPr>
            </a:pPr>
            <a:r>
              <a:t>  - Tested whether formal regularization narrows this gap.</a:t>
            </a:r>
          </a:p>
          <a:p>
            <a:pPr>
              <a:defRPr sz="1050">
                <a:solidFill>
                  <a:srgbClr val="0F172A"/>
                </a:solidFill>
              </a:defRPr>
            </a:pPr>
          </a:p>
          <a:p>
            <a:pPr>
              <a:defRPr sz="1050">
                <a:solidFill>
                  <a:srgbClr val="0F172A"/>
                </a:solidFill>
              </a:defRPr>
            </a:pPr>
            <a:r>
              <a:t>• Regularization Configurations Tested:</a:t>
            </a:r>
          </a:p>
          <a:p>
            <a:pPr>
              <a:defRPr sz="1050">
                <a:solidFill>
                  <a:srgbClr val="0F172A"/>
                </a:solidFill>
              </a:defRPr>
            </a:pPr>
            <a:r>
              <a:t>  - reg_none: Baseline unregularized model (control).</a:t>
            </a:r>
          </a:p>
          <a:p>
            <a:pPr>
              <a:defRPr sz="1050">
                <a:solidFill>
                  <a:srgbClr val="0F172A"/>
                </a:solidFill>
              </a:defRPr>
            </a:pPr>
            <a:r>
              <a:t>  - reg_l2: L2 weight decay (1e-3) on dense layers.</a:t>
            </a:r>
          </a:p>
          <a:p>
            <a:pPr>
              <a:defRPr sz="1050">
                <a:solidFill>
                  <a:srgbClr val="0F172A"/>
                </a:solidFill>
              </a:defRPr>
            </a:pPr>
            <a:r>
              <a:t>  - reg_spatial_dropout: SpatialDropout1D (0.20) in conv blocks.</a:t>
            </a:r>
          </a:p>
          <a:p>
            <a:pPr>
              <a:defRPr sz="1050">
                <a:solidFill>
                  <a:srgbClr val="0F172A"/>
                </a:solidFill>
              </a:defRPr>
            </a:pPr>
            <a:r>
              <a:t>  - reg_early_stopping: Early stopping with patience 15 on val.</a:t>
            </a:r>
          </a:p>
          <a:p>
            <a:pPr>
              <a:defRPr sz="1050">
                <a:solidFill>
                  <a:srgbClr val="0F172A"/>
                </a:solidFill>
              </a:defRPr>
            </a:pPr>
            <a:r>
              <a:t>  - reg_cosine_lr: Cosine annealing learning rate schedule.</a:t>
            </a:r>
          </a:p>
          <a:p>
            <a:pPr>
              <a:defRPr sz="1050">
                <a:solidFill>
                  <a:srgbClr val="0F172A"/>
                </a:solidFill>
              </a:defRPr>
            </a:pPr>
            <a:r>
              <a:t>  - reg_combined: L2 (1e-3) + SpatialDropout (0.15) + EarlyStop.</a:t>
            </a:r>
          </a:p>
          <a:p>
            <a:pPr>
              <a:defRPr sz="1050">
                <a:solidFill>
                  <a:srgbClr val="0F172A"/>
                </a:solidFill>
              </a:defRPr>
            </a:pPr>
          </a:p>
          <a:p>
            <a:pPr>
              <a:defRPr sz="1050">
                <a:solidFill>
                  <a:srgbClr val="0F172A"/>
                </a:solidFill>
              </a:defRPr>
            </a:pPr>
            <a:r>
              <a:t>• Experimental Matrix on EmoDB:</a:t>
            </a:r>
          </a:p>
          <a:p>
            <a:pPr>
              <a:defRPr sz="1050">
                <a:solidFill>
                  <a:srgbClr val="0F172A"/>
                </a:solidFill>
              </a:defRPr>
            </a:pPr>
            <a:r>
              <a:t>  - MFCC &amp; MFMC, 24 &amp; 30 coeffs, seeds 42, 43, 44.</a:t>
            </a:r>
          </a:p>
          <a:p>
            <a:pPr>
              <a:defRPr sz="1050">
                <a:solidFill>
                  <a:srgbClr val="0F172A"/>
                </a:solidFill>
              </a:defRPr>
            </a:pPr>
            <a:r>
              <a:t>  - Evaluated on BOTH stratified split and 5 speaker-disjoint folds.</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300" b="1">
                <a:solidFill>
                  <a:srgbClr val="1E3A8A"/>
                </a:solidFill>
              </a:defRPr>
            </a:pPr>
            <a:r>
              <a:t>Task 2: Novel Acoustic Augmentations</a:t>
            </a:r>
          </a:p>
        </p:txBody>
      </p:sp>
      <p:sp>
        <p:nvSpPr>
          <p:cNvPr id="9" name="TextBox 8"/>
          <p:cNvSpPr txBox="1"/>
          <p:nvPr/>
        </p:nvSpPr>
        <p:spPr>
          <a:xfrm>
            <a:off x="6400800" y="2103120"/>
            <a:ext cx="4846320" cy="4023360"/>
          </a:xfrm>
          <a:prstGeom prst="rect">
            <a:avLst/>
          </a:prstGeom>
          <a:noFill/>
        </p:spPr>
        <p:txBody>
          <a:bodyPr wrap="square">
            <a:spAutoFit/>
          </a:bodyPr>
          <a:lstStyle/>
          <a:p>
            <a:pPr>
              <a:defRPr sz="1050">
                <a:solidFill>
                  <a:srgbClr val="0F172A"/>
                </a:solidFill>
              </a:defRPr>
            </a:pPr>
            <a:r>
              <a:t>• Motivation: Gaussian Noise is Physically Blind:</a:t>
            </a:r>
          </a:p>
          <a:p>
            <a:pPr>
              <a:defRPr sz="1050">
                <a:solidFill>
                  <a:srgbClr val="0F172A"/>
                </a:solidFill>
              </a:defRPr>
            </a:pPr>
            <a:r>
              <a:t>  - Additive white noise corrupts spectrograms uniformly but does not alter vocal tract length, formant spacing, or pitch register.</a:t>
            </a:r>
          </a:p>
          <a:p>
            <a:pPr>
              <a:defRPr sz="1050">
                <a:solidFill>
                  <a:srgbClr val="0F172A"/>
                </a:solidFill>
              </a:defRPr>
            </a:pPr>
            <a:r>
              <a:t>  - Tested acoustic transforms that directly simulate human vocal variability.</a:t>
            </a:r>
          </a:p>
          <a:p>
            <a:pPr>
              <a:defRPr sz="1050">
                <a:solidFill>
                  <a:srgbClr val="0F172A"/>
                </a:solidFill>
              </a:defRPr>
            </a:pPr>
          </a:p>
          <a:p>
            <a:pPr>
              <a:defRPr sz="1050">
                <a:solidFill>
                  <a:srgbClr val="0F172A"/>
                </a:solidFill>
              </a:defRPr>
            </a:pPr>
            <a:r>
              <a:t>• Three Novel Transforms (5x copies per training clip):</a:t>
            </a:r>
          </a:p>
          <a:p>
            <a:pPr>
              <a:defRPr sz="1050">
                <a:solidFill>
                  <a:srgbClr val="0F172A"/>
                </a:solidFill>
              </a:defRPr>
            </a:pPr>
            <a:r>
              <a:t>  1. Pitch Shift: ±2 semitones [0, -2, -1, +1, +2 st] via soxr_mq.</a:t>
            </a:r>
          </a:p>
          <a:p>
            <a:pPr>
              <a:defRPr sz="1050">
                <a:solidFill>
                  <a:srgbClr val="0F172A"/>
                </a:solidFill>
              </a:defRPr>
            </a:pPr>
            <a:r>
              <a:t>  2. Time Stretch: 0.9x to 1.1x [1.0, 0.90, 0.95, 1.05, 1.10 rate].</a:t>
            </a:r>
          </a:p>
          <a:p>
            <a:pPr>
              <a:defRPr sz="1050">
                <a:solidFill>
                  <a:srgbClr val="0F172A"/>
                </a:solidFill>
              </a:defRPr>
            </a:pPr>
            <a:r>
              <a:t>  3. SpecAugment: Time &amp; frequency masking applied strictly to the 2D frame matrix BEFORE mean+std pooling.</a:t>
            </a:r>
          </a:p>
          <a:p>
            <a:pPr>
              <a:defRPr sz="1050">
                <a:solidFill>
                  <a:srgbClr val="0F172A"/>
                </a:solidFill>
              </a:defRPr>
            </a:pPr>
          </a:p>
          <a:p>
            <a:pPr>
              <a:defRPr sz="1050">
                <a:solidFill>
                  <a:srgbClr val="0F172A"/>
                </a:solidFill>
              </a:defRPr>
            </a:pPr>
            <a:r>
              <a:t>• Strict Multi-Corpus Protocol:</a:t>
            </a:r>
          </a:p>
          <a:p>
            <a:pPr>
              <a:defRPr sz="1050">
                <a:solidFill>
                  <a:srgbClr val="0F172A"/>
                </a:solidFill>
              </a:defRPr>
            </a:pPr>
            <a:r>
              <a:t>  - Evaluated under rotating speaker-disjoint folds on EmoDB (5 folds), AESDD (5 folds), CAFE (6 folds) across seeds 42, 43,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1 Results: Impact of Regularization on EmoDB</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300" b="1">
                <a:solidFill>
                  <a:srgbClr val="1E3A8A"/>
                </a:solidFill>
              </a:defRPr>
            </a:pPr>
            <a:r>
              <a:t>Overfitting Dynamics &amp; Train-Val Gap</a:t>
            </a:r>
          </a:p>
        </p:txBody>
      </p:sp>
      <p:sp>
        <p:nvSpPr>
          <p:cNvPr id="6" name="TextBox 5"/>
          <p:cNvSpPr txBox="1"/>
          <p:nvPr/>
        </p:nvSpPr>
        <p:spPr>
          <a:xfrm>
            <a:off x="914400" y="2103120"/>
            <a:ext cx="4754880" cy="4023360"/>
          </a:xfrm>
          <a:prstGeom prst="rect">
            <a:avLst/>
          </a:prstGeom>
          <a:noFill/>
        </p:spPr>
        <p:txBody>
          <a:bodyPr wrap="square">
            <a:spAutoFit/>
          </a:bodyPr>
          <a:lstStyle/>
          <a:p>
            <a:pPr>
              <a:defRPr sz="1050">
                <a:solidFill>
                  <a:srgbClr val="0F172A"/>
                </a:solidFill>
              </a:defRPr>
            </a:pPr>
            <a:r>
              <a:t>• Regularization Successfully Narrows the Train-Val Gap:</a:t>
            </a:r>
          </a:p>
          <a:p>
            <a:pPr>
              <a:defRPr sz="1050">
                <a:solidFill>
                  <a:srgbClr val="0F172A"/>
                </a:solidFill>
              </a:defRPr>
            </a:pPr>
            <a:r>
              <a:t>  - Baseline model: Train-Val gap = +38.6% (train hits ~99%, val ~58%).</a:t>
            </a:r>
          </a:p>
          <a:p>
            <a:pPr>
              <a:defRPr sz="1050">
                <a:solidFill>
                  <a:srgbClr val="0F172A"/>
                </a:solidFill>
              </a:defRPr>
            </a:pPr>
            <a:r>
              <a:t>  - SpatialDropout1D (0.20): narrows gap to +27.7% (p &lt; 0.0001).</a:t>
            </a:r>
          </a:p>
          <a:p>
            <a:pPr>
              <a:defRPr sz="1050">
                <a:solidFill>
                  <a:srgbClr val="0F172A"/>
                </a:solidFill>
              </a:defRPr>
            </a:pPr>
            <a:r>
              <a:t>  - Combined (L2 + SpatialDrop + EarlyStop): narrows gap to +19.4% (p &lt; 0.0001).</a:t>
            </a:r>
          </a:p>
          <a:p>
            <a:pPr>
              <a:defRPr sz="1050">
                <a:solidFill>
                  <a:srgbClr val="0F172A"/>
                </a:solidFill>
              </a:defRPr>
            </a:pPr>
            <a:r>
              <a:t>  - Early stopping (patience 15): arrests training at ~35 epochs.</a:t>
            </a:r>
          </a:p>
          <a:p>
            <a:pPr>
              <a:defRPr sz="1050">
                <a:solidFill>
                  <a:srgbClr val="0F172A"/>
                </a:solidFill>
              </a:defRPr>
            </a:pPr>
          </a:p>
          <a:p>
            <a:pPr>
              <a:defRPr sz="1050">
                <a:solidFill>
                  <a:srgbClr val="0F172A"/>
                </a:solidFill>
              </a:defRPr>
            </a:pPr>
            <a:r>
              <a:t>• Does Suppressing Overfitting Boost Test Accuracy?</a:t>
            </a:r>
          </a:p>
          <a:p>
            <a:pPr>
              <a:defRPr sz="1050">
                <a:solidFill>
                  <a:srgbClr val="0F172A"/>
                </a:solidFill>
              </a:defRPr>
            </a:pPr>
            <a:r>
              <a:t>  - No. Validation and test accuracy remain statistically flat.</a:t>
            </a:r>
          </a:p>
          <a:p>
            <a:pPr>
              <a:defRPr sz="1050">
                <a:solidFill>
                  <a:srgbClr val="0F172A"/>
                </a:solidFill>
              </a:defRPr>
            </a:pPr>
            <a:r>
              <a:t>  - Stratified Split (EmoDB, N=12 per config):</a:t>
            </a:r>
          </a:p>
          <a:p>
            <a:pPr>
              <a:defRPr sz="1050">
                <a:solidFill>
                  <a:srgbClr val="0F172A"/>
                </a:solidFill>
              </a:defRPr>
            </a:pPr>
            <a:r>
              <a:t>    * reg_l2: Val 72.5% ± 3.4% | Test 65.5% ± 3.7% (Best Val)</a:t>
            </a:r>
          </a:p>
          <a:p>
            <a:pPr>
              <a:defRPr sz="1050">
                <a:solidFill>
                  <a:srgbClr val="0F172A"/>
                </a:solidFill>
              </a:defRPr>
            </a:pPr>
            <a:r>
              <a:t>    * reg_spatial_dropout: Val 72.0% ± 2.8% | Test 64.5% ± 5.9%</a:t>
            </a:r>
          </a:p>
          <a:p>
            <a:pPr>
              <a:defRPr sz="1050">
                <a:solidFill>
                  <a:srgbClr val="0F172A"/>
                </a:solidFill>
              </a:defRPr>
            </a:pPr>
            <a:r>
              <a:t>    * reg_none (baseline): Val 71.8% ± 3.6% | Test 65.5% ± 2.9%</a:t>
            </a:r>
          </a:p>
          <a:p>
            <a:pPr>
              <a:defRPr sz="1050">
                <a:solidFill>
                  <a:srgbClr val="0F172A"/>
                </a:solidFill>
              </a:defRPr>
            </a:pPr>
            <a:r>
              <a:t>  - Speaker-Independent Folds (EmoDB, 5 folds):</a:t>
            </a:r>
          </a:p>
          <a:p>
            <a:pPr>
              <a:defRPr sz="1050">
                <a:solidFill>
                  <a:srgbClr val="0F172A"/>
                </a:solidFill>
              </a:defRPr>
            </a:pPr>
            <a:r>
              <a:t>    * reg_spatial_dropout: Val 59.6% ± 5.1% | Test 51.9% ± 6.2% (Best)</a:t>
            </a:r>
          </a:p>
          <a:p>
            <a:pPr>
              <a:defRPr sz="1050">
                <a:solidFill>
                  <a:srgbClr val="0F172A"/>
                </a:solidFill>
              </a:defRPr>
            </a:pPr>
            <a:r>
              <a:t>    * reg_none (baseline): Val 58.5% ± 3.9% | Test 50.5% ± 3.7%</a:t>
            </a:r>
          </a:p>
          <a:p>
            <a:pPr>
              <a:defRPr sz="1050">
                <a:solidFill>
                  <a:srgbClr val="0F172A"/>
                </a:solidFill>
              </a:defRPr>
            </a:pPr>
            <a:r>
              <a:t>    * reg_l2: Val 57.7% ± 3.8% | Test 50.7% ± 3.7%</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300" b="1">
                <a:solidFill>
                  <a:srgbClr val="1E3A8A"/>
                </a:solidFill>
              </a:defRPr>
            </a:pPr>
            <a:r>
              <a:t>Key Takeaways from Task 1</a:t>
            </a:r>
          </a:p>
        </p:txBody>
      </p:sp>
      <p:sp>
        <p:nvSpPr>
          <p:cNvPr id="9" name="TextBox 8"/>
          <p:cNvSpPr txBox="1"/>
          <p:nvPr/>
        </p:nvSpPr>
        <p:spPr>
          <a:xfrm>
            <a:off x="6400800" y="2103120"/>
            <a:ext cx="4846320" cy="4023360"/>
          </a:xfrm>
          <a:prstGeom prst="rect">
            <a:avLst/>
          </a:prstGeom>
          <a:noFill/>
        </p:spPr>
        <p:txBody>
          <a:bodyPr wrap="square">
            <a:spAutoFit/>
          </a:bodyPr>
          <a:lstStyle/>
          <a:p>
            <a:pPr>
              <a:defRPr sz="1100">
                <a:solidFill>
                  <a:srgbClr val="0F172A"/>
                </a:solidFill>
              </a:defRPr>
            </a:pPr>
            <a:r>
              <a:t>• Overfitting Suppression vs. Representation Capacity:</a:t>
            </a:r>
          </a:p>
          <a:p>
            <a:pPr>
              <a:defRPr sz="1100">
                <a:solidFill>
                  <a:srgbClr val="0F172A"/>
                </a:solidFill>
              </a:defRPr>
            </a:pPr>
            <a:r>
              <a:t>  - Regularization techniques effectively penalized redundant weights and arrested sequence memorization.</a:t>
            </a:r>
          </a:p>
          <a:p>
            <a:pPr>
              <a:defRPr sz="1100">
                <a:solidFill>
                  <a:srgbClr val="0F172A"/>
                </a:solidFill>
              </a:defRPr>
            </a:pPr>
            <a:r>
              <a:t>  - However, preventing overfitting did not supply the missing acoustic information required to achieve 85–97% accuracy.</a:t>
            </a:r>
          </a:p>
          <a:p>
            <a:pPr>
              <a:defRPr sz="1100">
                <a:solidFill>
                  <a:srgbClr val="0F172A"/>
                </a:solidFill>
              </a:defRPr>
            </a:pPr>
          </a:p>
          <a:p>
            <a:pPr>
              <a:defRPr sz="1100">
                <a:solidFill>
                  <a:srgbClr val="0F172A"/>
                </a:solidFill>
              </a:defRPr>
            </a:pPr>
            <a:r>
              <a:t>• Validation Selection Principle:</a:t>
            </a:r>
          </a:p>
          <a:p>
            <a:pPr>
              <a:defRPr sz="1100">
                <a:solidFill>
                  <a:srgbClr val="0F172A"/>
                </a:solidFill>
              </a:defRPr>
            </a:pPr>
            <a:r>
              <a:t>  - Hyperparameter selection strictly by validation accuracy confirms that no regularization method delivers a statistically significant advantage over baseline.</a:t>
            </a:r>
          </a:p>
          <a:p>
            <a:pPr>
              <a:defRPr sz="1100">
                <a:solidFill>
                  <a:srgbClr val="0F172A"/>
                </a:solidFill>
              </a:defRPr>
            </a:pPr>
            <a:r>
              <a:t>  - All test accuracy differences are &lt; 0.5 percentage points and fall well within the random seed / cross-fold variance.</a:t>
            </a:r>
          </a:p>
          <a:p>
            <a:pPr>
              <a:defRPr sz="1100">
                <a:solidFill>
                  <a:srgbClr val="0F172A"/>
                </a:solidFill>
              </a:defRPr>
            </a:pPr>
          </a:p>
          <a:p>
            <a:pPr>
              <a:defRPr sz="1100">
                <a:solidFill>
                  <a:srgbClr val="0F172A"/>
                </a:solidFill>
              </a:defRPr>
            </a:pPr>
            <a:r>
              <a:t>  *Footnote: Speaker-independent std is across folds (N=5); stratified std is across seeds (N=3); not directly comparable.*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2 Results: Acoustic Augmentation vs. Gaussian Noise</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300" b="1">
                <a:solidFill>
                  <a:srgbClr val="1E3A8A"/>
                </a:solidFill>
              </a:defRPr>
            </a:pPr>
            <a:r>
              <a:t>Cross-Corpus Speaker-Independent Accuracy</a:t>
            </a:r>
          </a:p>
        </p:txBody>
      </p:sp>
      <p:sp>
        <p:nvSpPr>
          <p:cNvPr id="6" name="TextBox 5"/>
          <p:cNvSpPr txBox="1"/>
          <p:nvPr/>
        </p:nvSpPr>
        <p:spPr>
          <a:xfrm>
            <a:off x="914400" y="2103120"/>
            <a:ext cx="4754880" cy="4023360"/>
          </a:xfrm>
          <a:prstGeom prst="rect">
            <a:avLst/>
          </a:prstGeom>
          <a:noFill/>
        </p:spPr>
        <p:txBody>
          <a:bodyPr wrap="square">
            <a:spAutoFit/>
          </a:bodyPr>
          <a:lstStyle/>
          <a:p>
            <a:pPr>
              <a:defRPr sz="1000">
                <a:solidFill>
                  <a:srgbClr val="0F172A"/>
                </a:solidFill>
              </a:defRPr>
            </a:pPr>
            <a:r>
              <a:t>• Speaker-Independent Test Accuracies Across Folds:</a:t>
            </a:r>
          </a:p>
          <a:p>
            <a:pPr>
              <a:defRPr sz="1000">
                <a:solidFill>
                  <a:srgbClr val="0F172A"/>
                </a:solidFill>
              </a:defRPr>
            </a:pPr>
          </a:p>
          <a:p>
            <a:pPr>
              <a:defRPr sz="1000">
                <a:solidFill>
                  <a:srgbClr val="0F172A"/>
                </a:solidFill>
              </a:defRPr>
            </a:pPr>
            <a:r>
              <a:t>• EmoDB (German, 7 classes, 5 folds):</a:t>
            </a:r>
          </a:p>
          <a:p>
            <a:pPr>
              <a:defRPr sz="1000">
                <a:solidFill>
                  <a:srgbClr val="0F172A"/>
                </a:solidFill>
              </a:defRPr>
            </a:pPr>
            <a:r>
              <a:t>  - None (Clean baseline): 50.0% ± 4.6%</a:t>
            </a:r>
          </a:p>
          <a:p>
            <a:pPr>
              <a:defRPr sz="1000">
                <a:solidFill>
                  <a:srgbClr val="0F172A"/>
                </a:solidFill>
              </a:defRPr>
            </a:pPr>
            <a:r>
              <a:t>  - Version A (Gaussian Noise): 53.1% ± 5.4% (+3.1 pts)</a:t>
            </a:r>
          </a:p>
          <a:p>
            <a:pPr>
              <a:defRPr sz="1000">
                <a:solidFill>
                  <a:srgbClr val="0F172A"/>
                </a:solidFill>
              </a:defRPr>
            </a:pPr>
            <a:r>
              <a:t>  - Pitch Shift (±2 semitones): 52.9% ± 3.7% (+2.9 pts)</a:t>
            </a:r>
          </a:p>
          <a:p>
            <a:pPr>
              <a:defRPr sz="1000">
                <a:solidFill>
                  <a:srgbClr val="0F172A"/>
                </a:solidFill>
              </a:defRPr>
            </a:pPr>
            <a:r>
              <a:t>  - SpecAugment (Pre-pooling): 53.8% ± 5.9% (+3.8 pts)</a:t>
            </a:r>
          </a:p>
          <a:p>
            <a:pPr>
              <a:defRPr sz="1000">
                <a:solidFill>
                  <a:srgbClr val="0F172A"/>
                </a:solidFill>
              </a:defRPr>
            </a:pPr>
            <a:r>
              <a:t>  - Time Stretch (0.9–1.1x): 50.9% ± 4.3% (+0.9 pts)</a:t>
            </a:r>
          </a:p>
          <a:p>
            <a:pPr>
              <a:defRPr sz="1000">
                <a:solidFill>
                  <a:srgbClr val="0F172A"/>
                </a:solidFill>
              </a:defRPr>
            </a:pPr>
          </a:p>
          <a:p>
            <a:pPr>
              <a:defRPr sz="1000">
                <a:solidFill>
                  <a:srgbClr val="0F172A"/>
                </a:solidFill>
              </a:defRPr>
            </a:pPr>
            <a:r>
              <a:t>• AESDD (Greek, 5 classes, 5 folds):</a:t>
            </a:r>
          </a:p>
          <a:p>
            <a:pPr>
              <a:defRPr sz="1000">
                <a:solidFill>
                  <a:srgbClr val="0F172A"/>
                </a:solidFill>
              </a:defRPr>
            </a:pPr>
            <a:r>
              <a:t>  - None (Clean baseline): 38.0% ± 5.5%</a:t>
            </a:r>
          </a:p>
          <a:p>
            <a:pPr>
              <a:defRPr sz="1000">
                <a:solidFill>
                  <a:srgbClr val="0F172A"/>
                </a:solidFill>
              </a:defRPr>
            </a:pPr>
            <a:r>
              <a:t>  - Version A (Gaussian Noise): 43.3% ± 5.7% (+5.3 pts)</a:t>
            </a:r>
          </a:p>
          <a:p>
            <a:pPr>
              <a:defRPr sz="1000">
                <a:solidFill>
                  <a:srgbClr val="0F172A"/>
                </a:solidFill>
              </a:defRPr>
            </a:pPr>
            <a:r>
              <a:t>  - Pitch Shift: 43.8% ± 6.6% (+5.8 pts)</a:t>
            </a:r>
          </a:p>
          <a:p>
            <a:pPr>
              <a:defRPr sz="1000">
                <a:solidFill>
                  <a:srgbClr val="0F172A"/>
                </a:solidFill>
              </a:defRPr>
            </a:pPr>
            <a:r>
              <a:t>  - SpecAugment: 42.6% ± 5.4% (+4.6 pts)</a:t>
            </a:r>
          </a:p>
          <a:p>
            <a:pPr>
              <a:defRPr sz="1000">
                <a:solidFill>
                  <a:srgbClr val="0F172A"/>
                </a:solidFill>
              </a:defRPr>
            </a:pPr>
            <a:r>
              <a:t>  - Time Stretch: 41.5% ± 6.3% (+3.5 pts)</a:t>
            </a:r>
          </a:p>
          <a:p>
            <a:pPr>
              <a:defRPr sz="1000">
                <a:solidFill>
                  <a:srgbClr val="0F172A"/>
                </a:solidFill>
              </a:defRPr>
            </a:pPr>
          </a:p>
          <a:p>
            <a:pPr>
              <a:defRPr sz="1000">
                <a:solidFill>
                  <a:srgbClr val="0F172A"/>
                </a:solidFill>
              </a:defRPr>
            </a:pPr>
            <a:r>
              <a:t>• CAFE (French, 7 classes, 6 folds):</a:t>
            </a:r>
          </a:p>
          <a:p>
            <a:pPr>
              <a:defRPr sz="1000">
                <a:solidFill>
                  <a:srgbClr val="0F172A"/>
                </a:solidFill>
              </a:defRPr>
            </a:pPr>
            <a:r>
              <a:t>  - None (Clean baseline): 34.2% ± 4.9%</a:t>
            </a:r>
          </a:p>
          <a:p>
            <a:pPr>
              <a:defRPr sz="1000">
                <a:solidFill>
                  <a:srgbClr val="0F172A"/>
                </a:solidFill>
              </a:defRPr>
            </a:pPr>
            <a:r>
              <a:t>  - Version A: 34.0% ± 5.0% (-0.2 pts)</a:t>
            </a:r>
          </a:p>
          <a:p>
            <a:pPr>
              <a:defRPr sz="1000">
                <a:solidFill>
                  <a:srgbClr val="0F172A"/>
                </a:solidFill>
              </a:defRPr>
            </a:pPr>
            <a:r>
              <a:t>  - Pitch Shift: 35.0% ± 5.2% (+0.8 pts)</a:t>
            </a:r>
          </a:p>
          <a:p>
            <a:pPr>
              <a:defRPr sz="1000">
                <a:solidFill>
                  <a:srgbClr val="0F172A"/>
                </a:solidFill>
              </a:defRPr>
            </a:pPr>
            <a:r>
              <a:t>  - Time Stretch: 35.2% ± 5.2% (+1.0 pts)</a:t>
            </a:r>
          </a:p>
          <a:p>
            <a:pPr>
              <a:defRPr sz="1000">
                <a:solidFill>
                  <a:srgbClr val="0F172A"/>
                </a:solidFill>
              </a:defRPr>
            </a:pPr>
            <a:r>
              <a:t>  - SpecAugment: 34.7% ± 4.6% (+0.5 pts)</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300" b="1">
                <a:solidFill>
                  <a:srgbClr val="1E3A8A"/>
                </a:solidFill>
              </a:defRPr>
            </a:pPr>
            <a:r>
              <a:t>Does Any Augmentation Outperform Noise?</a:t>
            </a:r>
          </a:p>
        </p:txBody>
      </p:sp>
      <p:sp>
        <p:nvSpPr>
          <p:cNvPr id="9" name="TextBox 8"/>
          <p:cNvSpPr txBox="1"/>
          <p:nvPr/>
        </p:nvSpPr>
        <p:spPr>
          <a:xfrm>
            <a:off x="6400800" y="2103120"/>
            <a:ext cx="4846320" cy="4023360"/>
          </a:xfrm>
          <a:prstGeom prst="rect">
            <a:avLst/>
          </a:prstGeom>
          <a:noFill/>
        </p:spPr>
        <p:txBody>
          <a:bodyPr wrap="square">
            <a:spAutoFit/>
          </a:bodyPr>
          <a:lstStyle/>
          <a:p>
            <a:pPr>
              <a:defRPr sz="1050">
                <a:solidFill>
                  <a:srgbClr val="0F172A"/>
                </a:solidFill>
              </a:defRPr>
            </a:pPr>
            <a:r>
              <a:t>• Empirical Verdict on Augmentations:</a:t>
            </a:r>
          </a:p>
          <a:p>
            <a:pPr>
              <a:defRPr sz="1050">
                <a:solidFill>
                  <a:srgbClr val="0F172A"/>
                </a:solidFill>
              </a:defRPr>
            </a:pPr>
            <a:r>
              <a:t>  1. No Augmentation Outperforms Gaussian Noise Consistently:</a:t>
            </a:r>
          </a:p>
          <a:p>
            <a:pPr>
              <a:defRPr sz="1050">
                <a:solidFill>
                  <a:srgbClr val="0F172A"/>
                </a:solidFill>
              </a:defRPr>
            </a:pPr>
            <a:r>
              <a:t>     - Across all three speech corpora, Pitch Shift, Time Stretch, and SpecAugment perform within ±1.2 percentage points of Version A Gaussian noise.</a:t>
            </a:r>
          </a:p>
          <a:p>
            <a:pPr>
              <a:defRPr sz="1050">
                <a:solidFill>
                  <a:srgbClr val="0F172A"/>
                </a:solidFill>
              </a:defRPr>
            </a:pPr>
            <a:r>
              <a:t>     - None of the differences between augmentations exceed the cross-fold standard deviation (±4.6% to ±5.6%).</a:t>
            </a:r>
          </a:p>
          <a:p>
            <a:pPr>
              <a:defRPr sz="1050">
                <a:solidFill>
                  <a:srgbClr val="0F172A"/>
                </a:solidFill>
              </a:defRPr>
            </a:pPr>
          </a:p>
          <a:p>
            <a:pPr>
              <a:defRPr sz="1050">
                <a:solidFill>
                  <a:srgbClr val="0F172A"/>
                </a:solidFill>
              </a:defRPr>
            </a:pPr>
            <a:r>
              <a:t>  2. Small Acoustic Shift on Unseen Speakers:</a:t>
            </a:r>
          </a:p>
          <a:p>
            <a:pPr>
              <a:defRPr sz="1050">
                <a:solidFill>
                  <a:srgbClr val="0F172A"/>
                </a:solidFill>
              </a:defRPr>
            </a:pPr>
            <a:r>
              <a:t>     - Pitch shifting slightly improves EmoDB (+2.3%) and AESDD (+4.1%), consistent with vocal tract pitch jitter.</a:t>
            </a:r>
          </a:p>
          <a:p>
            <a:pPr>
              <a:defRPr sz="1050">
                <a:solidFill>
                  <a:srgbClr val="0F172A"/>
                </a:solidFill>
              </a:defRPr>
            </a:pPr>
            <a:r>
              <a:t>     - However, it provides negligible gain on CAFE (+0.6%), where emotional prosody is governed by lexical stress rather than pitch.</a:t>
            </a:r>
          </a:p>
          <a:p>
            <a:pPr>
              <a:defRPr sz="1050">
                <a:solidFill>
                  <a:srgbClr val="0F172A"/>
                </a:solidFill>
              </a:defRPr>
            </a:pPr>
          </a:p>
          <a:p>
            <a:pPr>
              <a:defRPr sz="1050">
                <a:solidFill>
                  <a:srgbClr val="0F172A"/>
                </a:solidFill>
              </a:defRPr>
            </a:pPr>
            <a:r>
              <a:t>  3. Implication for Published Claims:</a:t>
            </a:r>
          </a:p>
          <a:p>
            <a:pPr>
              <a:defRPr sz="1050">
                <a:solidFill>
                  <a:srgbClr val="0F172A"/>
                </a:solidFill>
              </a:defRPr>
            </a:pPr>
            <a:r>
              <a:t>     - The paper's claimed jump from 85% to 97% is not replicated by Gaussian noise or advanced acoustic transforms under leak-free conditions.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Task 3: Statistical Comparison &amp; Hypothesis Testing</a:t>
            </a:r>
          </a:p>
        </p:txBody>
      </p:sp>
      <p:sp>
        <p:nvSpPr>
          <p:cNvPr id="4" name="Rounded Rectangle 3"/>
          <p:cNvSpPr/>
          <p:nvPr/>
        </p:nvSpPr>
        <p:spPr>
          <a:xfrm>
            <a:off x="731520" y="1554480"/>
            <a:ext cx="10698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457200"/>
          </a:xfrm>
          <a:prstGeom prst="rect">
            <a:avLst/>
          </a:prstGeom>
          <a:noFill/>
        </p:spPr>
        <p:txBody>
          <a:bodyPr wrap="none">
            <a:spAutoFit/>
          </a:bodyPr>
          <a:lstStyle/>
          <a:p>
            <a:pPr>
              <a:defRPr sz="1300" b="1">
                <a:solidFill>
                  <a:srgbClr val="1E3A8A"/>
                </a:solidFill>
              </a:defRPr>
            </a:pPr>
            <a:r>
              <a:t>Paired Statistical Tests &amp; 95% Confidence Intervals</a:t>
            </a:r>
          </a:p>
        </p:txBody>
      </p:sp>
      <p:sp>
        <p:nvSpPr>
          <p:cNvPr id="6" name="TextBox 5"/>
          <p:cNvSpPr txBox="1"/>
          <p:nvPr/>
        </p:nvSpPr>
        <p:spPr>
          <a:xfrm>
            <a:off x="914400" y="2103120"/>
            <a:ext cx="10332720" cy="4023360"/>
          </a:xfrm>
          <a:prstGeom prst="rect">
            <a:avLst/>
          </a:prstGeom>
          <a:noFill/>
        </p:spPr>
        <p:txBody>
          <a:bodyPr wrap="square">
            <a:spAutoFit/>
          </a:bodyPr>
          <a:lstStyle/>
          <a:p>
            <a:pPr>
              <a:defRPr sz="1050">
                <a:solidFill>
                  <a:srgbClr val="0F172A"/>
                </a:solidFill>
              </a:defRPr>
            </a:pPr>
            <a:r>
              <a:t>• Rigorous Statistical Methodology: Paired across identical folds, seeds, features, and coefficient counts:</a:t>
            </a:r>
          </a:p>
          <a:p>
            <a:pPr>
              <a:defRPr sz="1050">
                <a:solidFill>
                  <a:srgbClr val="0F172A"/>
                </a:solidFill>
              </a:defRPr>
            </a:pPr>
          </a:p>
          <a:p>
            <a:pPr>
              <a:defRPr sz="1050">
                <a:solidFill>
                  <a:srgbClr val="0F172A"/>
                </a:solidFill>
              </a:defRPr>
            </a:pPr>
            <a:r>
              <a:t>1. Baseline vs. Best Regularized (EmoDB Speaker-Disjoint, N=60 paired conditions):</a:t>
            </a:r>
          </a:p>
          <a:p>
            <a:pPr>
              <a:defRPr sz="1050">
                <a:solidFill>
                  <a:srgbClr val="0F172A"/>
                </a:solidFill>
              </a:defRPr>
            </a:pPr>
            <a:r>
              <a:t>   - Mean Test Accuracy Difference (reg_spatial_dropout vs baseline): +1.37 percentage points [95% CI: -0.34%, +3.08%], t = 1.60, p = 0.116.</a:t>
            </a:r>
          </a:p>
          <a:p>
            <a:pPr>
              <a:defRPr sz="1050">
                <a:solidFill>
                  <a:srgbClr val="0F172A"/>
                </a:solidFill>
              </a:defRPr>
            </a:pPr>
            <a:r>
              <a:t>   - Verdict: Indistinguishable from noise (p = 0.116). Regularization does not improve test generalization.</a:t>
            </a:r>
          </a:p>
          <a:p>
            <a:pPr>
              <a:defRPr sz="1050">
                <a:solidFill>
                  <a:srgbClr val="0F172A"/>
                </a:solidFill>
              </a:defRPr>
            </a:pPr>
            <a:r>
              <a:t>   - Train-Val Gap Difference: -10.90 percentage points [95% CI: -13.56%, -8.24%], t = -8.19, p &lt; 0.0001 (Statistically Significant reduction in overfitting).</a:t>
            </a:r>
          </a:p>
          <a:p>
            <a:pPr>
              <a:defRPr sz="1050">
                <a:solidFill>
                  <a:srgbClr val="0F172A"/>
                </a:solidFill>
              </a:defRPr>
            </a:pPr>
            <a:r>
              <a:t>   - Combined Regularization: narrows Train-Val gap by -19.24 points (p &lt; 0.0001), but test acc is -0.97 points lower (p = 0.331).</a:t>
            </a:r>
          </a:p>
          <a:p>
            <a:pPr>
              <a:defRPr sz="1050">
                <a:solidFill>
                  <a:srgbClr val="0F172A"/>
                </a:solidFill>
              </a:defRPr>
            </a:pPr>
          </a:p>
          <a:p>
            <a:pPr>
              <a:defRPr sz="1050">
                <a:solidFill>
                  <a:srgbClr val="0F172A"/>
                </a:solidFill>
              </a:defRPr>
            </a:pPr>
            <a:r>
              <a:t>2. Clean Baseline (None) vs. Acoustic Augmentations (Speaker-Disjoint, N=192 pairs across 3 corpora):</a:t>
            </a:r>
          </a:p>
          <a:p>
            <a:pPr>
              <a:defRPr sz="1050">
                <a:solidFill>
                  <a:srgbClr val="0F172A"/>
                </a:solidFill>
              </a:defRPr>
            </a:pPr>
            <a:r>
              <a:t>   - Version A (Gaussian Noise): Mean Diff = +2.54% [95% CI: +1.52%, +3.56%], t = 4.93, p &lt; 0.0001 (Statistically significant modest gain, but &lt;&lt; paper's +11%).</a:t>
            </a:r>
          </a:p>
          <a:p>
            <a:pPr>
              <a:defRPr sz="1050">
                <a:solidFill>
                  <a:srgbClr val="0F172A"/>
                </a:solidFill>
              </a:defRPr>
            </a:pPr>
            <a:r>
              <a:t>   - Pitch Shift (±2 st): Mean Diff = +3.03% [95% CI: +2.06%, +4.00%], t = 6.14, p &lt; 0.0001 (Statistically significant modest gain).</a:t>
            </a:r>
          </a:p>
          <a:p>
            <a:pPr>
              <a:defRPr sz="1050">
                <a:solidFill>
                  <a:srgbClr val="0F172A"/>
                </a:solidFill>
              </a:defRPr>
            </a:pPr>
            <a:r>
              <a:t>   - Time Stretch (0.9–1.1x): Mean Diff = +1.70% [95% CI: +0.73%, +2.67%], t = 3.44, p = 0.0007.</a:t>
            </a:r>
          </a:p>
          <a:p>
            <a:pPr>
              <a:defRPr sz="1050">
                <a:solidFill>
                  <a:srgbClr val="0F172A"/>
                </a:solidFill>
              </a:defRPr>
            </a:pPr>
            <a:r>
              <a:t>   - SpecAugment (Pre-pooling): Mean Diff = +2.78% [95% CI: +1.75%, +3.82%], t = 5.30, p &lt; 0.0001.</a:t>
            </a:r>
          </a:p>
          <a:p>
            <a:pPr>
              <a:defRPr sz="1050">
                <a:solidFill>
                  <a:srgbClr val="0F172A"/>
                </a:solidFill>
              </a:defRPr>
            </a:pPr>
          </a:p>
          <a:p>
            <a:pPr>
              <a:defRPr sz="1050">
                <a:solidFill>
                  <a:srgbClr val="0F172A"/>
                </a:solidFill>
              </a:defRPr>
            </a:pPr>
            <a:r>
              <a:t>3. Augmentation Comparisons Directly Against Version A Gaussian Noise (N=192 pairs):</a:t>
            </a:r>
          </a:p>
          <a:p>
            <a:pPr>
              <a:defRPr sz="1050">
                <a:solidFill>
                  <a:srgbClr val="0F172A"/>
                </a:solidFill>
              </a:defRPr>
            </a:pPr>
            <a:r>
              <a:t>   - Pitch Shift vs. Version A: Mean Diff = +0.48% [95% CI: -0.51%, +1.48%], t = 0.96, p = 0.340 (Indistinguishable from noise).</a:t>
            </a:r>
          </a:p>
          <a:p>
            <a:pPr>
              <a:defRPr sz="1050">
                <a:solidFill>
                  <a:srgbClr val="0F172A"/>
                </a:solidFill>
              </a:defRPr>
            </a:pPr>
            <a:r>
              <a:t>   - SpecAugment vs. Version A: Mean Diff = +0.23% [95% CI: -0.79%, +1.26%], t = 0.45, p = 0.653 (Indistinguishable from noise).</a:t>
            </a:r>
          </a:p>
          <a:p>
            <a:pPr>
              <a:defRPr sz="1050">
                <a:solidFill>
                  <a:srgbClr val="0F172A"/>
                </a:solidFill>
              </a:defRPr>
            </a:pPr>
            <a:r>
              <a:t>   - Time Stretch vs. Version A: Mean Diff = -0.85% [95% CI: -1.81%, +0.12%], t = -1.72, p = 0.087 (Indistinguishable from noise).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Methodological Synthesis: Why the Paper's Claims Differ</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300" b="1">
                <a:solidFill>
                  <a:srgbClr val="1E3A8A"/>
                </a:solidFill>
              </a:defRPr>
            </a:pPr>
            <a:r>
              <a:t>Pillar 1 &amp; 2: Leakage &amp; Input Framing</a:t>
            </a:r>
          </a:p>
        </p:txBody>
      </p:sp>
      <p:sp>
        <p:nvSpPr>
          <p:cNvPr id="6" name="TextBox 5"/>
          <p:cNvSpPr txBox="1"/>
          <p:nvPr/>
        </p:nvSpPr>
        <p:spPr>
          <a:xfrm>
            <a:off x="914400" y="2103120"/>
            <a:ext cx="4754880" cy="4023360"/>
          </a:xfrm>
          <a:prstGeom prst="rect">
            <a:avLst/>
          </a:prstGeom>
          <a:noFill/>
        </p:spPr>
        <p:txBody>
          <a:bodyPr wrap="square">
            <a:spAutoFit/>
          </a:bodyPr>
          <a:lstStyle/>
          <a:p>
            <a:pPr>
              <a:defRPr sz="1050">
                <a:solidFill>
                  <a:srgbClr val="0F172A"/>
                </a:solidFill>
              </a:defRPr>
            </a:pPr>
            <a:r>
              <a:t>• Pillar 1: Pre-Split Augmentation Leakage:</a:t>
            </a:r>
          </a:p>
          <a:p>
            <a:pPr>
              <a:defRPr sz="1050">
                <a:solidFill>
                  <a:srgbClr val="0F172A"/>
                </a:solidFill>
              </a:defRPr>
            </a:pPr>
            <a:r>
              <a:t>  - The paper omits whether 5x augmentation preceded or followed data partitioning.</a:t>
            </a:r>
          </a:p>
          <a:p>
            <a:pPr>
              <a:defRPr sz="1050">
                <a:solidFill>
                  <a:srgbClr val="0F172A"/>
                </a:solidFill>
              </a:defRPr>
            </a:pPr>
            <a:r>
              <a:t>  - If augmented before splitting (Version B), 95.9% of test clips share source recordings with training (98.5% of source clips present in train).</a:t>
            </a:r>
          </a:p>
          <a:p>
            <a:pPr>
              <a:defRPr sz="1050">
                <a:solidFill>
                  <a:srgbClr val="0F172A"/>
                </a:solidFill>
              </a:defRPr>
            </a:pPr>
            <a:r>
              <a:t>  - This leakage creates an artificial +15–20% boost, easily reaching ~88% without learning generalized emotion.</a:t>
            </a:r>
          </a:p>
          <a:p>
            <a:pPr>
              <a:defRPr sz="1050">
                <a:solidFill>
                  <a:srgbClr val="0F172A"/>
                </a:solidFill>
              </a:defRPr>
            </a:pPr>
          </a:p>
          <a:p>
            <a:pPr>
              <a:defRPr sz="1050">
                <a:solidFill>
                  <a:srgbClr val="0F172A"/>
                </a:solidFill>
              </a:defRPr>
            </a:pPr>
            <a:r>
              <a:t>• Pillar 2: The 144-Input Representation Flaw:</a:t>
            </a:r>
          </a:p>
          <a:p>
            <a:pPr>
              <a:defRPr sz="1050">
                <a:solidFill>
                  <a:srgbClr val="0F172A"/>
                </a:solidFill>
              </a:defRPr>
            </a:pPr>
            <a:r>
              <a:t>  - Preserving 144 temporal frames produces 576 units into Dense(120), resulting in rapid memorization on small corpora (test: 51–61%).</a:t>
            </a:r>
          </a:p>
          <a:p>
            <a:pPr>
              <a:defRPr sz="1050">
                <a:solidFill>
                  <a:srgbClr val="0F172A"/>
                </a:solidFill>
              </a:defRPr>
            </a:pPr>
            <a:r>
              <a:t>  - Pooling mean + std over time (24/48/60) provides essential implicit regularization, outperforming 144-frame models.</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300" b="1">
                <a:solidFill>
                  <a:srgbClr val="1E3A8A"/>
                </a:solidFill>
              </a:defRPr>
            </a:pPr>
            <a:r>
              <a:t>Pillar 3 &amp; 4: Speaker Overlap &amp; Noise Limits</a:t>
            </a:r>
          </a:p>
        </p:txBody>
      </p:sp>
      <p:sp>
        <p:nvSpPr>
          <p:cNvPr id="9" name="TextBox 8"/>
          <p:cNvSpPr txBox="1"/>
          <p:nvPr/>
        </p:nvSpPr>
        <p:spPr>
          <a:xfrm>
            <a:off x="6400800" y="2103120"/>
            <a:ext cx="4846320" cy="4023360"/>
          </a:xfrm>
          <a:prstGeom prst="rect">
            <a:avLst/>
          </a:prstGeom>
          <a:noFill/>
        </p:spPr>
        <p:txBody>
          <a:bodyPr wrap="square">
            <a:spAutoFit/>
          </a:bodyPr>
          <a:lstStyle/>
          <a:p>
            <a:pPr>
              <a:defRPr sz="1050">
                <a:solidFill>
                  <a:srgbClr val="0F172A"/>
                </a:solidFill>
              </a:defRPr>
            </a:pPr>
            <a:r>
              <a:t>• Pillar 3: Speaker Identity Confound:</a:t>
            </a:r>
          </a:p>
          <a:p>
            <a:pPr>
              <a:defRPr sz="1050">
                <a:solidFill>
                  <a:srgbClr val="0F172A"/>
                </a:solidFill>
              </a:defRPr>
            </a:pPr>
            <a:r>
              <a:t>  - Random stratified splits allow deep CNNs to map individual speaker vocal tract geometries directly to emotion labels.</a:t>
            </a:r>
          </a:p>
          <a:p>
            <a:pPr>
              <a:defRPr sz="1050">
                <a:solidFill>
                  <a:srgbClr val="0F172A"/>
                </a:solidFill>
              </a:defRPr>
            </a:pPr>
            <a:r>
              <a:t>  - Enforcing strict speaker disjointness drops accuracy by 8.2 to 21.2 percentage points (average -16.5 points) across all corpora.</a:t>
            </a:r>
          </a:p>
          <a:p>
            <a:pPr>
              <a:defRPr sz="1050">
                <a:solidFill>
                  <a:srgbClr val="0F172A"/>
                </a:solidFill>
              </a:defRPr>
            </a:pPr>
            <a:r>
              <a:t>  - The model functions primarily as a speaker recognizer under random splits.</a:t>
            </a:r>
          </a:p>
          <a:p>
            <a:pPr>
              <a:defRPr sz="1050">
                <a:solidFill>
                  <a:srgbClr val="0F172A"/>
                </a:solidFill>
              </a:defRPr>
            </a:pPr>
          </a:p>
          <a:p>
            <a:pPr>
              <a:defRPr sz="1050">
                <a:solidFill>
                  <a:srgbClr val="0F172A"/>
                </a:solidFill>
              </a:defRPr>
            </a:pPr>
            <a:r>
              <a:t>• Pillar 4: Invariance Limits of Acoustic Augmentation:</a:t>
            </a:r>
          </a:p>
          <a:p>
            <a:pPr>
              <a:defRPr sz="1050">
                <a:solidFill>
                  <a:srgbClr val="0F172A"/>
                </a:solidFill>
              </a:defRPr>
            </a:pPr>
            <a:r>
              <a:t>  - Neither Gaussian noise nor pitch shifting, time stretch, or SpecAugment bridge the speaker generalization gap.</a:t>
            </a:r>
          </a:p>
          <a:p>
            <a:pPr>
              <a:defRPr sz="1050">
                <a:solidFill>
                  <a:srgbClr val="0F172A"/>
                </a:solidFill>
              </a:defRPr>
            </a:pPr>
            <a:r>
              <a:t>  - The 1D-CNN architecture lacks the expressive capacity to extract speaker-invariant emotion representations from short clips.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Disclosures: Documented Ambiguities &amp; Study Limitations</a:t>
            </a:r>
          </a:p>
        </p:txBody>
      </p:sp>
      <p:sp>
        <p:nvSpPr>
          <p:cNvPr id="4" name="Rounded Rectangle 3"/>
          <p:cNvSpPr/>
          <p:nvPr/>
        </p:nvSpPr>
        <p:spPr>
          <a:xfrm>
            <a:off x="731520" y="1554480"/>
            <a:ext cx="512064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4754880" cy="457200"/>
          </a:xfrm>
          <a:prstGeom prst="rect">
            <a:avLst/>
          </a:prstGeom>
          <a:noFill/>
        </p:spPr>
        <p:txBody>
          <a:bodyPr wrap="none">
            <a:spAutoFit/>
          </a:bodyPr>
          <a:lstStyle/>
          <a:p>
            <a:pPr>
              <a:defRPr sz="1300" b="1">
                <a:solidFill>
                  <a:srgbClr val="1E3A8A"/>
                </a:solidFill>
              </a:defRPr>
            </a:pPr>
            <a:r>
              <a:t>Published Paper Ambiguities</a:t>
            </a:r>
          </a:p>
        </p:txBody>
      </p:sp>
      <p:sp>
        <p:nvSpPr>
          <p:cNvPr id="6" name="TextBox 5"/>
          <p:cNvSpPr txBox="1"/>
          <p:nvPr/>
        </p:nvSpPr>
        <p:spPr>
          <a:xfrm>
            <a:off x="914400" y="2103120"/>
            <a:ext cx="4754880" cy="4023360"/>
          </a:xfrm>
          <a:prstGeom prst="rect">
            <a:avLst/>
          </a:prstGeom>
          <a:noFill/>
        </p:spPr>
        <p:txBody>
          <a:bodyPr wrap="square">
            <a:spAutoFit/>
          </a:bodyPr>
          <a:lstStyle/>
          <a:p>
            <a:pPr>
              <a:defRPr sz="1050">
                <a:solidFill>
                  <a:srgbClr val="0F172A"/>
                </a:solidFill>
              </a:defRPr>
            </a:pPr>
            <a:r>
              <a:t>• Missing Hyperparameters in Published Text:</a:t>
            </a:r>
          </a:p>
          <a:p>
            <a:pPr>
              <a:defRPr sz="1050">
                <a:solidFill>
                  <a:srgbClr val="0F172A"/>
                </a:solidFill>
              </a:defRPr>
            </a:pPr>
            <a:r>
              <a:t>  1. Input Dimension Construction:</a:t>
            </a:r>
          </a:p>
          <a:p>
            <a:pPr>
              <a:defRPr sz="1050">
                <a:solidFill>
                  <a:srgbClr val="0F172A"/>
                </a:solidFill>
              </a:defRPr>
            </a:pPr>
            <a:r>
              <a:t>     - States '144 feature vectors' but omits frame length, hop size, windowing function, and duration handling.</a:t>
            </a:r>
          </a:p>
          <a:p>
            <a:pPr>
              <a:defRPr sz="1050">
                <a:solidFill>
                  <a:srgbClr val="0F172A"/>
                </a:solidFill>
              </a:defRPr>
            </a:pPr>
            <a:r>
              <a:t>  2. Padding Configuration:</a:t>
            </a:r>
          </a:p>
          <a:p>
            <a:pPr>
              <a:defRPr sz="1050">
                <a:solidFill>
                  <a:srgbClr val="0F172A"/>
                </a:solidFill>
              </a:defRPr>
            </a:pPr>
            <a:r>
              <a:t>     - Uses kernel size 15 across 4 Conv1D layers. Without padding='same', spatial dimensions collapse to negative numbers on 24-dim inputs.</a:t>
            </a:r>
          </a:p>
          <a:p>
            <a:pPr>
              <a:defRPr sz="1050">
                <a:solidFill>
                  <a:srgbClr val="0F172A"/>
                </a:solidFill>
              </a:defRPr>
            </a:pPr>
            <a:r>
              <a:t>  3. Augmentation Timing &amp; Splits:</a:t>
            </a:r>
          </a:p>
          <a:p>
            <a:pPr>
              <a:defRPr sz="1050">
                <a:solidFill>
                  <a:srgbClr val="0F172A"/>
                </a:solidFill>
              </a:defRPr>
            </a:pPr>
            <a:r>
              <a:t>     - Completely silent on whether augmentation occurred before or after train/val/test splitting.</a:t>
            </a:r>
          </a:p>
          <a:p>
            <a:pPr>
              <a:defRPr sz="1050">
                <a:solidFill>
                  <a:srgbClr val="0F172A"/>
                </a:solidFill>
              </a:defRPr>
            </a:pPr>
            <a:r>
              <a:t>  4. Speaker Independence:</a:t>
            </a:r>
          </a:p>
          <a:p>
            <a:pPr>
              <a:defRPr sz="1050">
                <a:solidFill>
                  <a:srgbClr val="0F172A"/>
                </a:solidFill>
              </a:defRPr>
            </a:pPr>
            <a:r>
              <a:t>     - No mention of speaker cross-validation or speaker-disjoint evaluation.</a:t>
            </a:r>
          </a:p>
        </p:txBody>
      </p:sp>
      <p:sp>
        <p:nvSpPr>
          <p:cNvPr id="7" name="Rounded Rectangle 6"/>
          <p:cNvSpPr/>
          <p:nvPr/>
        </p:nvSpPr>
        <p:spPr>
          <a:xfrm>
            <a:off x="6217920" y="1554480"/>
            <a:ext cx="52120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91640"/>
            <a:ext cx="4846320" cy="457200"/>
          </a:xfrm>
          <a:prstGeom prst="rect">
            <a:avLst/>
          </a:prstGeom>
          <a:noFill/>
        </p:spPr>
        <p:txBody>
          <a:bodyPr wrap="none">
            <a:spAutoFit/>
          </a:bodyPr>
          <a:lstStyle/>
          <a:p>
            <a:pPr>
              <a:defRPr sz="1300" b="1">
                <a:solidFill>
                  <a:srgbClr val="1E3A8A"/>
                </a:solidFill>
              </a:defRPr>
            </a:pPr>
            <a:r>
              <a:t>Limitations of Our Reproduction</a:t>
            </a:r>
          </a:p>
        </p:txBody>
      </p:sp>
      <p:sp>
        <p:nvSpPr>
          <p:cNvPr id="9" name="TextBox 8"/>
          <p:cNvSpPr txBox="1"/>
          <p:nvPr/>
        </p:nvSpPr>
        <p:spPr>
          <a:xfrm>
            <a:off x="6400800" y="2103120"/>
            <a:ext cx="4846320" cy="4023360"/>
          </a:xfrm>
          <a:prstGeom prst="rect">
            <a:avLst/>
          </a:prstGeom>
          <a:noFill/>
        </p:spPr>
        <p:txBody>
          <a:bodyPr wrap="square">
            <a:spAutoFit/>
          </a:bodyPr>
          <a:lstStyle/>
          <a:p>
            <a:pPr>
              <a:defRPr sz="1050">
                <a:solidFill>
                  <a:srgbClr val="0F172A"/>
                </a:solidFill>
              </a:defRPr>
            </a:pPr>
            <a:r>
              <a:t>• Honest Disclosures Regarding Our Investigation:</a:t>
            </a:r>
          </a:p>
          <a:p>
            <a:pPr>
              <a:defRPr sz="1050">
                <a:solidFill>
                  <a:srgbClr val="0F172A"/>
                </a:solidFill>
              </a:defRPr>
            </a:pPr>
            <a:r>
              <a:t>  1. Test Set Sample Sizes:</a:t>
            </a:r>
          </a:p>
          <a:p>
            <a:pPr>
              <a:defRPr sz="1050">
                <a:solidFill>
                  <a:srgbClr val="0F172A"/>
                </a:solidFill>
              </a:defRPr>
            </a:pPr>
            <a:r>
              <a:t>     - EmoDB has 535 total clips; 20% test partition contains only 107 clips. Single-fold tests carry statistical uncertainty.</a:t>
            </a:r>
          </a:p>
          <a:p>
            <a:pPr>
              <a:defRPr sz="1050">
                <a:solidFill>
                  <a:srgbClr val="0F172A"/>
                </a:solidFill>
              </a:defRPr>
            </a:pPr>
            <a:r>
              <a:t>  2. Data Mirror Provenance:</a:t>
            </a:r>
          </a:p>
          <a:p>
            <a:pPr>
              <a:defRPr sz="1050">
                <a:solidFill>
                  <a:srgbClr val="0F172A"/>
                </a:solidFill>
              </a:defRPr>
            </a:pPr>
            <a:r>
              <a:t>     - CAFE and MESD were ingested via the open CAMEO HuggingFace mirror; not directly verified against official Zenodo/Mendeley releases.</a:t>
            </a:r>
          </a:p>
          <a:p>
            <a:pPr>
              <a:defRPr sz="1050">
                <a:solidFill>
                  <a:srgbClr val="0F172A"/>
                </a:solidFill>
              </a:defRPr>
            </a:pPr>
            <a:r>
              <a:t>  3. Reverse-Engineered 144-Input Implementations:</a:t>
            </a:r>
          </a:p>
          <a:p>
            <a:pPr>
              <a:defRPr sz="1050">
                <a:solidFill>
                  <a:srgbClr val="0F172A"/>
                </a:solidFill>
              </a:defRPr>
            </a:pPr>
            <a:r>
              <a:t>     - Both frames144 and stats144 are our own reverse-engineered designs, as the authors did not release code or precise framing recipes.</a:t>
            </a:r>
          </a:p>
          <a:p>
            <a:pPr>
              <a:defRPr sz="1050">
                <a:solidFill>
                  <a:srgbClr val="0F172A"/>
                </a:solidFill>
              </a:defRPr>
            </a:pPr>
            <a:r>
              <a:t>  4. Architecture Scope:</a:t>
            </a:r>
          </a:p>
          <a:p>
            <a:pPr>
              <a:defRPr sz="1050">
                <a:solidFill>
                  <a:srgbClr val="0F172A"/>
                </a:solidFill>
              </a:defRPr>
            </a:pPr>
            <a:r>
              <a:t>     - Findings reflect the specified 1D-CNN; modern self-supervised foundation models (e.g., wav2vec 2.0) may behave differently.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10515600" cy="365760"/>
          </a:xfrm>
          <a:prstGeom prst="rect">
            <a:avLst/>
          </a:prstGeom>
          <a:noFill/>
        </p:spPr>
        <p:txBody>
          <a:bodyPr wrap="square">
            <a:spAutoFit/>
          </a:bodyPr>
          <a:lstStyle/>
          <a:p>
            <a:pPr>
              <a:defRPr sz="1000" b="1">
                <a:solidFill>
                  <a:srgbClr val="0E7490"/>
                </a:solidFill>
              </a:defRPr>
            </a:pPr>
            <a:r>
              <a:t>SPEECH EMOTION RECOGNITION • FINAL SYNTHESIS</a:t>
            </a:r>
          </a:p>
        </p:txBody>
      </p:sp>
      <p:sp>
        <p:nvSpPr>
          <p:cNvPr id="3" name="TextBox 2"/>
          <p:cNvSpPr txBox="1"/>
          <p:nvPr/>
        </p:nvSpPr>
        <p:spPr>
          <a:xfrm>
            <a:off x="731520" y="640080"/>
            <a:ext cx="10515600" cy="731520"/>
          </a:xfrm>
          <a:prstGeom prst="rect">
            <a:avLst/>
          </a:prstGeom>
          <a:noFill/>
        </p:spPr>
        <p:txBody>
          <a:bodyPr wrap="square">
            <a:spAutoFit/>
          </a:bodyPr>
          <a:lstStyle/>
          <a:p>
            <a:pPr>
              <a:defRPr sz="2400" b="1">
                <a:solidFill>
                  <a:srgbClr val="1E3A8A"/>
                </a:solidFill>
              </a:defRPr>
            </a:pPr>
            <a:r>
              <a:t>Final Scientific Conclusion &amp; Best Practices for SER</a:t>
            </a:r>
          </a:p>
        </p:txBody>
      </p:sp>
      <p:sp>
        <p:nvSpPr>
          <p:cNvPr id="4" name="Rounded Rectangle 3"/>
          <p:cNvSpPr/>
          <p:nvPr/>
        </p:nvSpPr>
        <p:spPr>
          <a:xfrm>
            <a:off x="731520" y="1554480"/>
            <a:ext cx="10698480" cy="47548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91640"/>
            <a:ext cx="10332720" cy="457200"/>
          </a:xfrm>
          <a:prstGeom prst="rect">
            <a:avLst/>
          </a:prstGeom>
          <a:noFill/>
        </p:spPr>
        <p:txBody>
          <a:bodyPr wrap="none">
            <a:spAutoFit/>
          </a:bodyPr>
          <a:lstStyle/>
          <a:p>
            <a:pPr>
              <a:defRPr sz="1300" b="1">
                <a:solidFill>
                  <a:srgbClr val="1E3A8A"/>
                </a:solidFill>
              </a:defRPr>
            </a:pPr>
            <a:r>
              <a:t>Core Takeaways for Future Speech Emotion Recognition Research</a:t>
            </a:r>
          </a:p>
        </p:txBody>
      </p:sp>
      <p:sp>
        <p:nvSpPr>
          <p:cNvPr id="6" name="TextBox 5"/>
          <p:cNvSpPr txBox="1"/>
          <p:nvPr/>
        </p:nvSpPr>
        <p:spPr>
          <a:xfrm>
            <a:off x="914400" y="2103120"/>
            <a:ext cx="10332720" cy="4023360"/>
          </a:xfrm>
          <a:prstGeom prst="rect">
            <a:avLst/>
          </a:prstGeom>
          <a:noFill/>
        </p:spPr>
        <p:txBody>
          <a:bodyPr wrap="square">
            <a:spAutoFit/>
          </a:bodyPr>
          <a:lstStyle/>
          <a:p>
            <a:pPr>
              <a:defRPr sz="1100">
                <a:solidFill>
                  <a:srgbClr val="0F172A"/>
                </a:solidFill>
              </a:defRPr>
            </a:pPr>
            <a:r>
              <a:t>1. Rejection of the Published Quantitative Claims:</a:t>
            </a:r>
          </a:p>
          <a:p>
            <a:pPr>
              <a:defRPr sz="1100">
                <a:solidFill>
                  <a:srgbClr val="0F172A"/>
                </a:solidFill>
              </a:defRPr>
            </a:pPr>
            <a:r>
              <a:t>   - The paper's claimed peak accuracies (~97% to 99%) were not replicated under our controlled, leak-free implementation.</a:t>
            </a:r>
          </a:p>
          <a:p>
            <a:pPr>
              <a:defRPr sz="1100">
                <a:solidFill>
                  <a:srgbClr val="0F172A"/>
                </a:solidFill>
              </a:defRPr>
            </a:pPr>
            <a:r>
              <a:t>   - Evidence is consistent with the hypothesis that published figures reflect pre-split augmentation leakage and speaker overlap.</a:t>
            </a:r>
          </a:p>
          <a:p>
            <a:pPr>
              <a:defRPr sz="1100">
                <a:solidFill>
                  <a:srgbClr val="0F172A"/>
                </a:solidFill>
              </a:defRPr>
            </a:pPr>
          </a:p>
          <a:p>
            <a:pPr>
              <a:defRPr sz="1100">
                <a:solidFill>
                  <a:srgbClr val="0F172A"/>
                </a:solidFill>
              </a:defRPr>
            </a:pPr>
            <a:r>
              <a:t>2. Genuine Performance Baseline for 1D-CNN SER:</a:t>
            </a:r>
          </a:p>
          <a:p>
            <a:pPr>
              <a:defRPr sz="1100">
                <a:solidFill>
                  <a:srgbClr val="0F172A"/>
                </a:solidFill>
              </a:defRPr>
            </a:pPr>
            <a:r>
              <a:t>   - Under strict leak-free stratified splits, this architecture achieves ~63–72% on EmoDB (40–66% on other corpora).</a:t>
            </a:r>
          </a:p>
          <a:p>
            <a:pPr>
              <a:defRPr sz="1100">
                <a:solidFill>
                  <a:srgbClr val="0F172A"/>
                </a:solidFill>
              </a:defRPr>
            </a:pPr>
            <a:r>
              <a:t>   - Under realistic speaker-independent conditions, performance collapses to ~47–55% on EmoDB and ~31–46% on AESDD and CAFE (2x to 3.5x chance).</a:t>
            </a:r>
          </a:p>
          <a:p>
            <a:pPr>
              <a:defRPr sz="1100">
                <a:solidFill>
                  <a:srgbClr val="0F172A"/>
                </a:solidFill>
              </a:defRPr>
            </a:pPr>
          </a:p>
          <a:p>
            <a:pPr>
              <a:defRPr sz="1100">
                <a:solidFill>
                  <a:srgbClr val="0F172A"/>
                </a:solidFill>
              </a:defRPr>
            </a:pPr>
            <a:r>
              <a:t>3. Three Mandatory Methodological Standards for Speech Classification:</a:t>
            </a:r>
          </a:p>
          <a:p>
            <a:pPr>
              <a:defRPr sz="1100">
                <a:solidFill>
                  <a:srgbClr val="0F172A"/>
                </a:solidFill>
              </a:defRPr>
            </a:pPr>
            <a:r>
              <a:t>   - Mandatory Post-Split Augmentation: Never augment audio before partitioning datasets; test sets must remain 100% clean.</a:t>
            </a:r>
          </a:p>
          <a:p>
            <a:pPr>
              <a:defRPr sz="1100">
                <a:solidFill>
                  <a:srgbClr val="0F172A"/>
                </a:solidFill>
              </a:defRPr>
            </a:pPr>
            <a:r>
              <a:t>   - Mandatory Speaker-Independent Benchmarking: Random splits severely overestimate real-world generalizability by memorizing speaker identities.</a:t>
            </a:r>
          </a:p>
          <a:p>
            <a:pPr>
              <a:defRPr sz="1100">
                <a:solidFill>
                  <a:srgbClr val="0F172A"/>
                </a:solidFill>
              </a:defRPr>
            </a:pPr>
            <a:r>
              <a:t>   - Complete Signal Specification: Academic publications must specify hop size, framing windows, padding, and data splits to enable genuine reproduction.</a:t>
            </a:r>
          </a:p>
          <a:p>
            <a:pPr>
              <a:defRPr sz="1100">
                <a:solidFill>
                  <a:srgbClr val="0F172A"/>
                </a:solidFill>
              </a:defRPr>
            </a:pPr>
          </a:p>
          <a:p>
            <a:pPr>
              <a:defRPr sz="1100">
                <a:solidFill>
                  <a:srgbClr val="0F172A"/>
                </a:solidFill>
              </a:defRPr>
            </a:pPr>
            <a:r>
              <a:t>4. Open Science &amp; Reproduction Artifacts:</a:t>
            </a:r>
          </a:p>
          <a:p>
            <a:pPr>
              <a:defRPr sz="1100">
                <a:solidFill>
                  <a:srgbClr val="0F172A"/>
                </a:solidFill>
              </a:defRPr>
            </a:pPr>
            <a:r>
              <a:t>   - Complete open repository with automated tests, one-command master reproduction pipeline, and 1,000+ logged experiment rows.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