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Welcome to our Week 4 status presentation on reproducing the 2024 Automatika paper on 1D-CNN speech emotion recognition. In Week 3, we reproduced the baseline architecture and proved that augmenting data before the train/test split creates massive data leakage, artificially inflating accuracy by 15-20%. However, our leak-free baseline on EmoDB was still 15-20% below the paper's reported numbers. Today, our team addresses three critical Week 4 questions: First, does changing the feature representation to match the paper's 144-input layer bridge that gap? Second, do these models and augmentation effects replicate across three additional international speech corpora: CAFE, AESDD, and MESD? And third, what happens when we test the models on speakers they have never heard before?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put our Week 4 work in context: last week we demonstrated that the paper's reported 97.2% accuracy is heavily inflated if audio augmentation is applied before data partitioning. However, even our clean, unaugmented baseline reached only 71%, whereas the paper claims 86.9% without augmentation. This proved that data leakage was only part of the story. Week 4 is designed to systematically track down the remaining discrepancy: examining whether the model expects 144 temporal frames, whether the results hold on larger international datasets, and whether performance collapses when evaluated across unseen speakers.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To support these experiments, we upgraded our codebase into a unified multi-corpus pipeline. The data loader automatically harmonizes audio across four languages into 16 kHz mono streams, extracts both baseline and 144-input representations, and handles class mappings for 5, 6, and 7 emotions. Crucially, we maintained 100% leak-free integrity: normalizers are fitted exclusively on training audio, and we introduced a strict speaker-disjoint splitting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Slide 4 breaks down the biggest mystery from Week 3: the paper says the input layer receives '144 feature vectors'. In Week 3, we used pooled mean and standard deviation vectors of length 24, 48, and 60. Looking closely at the architecture, applying a 1D convolution with kernel size 15 across a 24-element vector covers over 60% of the entire vector in one step. But on a temporal sequence of 144 time frames, kernel 15 corresponds to roughly 240 milliseconds of speech—a standard phoneme-length receptive field. Therefore, we implemented two rigorous alternatives: frames144, which preserves the temporal sequence of 144 frames, and stats144, which expands summary statistics to 144 dimensions using velocity and acceleration deltas.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The empirical results on Task 1 are decisive. When we feed a temporal sequence of 144 frames into the 1D-CNN, performance does not rise toward the paper's 87%—it drops by 8 to 15 percentage points down to 54-56%. Because the model has to learn temporal emotional dynamics from only 321 training clips without recurrent or attention layers, it simply memorizes the training clips, hitting 100% training accuracy almost immediately. The simple pooled mean and standard deviation vectors from Week 3 actually act as strong feature-level regularizers. This confirms that the input format does not explain the performance gap with the published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Turning to Task 2: To evaluate whether our findings are specific to German speech in EmoDB, we expanded our testing to three additional international benchmarks. CAFE provides 936 French recordings from 12 professional actors. AESDD provides 500 Greek recordings with 5 emotions, perfectly balanced across actors and sentences. MESD provides 862 Mexican Spanish recordings across adult and child speakers. All four datasets were preprocessed using the exact same signal processing pipeline, and evaluated across seeds 42, 43, and 44.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Slide 7 shows the cross-corpus comparison. First, dataset difficulty varies significantly: Greek AESDD achieves the highest accuracy around 70% because it has only 5 distinct emotions and expressive actors. Spanish MESD is the most challenging at 40-48% because single words provide very little acoustic prosody compared to full sentences. Most importantly, the effect of Gaussian noise augmentation is consistently modest across all languages: test accuracy changes by only negative 1% to positive 3%. The paper's dramatic 10 percentage point increase cannot be reproduced on any of the four benchmarks under leak-free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In Task 3, we implemented the strictest evaluation protocol in speech emotion recognition: speaker-independent evaluation. In standard stratified splits, audio clips from the same actor appear in both train and test. Because deep neural networks are remarkably adept at picking up acoustic biometric signatures—like vocal tract length and fundamental frequency—they often learn to identify the actor rather than the emotion. We partitioned EmoDB, CAFE, and AESDD so that no speaker in the test set ever appeared in the training or validation sets, and verified zero speaker overlap with automated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The results on Slide 9 are the most telling finding of our reproduction study so far. When we evaluate on unseen speakers, test accuracy plummets by 15 to 25 percentage points across every single dataset. On EmoDB, accuracy drops from 70% down to roughly 50%. On AESDD, it drops from 72% to around 50%. This proves quantitatively that deep 1D-CNN models trained on small corpora rely heavily on memorizing speaker-specific vocal tract characteristics. Furthermore, adding Gaussian noise does almost nothing to help the model generalize to unseen speakers, because noise does not alter the fundamental speaker identity.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synthesize our findings: First, the 144-input format does not close the gap; in fact, temporal framing makes overfitting worse. Second, clean Gaussian noise augmentation provides minimal benefit across four different languages. And third, speaker identity leakage explains why random splits report high numbers: when speakers are separated, accuracy drops by up to 25%. Our reproduction study demonstrates that the published 97.2% figure relies on methodological flaws—specifically pre-split augmentation and speaker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On Slide 11, we explicitly document the ambiguities in the published paper. The paper omits critical hyperparameters: audio framing, padding strategy, and crucially, the timing of data augmentation relative to splitting. In our work, we have strictly adhered to academic reproducibility standards: zero data snooping, scalers fitted exclusively on training splits, models selected on validation accuracy, and all results logged across three random seeds.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Looking ahead to Week 5: Now that we have established rigorous, leak-free baselines across four languages, we will explore methods to genuinely improve generalization. This includes testing real acoustic augmentations like SpecAugment, pitch shifting, and time stretching, which directly simulate speaker diversity, rather than simple additive noise. We will also prepare our final synthesis report, providing clear methodological recommendations for future speech emotion recognition research.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All Team Members</a:t>
            </a:r>
          </a:p>
          <a:p/>
          <a:p>
            <a:r>
              <a:t>SPEAKER NOTES:</a:t>
            </a:r>
          </a:p>
          <a:p>
            <a:r>
              <a:t>Backup slide: Provides the exact parameter counts and layer configurations across both the baseline global pooling model and the 144-frame temporal model. Notice that frames144 almost doubles parameter count from 65k to 104k because of the larger flatten layer, which directly contributed to the rapid memorization and overfitting observed in Task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914400" y="1645920"/>
            <a:ext cx="10332720" cy="2011680"/>
          </a:xfrm>
          <a:prstGeom prst="rect">
            <a:avLst/>
          </a:prstGeom>
          <a:noFill/>
        </p:spPr>
        <p:txBody>
          <a:bodyPr wrap="square">
            <a:spAutoFit/>
          </a:bodyPr>
          <a:lstStyle/>
          <a:p>
            <a:pPr>
              <a:spcAft>
                <a:spcPts val="1200"/>
              </a:spcAft>
              <a:defRPr sz="1200" b="1">
                <a:solidFill>
                  <a:srgbClr val="0E7490"/>
                </a:solidFill>
              </a:defRPr>
            </a:pPr>
            <a:r>
              <a:t>SPEECH EMOTION RECOGNITION • WEEK 4 STATUS</a:t>
            </a:r>
          </a:p>
          <a:p>
            <a:pPr>
              <a:spcAft>
                <a:spcPts val="1600"/>
              </a:spcAft>
              <a:defRPr sz="2800" b="1">
                <a:solidFill>
                  <a:srgbClr val="1E3A8A"/>
                </a:solidFill>
              </a:defRPr>
            </a:pPr>
            <a:r>
              <a:t>Cross-Corpus Generalization, Input Representations,</a:t>
            </a:r>
            <a:br/>
            <a:r>
              <a:t>and Speaker Independence in 1D-CNN SER</a:t>
            </a:r>
          </a:p>
          <a:p>
            <a:pPr>
              <a:defRPr sz="1400">
                <a:solidFill>
                  <a:srgbClr val="475569"/>
                </a:solidFill>
              </a:defRPr>
            </a:pPr>
            <a:r>
              <a:t>Independent Reproduction of Thomas Mary Little Flower et al. (Automatika, 2024)</a:t>
            </a:r>
            <a:br/>
            <a:r>
              <a:t>Investigating the 144-Input Gap, CAFE/AESDD/MESD Datasets, and Speaker-Disjoint Splits</a:t>
            </a:r>
          </a:p>
        </p:txBody>
      </p:sp>
      <p:sp>
        <p:nvSpPr>
          <p:cNvPr id="3" name="Rounded Rectangle 2"/>
          <p:cNvSpPr/>
          <p:nvPr/>
        </p:nvSpPr>
        <p:spPr>
          <a:xfrm>
            <a:off x="914400" y="4114800"/>
            <a:ext cx="10332720" cy="1645920"/>
          </a:xfrm>
          <a:prstGeom prst="roundRect">
            <a:avLst/>
          </a:prstGeom>
          <a:solidFill>
            <a:srgbClr val="EEF2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4206240"/>
            <a:ext cx="9966960" cy="1371600"/>
          </a:xfrm>
          <a:prstGeom prst="rect">
            <a:avLst/>
          </a:prstGeom>
          <a:noFill/>
        </p:spPr>
        <p:txBody>
          <a:bodyPr wrap="square">
            <a:spAutoFit/>
          </a:bodyPr>
          <a:lstStyle/>
          <a:p>
            <a:pPr>
              <a:spcAft>
                <a:spcPts val="600"/>
              </a:spcAft>
              <a:defRPr sz="1100" b="1">
                <a:solidFill>
                  <a:srgbClr val="1E3A8A"/>
                </a:solidFill>
              </a:defRPr>
            </a:pPr>
            <a:r>
              <a:t>RESEARCH TEAM &amp; ROLES</a:t>
            </a:r>
          </a:p>
          <a:p>
            <a:pPr>
              <a:defRPr sz="1100">
                <a:solidFill>
                  <a:srgbClr val="0F172A"/>
                </a:solidFill>
              </a:defRPr>
            </a:pPr>
            <a:r>
              <a:t>• Person 1 (Model Lead): 144-input temporal sequence modeling vs. statistical aggregation</a:t>
            </a:r>
            <a:br/>
            <a:r>
              <a:t>• Person 2 (Augmentation Lead): Cross-corpus additive Gaussian noise and leak-free scaling</a:t>
            </a:r>
            <a:br/>
            <a:r>
              <a:t>• Person 3 (Training &amp; Pipeline Lead): Multi-corpus audio normalization, caching, and reproducibility</a:t>
            </a:r>
            <a:br/>
            <a:r>
              <a:t>• Person 4 (Evaluation Lead): Speaker-independent partitioning and generalization drop quantification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Context &amp; Starting Point: The Week 3 Baseline</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Week 3 Empirical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Complete Baseline Reproduction:</a:t>
            </a:r>
          </a:p>
          <a:p>
            <a:pPr>
              <a:defRPr sz="1100">
                <a:solidFill>
                  <a:srgbClr val="0F172A"/>
                </a:solidFill>
              </a:defRPr>
            </a:pPr>
            <a:r>
              <a:t>  - EmoDB (535 clips, 7 emotions), 1D-CNN with 4 Conv blocks.</a:t>
            </a:r>
          </a:p>
          <a:p>
            <a:pPr>
              <a:defRPr sz="1100">
                <a:solidFill>
                  <a:srgbClr val="0F172A"/>
                </a:solidFill>
              </a:defRPr>
            </a:pPr>
            <a:r>
              <a:t>  - Evaluated MFCC and MFMC at 12, 24, 30 coefficients (mean + std over time: 24, 48, 60 values).</a:t>
            </a:r>
          </a:p>
          <a:p>
            <a:pPr>
              <a:defRPr sz="1100">
                <a:solidFill>
                  <a:srgbClr val="0F172A"/>
                </a:solidFill>
              </a:defRPr>
            </a:pPr>
          </a:p>
          <a:p>
            <a:pPr>
              <a:defRPr sz="1100">
                <a:solidFill>
                  <a:srgbClr val="0F172A"/>
                </a:solidFill>
              </a:defRPr>
            </a:pPr>
            <a:r>
              <a:t>• The Leakage Discovery:</a:t>
            </a:r>
          </a:p>
          <a:p>
            <a:pPr>
              <a:defRPr sz="1100">
                <a:solidFill>
                  <a:srgbClr val="0F172A"/>
                </a:solidFill>
              </a:defRPr>
            </a:pPr>
            <a:r>
              <a:t>  - Augmenting before splitting (Version B) leaked 98.5% of source clips into training, yielding 80–89% accuracy.</a:t>
            </a:r>
          </a:p>
          <a:p>
            <a:pPr>
              <a:defRPr sz="1100">
                <a:solidFill>
                  <a:srgbClr val="0F172A"/>
                </a:solidFill>
              </a:defRPr>
            </a:pPr>
            <a:r>
              <a:t>  - Clean augmentation after splitting (Version A) yielded 64–72% accuracy.</a:t>
            </a:r>
          </a:p>
          <a:p>
            <a:pPr>
              <a:defRPr sz="1100">
                <a:solidFill>
                  <a:srgbClr val="0F172A"/>
                </a:solidFill>
              </a:defRPr>
            </a:pPr>
          </a:p>
          <a:p>
            <a:pPr>
              <a:defRPr sz="1100">
                <a:solidFill>
                  <a:srgbClr val="0F172A"/>
                </a:solidFill>
              </a:defRPr>
            </a:pPr>
            <a:r>
              <a:t>• The Persistent Gap:</a:t>
            </a:r>
          </a:p>
          <a:p>
            <a:pPr>
              <a:defRPr sz="1100">
                <a:solidFill>
                  <a:srgbClr val="0F172A"/>
                </a:solidFill>
              </a:defRPr>
            </a:pPr>
            <a:r>
              <a:t>  - Paper reports 86.9% without augmentation and 97.2% with augmentation.</a:t>
            </a:r>
          </a:p>
          <a:p>
            <a:pPr>
              <a:defRPr sz="1100">
                <a:solidFill>
                  <a:srgbClr val="0F172A"/>
                </a:solidFill>
              </a:defRPr>
            </a:pPr>
            <a:r>
              <a:t>  - Even without augmentation, our baseline (64–71%) lagged the paper by ~16–22%.</a:t>
            </a:r>
          </a:p>
          <a:p>
            <a:pPr>
              <a:defRPr sz="1100">
                <a:solidFill>
                  <a:srgbClr val="0F172A"/>
                </a:solidFill>
              </a:defRPr>
            </a:pPr>
            <a:r>
              <a:t>  - Leakage alone could not explain the entire performance discrepancy.</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Week 4 Research Mandates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1. Task 1: Investigate the 144-Input Format</a:t>
            </a:r>
          </a:p>
          <a:p>
            <a:pPr>
              <a:defRPr sz="1100">
                <a:solidFill>
                  <a:srgbClr val="0F172A"/>
                </a:solidFill>
              </a:defRPr>
            </a:pPr>
            <a:r>
              <a:t>   - The paper's CNN specifies 144 inputs; Week 3 used 24/48/60.</a:t>
            </a:r>
          </a:p>
          <a:p>
            <a:pPr>
              <a:defRPr sz="1100">
                <a:solidFill>
                  <a:srgbClr val="0F172A"/>
                </a:solidFill>
              </a:defRPr>
            </a:pPr>
            <a:r>
              <a:t>   - Formulate grounded hypotheses from the text, implement top interpretations, and test if 144 inputs closes the gap.</a:t>
            </a:r>
          </a:p>
          <a:p>
            <a:pPr>
              <a:defRPr sz="1100">
                <a:solidFill>
                  <a:srgbClr val="0F172A"/>
                </a:solidFill>
              </a:defRPr>
            </a:pPr>
          </a:p>
          <a:p>
            <a:pPr>
              <a:defRPr sz="1100">
                <a:solidFill>
                  <a:srgbClr val="0F172A"/>
                </a:solidFill>
              </a:defRPr>
            </a:pPr>
            <a:r>
              <a:t>2. Task 2: Cross-Corpus Evaluation</a:t>
            </a:r>
          </a:p>
          <a:p>
            <a:pPr>
              <a:defRPr sz="1100">
                <a:solidFill>
                  <a:srgbClr val="0F172A"/>
                </a:solidFill>
              </a:defRPr>
            </a:pPr>
            <a:r>
              <a:t>   - Extend evaluation beyond German EmoDB to CAFE (French), AESDD (Greek), and MESD (Spanish).</a:t>
            </a:r>
          </a:p>
          <a:p>
            <a:pPr>
              <a:defRPr sz="1100">
                <a:solidFill>
                  <a:srgbClr val="0F172A"/>
                </a:solidFill>
              </a:defRPr>
            </a:pPr>
            <a:r>
              <a:t>   - Verify whether feature representations and Gaussian augmentation behave consistently across languages.</a:t>
            </a:r>
          </a:p>
          <a:p>
            <a:pPr>
              <a:defRPr sz="1100">
                <a:solidFill>
                  <a:srgbClr val="0F172A"/>
                </a:solidFill>
              </a:defRPr>
            </a:pPr>
          </a:p>
          <a:p>
            <a:pPr>
              <a:defRPr sz="1100">
                <a:solidFill>
                  <a:srgbClr val="0F172A"/>
                </a:solidFill>
              </a:defRPr>
            </a:pPr>
            <a:r>
              <a:t>3. Task 3: Speaker-Independent Splits</a:t>
            </a:r>
          </a:p>
          <a:p>
            <a:pPr>
              <a:defRPr sz="1100">
                <a:solidFill>
                  <a:srgbClr val="0F172A"/>
                </a:solidFill>
              </a:defRPr>
            </a:pPr>
            <a:r>
              <a:t>   - Traditional stratified splits allow the model to memorize speaker vocal tract traits.</a:t>
            </a:r>
          </a:p>
          <a:p>
            <a:pPr>
              <a:defRPr sz="1100">
                <a:solidFill>
                  <a:srgbClr val="0F172A"/>
                </a:solidFill>
              </a:defRPr>
            </a:pPr>
            <a:r>
              <a:t>   - Partition datasets by speaker ID so test speakers are completely unseen.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Pipeline Architecture &amp; Week 4 Additions</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Multi-Corpus Loader</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Unified Data Engine:</a:t>
            </a:r>
          </a:p>
          <a:p>
            <a:pPr>
              <a:defRPr sz="1100">
                <a:solidFill>
                  <a:srgbClr val="0F172A"/>
                </a:solidFill>
              </a:defRPr>
            </a:pPr>
            <a:r>
              <a:t>  - Ingestion for 4 datasets (EmoDB, CAFE, AESDD, MESD).</a:t>
            </a:r>
          </a:p>
          <a:p>
            <a:pPr>
              <a:defRPr sz="1100">
                <a:solidFill>
                  <a:srgbClr val="0F172A"/>
                </a:solidFill>
              </a:defRPr>
            </a:pPr>
            <a:r>
              <a:t>  - Resampling to 16 kHz mono.</a:t>
            </a:r>
          </a:p>
          <a:p>
            <a:pPr>
              <a:defRPr sz="1100">
                <a:solidFill>
                  <a:srgbClr val="0F172A"/>
                </a:solidFill>
              </a:defRPr>
            </a:pPr>
            <a:r>
              <a:t>  - Metadata tables logging emotion, speaker, language, duration.</a:t>
            </a:r>
          </a:p>
          <a:p>
            <a:pPr>
              <a:defRPr sz="1100">
                <a:solidFill>
                  <a:srgbClr val="0F172A"/>
                </a:solidFill>
              </a:defRPr>
            </a:pPr>
          </a:p>
          <a:p>
            <a:pPr>
              <a:defRPr sz="1100">
                <a:solidFill>
                  <a:srgbClr val="0F172A"/>
                </a:solidFill>
              </a:defRPr>
            </a:pPr>
            <a:r>
              <a:t>• Quality &amp; Sanity:</a:t>
            </a:r>
          </a:p>
          <a:p>
            <a:pPr>
              <a:defRPr sz="1100">
                <a:solidFill>
                  <a:srgbClr val="0F172A"/>
                </a:solidFill>
              </a:defRPr>
            </a:pPr>
            <a:r>
              <a:t>  - Verified zero corrupt files (filtered corrupted 36-byte AESDD sample).</a:t>
            </a:r>
          </a:p>
          <a:p>
            <a:pPr>
              <a:defRPr sz="1100">
                <a:solidFill>
                  <a:srgbClr val="0F172A"/>
                </a:solidFill>
              </a:defRPr>
            </a:pPr>
            <a:r>
              <a:t>  - Verified zero NaNs/Infs.</a:t>
            </a:r>
          </a:p>
          <a:p>
            <a:pPr>
              <a:defRPr sz="1100">
                <a:solidFill>
                  <a:srgbClr val="0F172A"/>
                </a:solidFill>
              </a:defRPr>
            </a:pPr>
            <a:r>
              <a:t>  - Standardized label encoding (5, 6, 7 classes).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144-Input Implementations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Representation Options:</a:t>
            </a:r>
          </a:p>
          <a:p>
            <a:pPr>
              <a:defRPr sz="1100">
                <a:solidFill>
                  <a:srgbClr val="0F172A"/>
                </a:solidFill>
              </a:defRPr>
            </a:pPr>
            <a:r>
              <a:t>  - Baseline: (24, 48, 60, 1) pooled mean + std.</a:t>
            </a:r>
          </a:p>
          <a:p>
            <a:pPr>
              <a:defRPr sz="1100">
                <a:solidFill>
                  <a:srgbClr val="0F172A"/>
                </a:solidFill>
              </a:defRPr>
            </a:pPr>
            <a:r>
              <a:t>  - frames144: (144, n_coeff) temporal STFT sequence.</a:t>
            </a:r>
          </a:p>
          <a:p>
            <a:pPr>
              <a:defRPr sz="1100">
                <a:solidFill>
                  <a:srgbClr val="0F172A"/>
                </a:solidFill>
              </a:defRPr>
            </a:pPr>
            <a:r>
              <a:t>  - stats144: (144, 1) multi-stream static + delta + delta-delta vector.</a:t>
            </a:r>
          </a:p>
          <a:p>
            <a:pPr>
              <a:defRPr sz="1100">
                <a:solidFill>
                  <a:srgbClr val="0F172A"/>
                </a:solidFill>
              </a:defRPr>
            </a:pPr>
          </a:p>
          <a:p>
            <a:pPr>
              <a:defRPr sz="1100">
                <a:solidFill>
                  <a:srgbClr val="0F172A"/>
                </a:solidFill>
              </a:defRPr>
            </a:pPr>
            <a:r>
              <a:t>• Conv1D Adaptations:</a:t>
            </a:r>
          </a:p>
          <a:p>
            <a:pPr>
              <a:defRPr sz="1100">
                <a:solidFill>
                  <a:srgbClr val="0F172A"/>
                </a:solidFill>
              </a:defRPr>
            </a:pPr>
            <a:r>
              <a:t>  - Flexible input shape (144, C) or (D, 1).</a:t>
            </a:r>
          </a:p>
          <a:p>
            <a:pPr>
              <a:defRPr sz="1100">
                <a:solidFill>
                  <a:srgbClr val="0F172A"/>
                </a:solidFill>
              </a:defRPr>
            </a:pPr>
            <a:r>
              <a:t>  - Kernel size 15 across temporal frames spans ~240 ms context.</a:t>
            </a:r>
          </a:p>
          <a:p>
            <a:pPr>
              <a:defRPr sz="1100">
                <a:solidFill>
                  <a:srgbClr val="0F172A"/>
                </a:solidFill>
              </a:defRPr>
            </a:pPr>
            <a:r>
              <a:t>  - Same padding preserves temporal tracking.</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Leak-Free Guardrails</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Zero-Leakage Splitting:</a:t>
            </a:r>
          </a:p>
          <a:p>
            <a:pPr>
              <a:defRPr sz="1100">
                <a:solidFill>
                  <a:srgbClr val="0F172A"/>
                </a:solidFill>
              </a:defRPr>
            </a:pPr>
            <a:r>
              <a:t>  - Stratified 60/20/20.</a:t>
            </a:r>
          </a:p>
          <a:p>
            <a:pPr>
              <a:defRPr sz="1100">
                <a:solidFill>
                  <a:srgbClr val="0F172A"/>
                </a:solidFill>
              </a:defRPr>
            </a:pPr>
            <a:r>
              <a:t>  - Speaker-Independent: GroupKFold ensuring 0% speaker overlap.</a:t>
            </a:r>
          </a:p>
          <a:p>
            <a:pPr>
              <a:defRPr sz="1100">
                <a:solidFill>
                  <a:srgbClr val="0F172A"/>
                </a:solidFill>
              </a:defRPr>
            </a:pPr>
          </a:p>
          <a:p>
            <a:pPr>
              <a:defRPr sz="1100">
                <a:solidFill>
                  <a:srgbClr val="0F172A"/>
                </a:solidFill>
              </a:defRPr>
            </a:pPr>
            <a:r>
              <a:t>• Proper Preprocessing:</a:t>
            </a:r>
          </a:p>
          <a:p>
            <a:pPr>
              <a:defRPr sz="1100">
                <a:solidFill>
                  <a:srgbClr val="0F172A"/>
                </a:solidFill>
              </a:defRPr>
            </a:pPr>
            <a:r>
              <a:t>  - StandardScaler fitted ONLY on training split.</a:t>
            </a:r>
          </a:p>
          <a:p>
            <a:pPr>
              <a:defRPr sz="1100">
                <a:solidFill>
                  <a:srgbClr val="0F172A"/>
                </a:solidFill>
              </a:defRPr>
            </a:pPr>
            <a:r>
              <a:t>  - Augmentation applied ONLY to training audio.</a:t>
            </a:r>
          </a:p>
          <a:p>
            <a:pPr>
              <a:defRPr sz="1100">
                <a:solidFill>
                  <a:srgbClr val="0F172A"/>
                </a:solidFill>
              </a:defRPr>
            </a:pPr>
            <a:r>
              <a:t>  - Val and test sets remain clean original clips.</a:t>
            </a:r>
          </a:p>
          <a:p>
            <a:pPr>
              <a:defRPr sz="1100">
                <a:solidFill>
                  <a:srgbClr val="0F172A"/>
                </a:solidFill>
              </a:defRPr>
            </a:pPr>
            <a:r>
              <a:t>  - Single-pass test evaluation on frozen checkpoint.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Dissecting the 144-Input Representation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Paper Textual Evidence &amp;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Exact Paper Phrasing:</a:t>
            </a:r>
          </a:p>
          <a:p>
            <a:pPr>
              <a:defRPr sz="1100">
                <a:solidFill>
                  <a:srgbClr val="0F172A"/>
                </a:solidFill>
              </a:defRPr>
            </a:pPr>
            <a:r>
              <a:t>  'One hundred forty-four feature vectors as input data for our CNN\'s first layer.'</a:t>
            </a:r>
          </a:p>
          <a:p>
            <a:pPr>
              <a:defRPr sz="1100">
                <a:solidFill>
                  <a:srgbClr val="0F172A"/>
                </a:solidFill>
              </a:defRPr>
            </a:pPr>
          </a:p>
          <a:p>
            <a:pPr>
              <a:defRPr sz="1100">
                <a:solidFill>
                  <a:srgbClr val="0F172A"/>
                </a:solidFill>
              </a:defRPr>
            </a:pPr>
            <a:r>
              <a:t>• Key Observations &amp; Ambiguities:</a:t>
            </a:r>
          </a:p>
          <a:p>
            <a:pPr>
              <a:defRPr sz="1100">
                <a:solidFill>
                  <a:srgbClr val="0F172A"/>
                </a:solidFill>
              </a:defRPr>
            </a:pPr>
            <a:r>
              <a:t>  1. The authors use the plural 'feature vectors', implying a 2D matrix (T frames x C channels) rather than a single 1D vector.</a:t>
            </a:r>
          </a:p>
          <a:p>
            <a:pPr>
              <a:defRPr sz="1100">
                <a:solidFill>
                  <a:srgbClr val="0F172A"/>
                </a:solidFill>
              </a:defRPr>
            </a:pPr>
            <a:r>
              <a:t>  2. In speech processing, Conv1D with kernel size 15 makes physical sense along the time dimension (spanning ~240 ms of speech), whereas across a 24-element global summary vector, kernel 15 covers 62.5% of the entire representation in a single hop!</a:t>
            </a:r>
          </a:p>
          <a:p>
            <a:pPr>
              <a:defRPr sz="1100">
                <a:solidFill>
                  <a:srgbClr val="0F172A"/>
                </a:solidFill>
              </a:defRPr>
            </a:pPr>
            <a:r>
              <a:t>  3. However, the paper never specifies the audio clip duration, STFT hop size, or framing required to yield exactly 144 frames.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Two Grounded Interpretations Implemented</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Interpretation 1: 'frames144' (Temporal Sequence)</a:t>
            </a:r>
          </a:p>
          <a:p>
            <a:pPr>
              <a:defRPr sz="1100">
                <a:solidFill>
                  <a:srgbClr val="0F172A"/>
                </a:solidFill>
              </a:defRPr>
            </a:pPr>
            <a:r>
              <a:t>  - Representation: Matrix of shape (144, n_coeff).</a:t>
            </a:r>
          </a:p>
          <a:p>
            <a:pPr>
              <a:defRPr sz="1100">
                <a:solidFill>
                  <a:srgbClr val="0F172A"/>
                </a:solidFill>
              </a:defRPr>
            </a:pPr>
            <a:r>
              <a:t>  - Construction: Audio fixed to 2.3 seconds (or center-cropped/padded) at 16 kHz with hop length 256 samples (16 ms) -&gt; exactly 144 frames.</a:t>
            </a:r>
          </a:p>
          <a:p>
            <a:pPr>
              <a:defRPr sz="1100">
                <a:solidFill>
                  <a:srgbClr val="0F172A"/>
                </a:solidFill>
              </a:defRPr>
            </a:pPr>
            <a:r>
              <a:t>  - Conv1D slides over time; 4 pooling layers reduce time: 144 -&gt; 72 -&gt; 36 -&gt; 18 -&gt; 9. Flatten layer yields 9 x 64 = 576 units into Dense(120).</a:t>
            </a:r>
          </a:p>
          <a:p>
            <a:pPr>
              <a:defRPr sz="1100">
                <a:solidFill>
                  <a:srgbClr val="0F172A"/>
                </a:solidFill>
              </a:defRPr>
            </a:pPr>
          </a:p>
          <a:p>
            <a:pPr>
              <a:defRPr sz="1100">
                <a:solidFill>
                  <a:srgbClr val="0F172A"/>
                </a:solidFill>
              </a:defRPr>
            </a:pPr>
            <a:r>
              <a:t>• Interpretation 2: 'stats144' (Multi-Stream Statistics)</a:t>
            </a:r>
          </a:p>
          <a:p>
            <a:pPr>
              <a:defRPr sz="1100">
                <a:solidFill>
                  <a:srgbClr val="0F172A"/>
                </a:solidFill>
              </a:defRPr>
            </a:pPr>
            <a:r>
              <a:t>  - Representation: 1D vector of shape (144, 1).</a:t>
            </a:r>
          </a:p>
          <a:p>
            <a:pPr>
              <a:defRPr sz="1100">
                <a:solidFill>
                  <a:srgbClr val="0F172A"/>
                </a:solidFill>
              </a:defRPr>
            </a:pPr>
            <a:r>
              <a:t>  - Construction: Static + Delta + Delta-Delta trajectories across coefficients, summarized via statistical moments (mean, std, min, max).</a:t>
            </a:r>
          </a:p>
          <a:p>
            <a:pPr>
              <a:defRPr sz="1100">
                <a:solidFill>
                  <a:srgbClr val="0F172A"/>
                </a:solidFill>
              </a:defRPr>
            </a:pPr>
            <a:r>
              <a:t>  - For 24 coeffs: 24 x 3 streams x 2 stats = 144 features.</a:t>
            </a:r>
          </a:p>
          <a:p>
            <a:pPr>
              <a:defRPr sz="1100">
                <a:solidFill>
                  <a:srgbClr val="0F172A"/>
                </a:solidFill>
              </a:defRPr>
            </a:pPr>
            <a:r>
              <a:t>  - For 12 coeffs: 12 x 3 streams x 4 stats = 144 features.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Results: Does 144 Inputs Bridge the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Empirical Findings on EmoDB</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Does 144 Inputs Close the Gap? NO.</a:t>
            </a:r>
          </a:p>
          <a:p>
            <a:pPr>
              <a:defRPr sz="1100">
                <a:solidFill>
                  <a:srgbClr val="0F172A"/>
                </a:solidFill>
              </a:defRPr>
            </a:pPr>
            <a:r>
              <a:t>  - In fact, the temporal frames144 format performs significantly WORSE than our 24/48/60 baseline.</a:t>
            </a:r>
          </a:p>
          <a:p>
            <a:pPr>
              <a:defRPr sz="1100">
                <a:solidFill>
                  <a:srgbClr val="0F172A"/>
                </a:solidFill>
              </a:defRPr>
            </a:pPr>
          </a:p>
          <a:p>
            <a:pPr>
              <a:defRPr sz="1100">
                <a:solidFill>
                  <a:srgbClr val="0F172A"/>
                </a:solidFill>
              </a:defRPr>
            </a:pPr>
            <a:r>
              <a:t>• Quantitative Comparison (MFCC, None, Stratified):</a:t>
            </a:r>
          </a:p>
          <a:p>
            <a:pPr>
              <a:defRPr sz="1100">
                <a:solidFill>
                  <a:srgbClr val="0F172A"/>
                </a:solidFill>
              </a:defRPr>
            </a:pPr>
            <a:r>
              <a:t>  - 12 Coeffs Baseline (24-dim): 64.2% ± 4.4%</a:t>
            </a:r>
          </a:p>
          <a:p>
            <a:pPr>
              <a:defRPr sz="1100">
                <a:solidFill>
                  <a:srgbClr val="0F172A"/>
                </a:solidFill>
              </a:defRPr>
            </a:pPr>
            <a:r>
              <a:t>  - 12 Coeffs frames144 (144x12): 56.4% ± 2.0% (Drop: -7.8%)</a:t>
            </a:r>
          </a:p>
          <a:p>
            <a:pPr>
              <a:defRPr sz="1100">
                <a:solidFill>
                  <a:srgbClr val="0F172A"/>
                </a:solidFill>
              </a:defRPr>
            </a:pPr>
            <a:r>
              <a:t>  - 24 Coeffs Baseline (48-dim): 70.1% ± 3.8%</a:t>
            </a:r>
          </a:p>
          <a:p>
            <a:pPr>
              <a:defRPr sz="1100">
                <a:solidFill>
                  <a:srgbClr val="0F172A"/>
                </a:solidFill>
              </a:defRPr>
            </a:pPr>
            <a:r>
              <a:t>  - 24 Coeffs frames144 (144x24): 54.8% ± 5.2% (Drop: -15.3%)</a:t>
            </a:r>
          </a:p>
          <a:p>
            <a:pPr>
              <a:defRPr sz="1100">
                <a:solidFill>
                  <a:srgbClr val="0F172A"/>
                </a:solidFill>
              </a:defRPr>
            </a:pPr>
          </a:p>
          <a:p>
            <a:pPr>
              <a:defRPr sz="1100">
                <a:solidFill>
                  <a:srgbClr val="0F172A"/>
                </a:solidFill>
              </a:defRPr>
            </a:pPr>
            <a:r>
              <a:t>• Why Does frames144 Degrade Performance?</a:t>
            </a:r>
          </a:p>
          <a:p>
            <a:pPr>
              <a:defRPr sz="1100">
                <a:solidFill>
                  <a:srgbClr val="0F172A"/>
                </a:solidFill>
              </a:defRPr>
            </a:pPr>
            <a:r>
              <a:t>  - Severe Overfitting: Without global pooling, the model has 576 units feeding into Dense(120).</a:t>
            </a:r>
          </a:p>
          <a:p>
            <a:pPr>
              <a:defRPr sz="1100">
                <a:solidFill>
                  <a:srgbClr val="0F172A"/>
                </a:solidFill>
              </a:defRPr>
            </a:pPr>
            <a:r>
              <a:t>  - On small datasets (321 training clips), Conv1D rapidly memorizes exact frame sequences, reaching 100% training accuracy within 15 epochs while validation diverges.</a:t>
            </a:r>
          </a:p>
          <a:p>
            <a:pPr>
              <a:defRPr sz="1100">
                <a:solidFill>
                  <a:srgbClr val="0F172A"/>
                </a:solidFill>
              </a:defRPr>
            </a:pPr>
            <a:r>
              <a:t>  - Baseline summary statistics (mean+std) provide implicit temporal regularization.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Key Takeaway on Model Input Format</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Paper Claim vs. Reproduction Reality:</a:t>
            </a:r>
          </a:p>
          <a:p>
            <a:pPr>
              <a:defRPr sz="1100">
                <a:solidFill>
                  <a:srgbClr val="0F172A"/>
                </a:solidFill>
              </a:defRPr>
            </a:pPr>
            <a:r>
              <a:t>  - Paper claimed: 86.9% without augmentation, 97.2% with augmentation.</a:t>
            </a:r>
          </a:p>
          <a:p>
            <a:pPr>
              <a:defRPr sz="1100">
                <a:solidFill>
                  <a:srgbClr val="0F172A"/>
                </a:solidFill>
              </a:defRPr>
            </a:pPr>
            <a:r>
              <a:t>  - Baseline (24/48/60): 64–71% test accuracy.</a:t>
            </a:r>
          </a:p>
          <a:p>
            <a:pPr>
              <a:defRPr sz="1100">
                <a:solidFill>
                  <a:srgbClr val="0F172A"/>
                </a:solidFill>
              </a:defRPr>
            </a:pPr>
            <a:r>
              <a:t>  - frames144 (144xT): 51–61% test accuracy.</a:t>
            </a:r>
          </a:p>
          <a:p>
            <a:pPr>
              <a:defRPr sz="1100">
                <a:solidFill>
                  <a:srgbClr val="0F172A"/>
                </a:solidFill>
              </a:defRPr>
            </a:pPr>
            <a:r>
              <a:t>  - Clean Augmentation (Version A) on frames144: 56.1% (no meaningful improvement).</a:t>
            </a:r>
          </a:p>
          <a:p>
            <a:pPr>
              <a:defRPr sz="1100">
                <a:solidFill>
                  <a:srgbClr val="0F172A"/>
                </a:solidFill>
              </a:defRPr>
            </a:pPr>
          </a:p>
          <a:p>
            <a:pPr>
              <a:defRPr sz="1100">
                <a:solidFill>
                  <a:srgbClr val="0F172A"/>
                </a:solidFill>
              </a:defRPr>
            </a:pPr>
            <a:r>
              <a:t>• Scientific Conclusion:</a:t>
            </a:r>
          </a:p>
          <a:p>
            <a:pPr>
              <a:defRPr sz="1100">
                <a:solidFill>
                  <a:srgbClr val="0F172A"/>
                </a:solidFill>
              </a:defRPr>
            </a:pPr>
            <a:r>
              <a:t>  - The 144-input architectural gap is NOT the reason for our lower baseline.</a:t>
            </a:r>
          </a:p>
          <a:p>
            <a:pPr>
              <a:defRPr sz="1100">
                <a:solidFill>
                  <a:srgbClr val="0F172A"/>
                </a:solidFill>
              </a:defRPr>
            </a:pPr>
            <a:r>
              <a:t>  - Retaining temporal frames without massive regularization or pretraining severely exacerbates overfitting on small emotional speech corpora.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Multi-Corpus Evaluation (CAFE, AESDD, MESD)</a:t>
            </a:r>
          </a:p>
        </p:txBody>
      </p:sp>
      <p:sp>
        <p:nvSpPr>
          <p:cNvPr id="4" name="Rounded Rectangle 3"/>
          <p:cNvSpPr/>
          <p:nvPr/>
        </p:nvSpPr>
        <p:spPr>
          <a:xfrm>
            <a:off x="731520" y="1554480"/>
            <a:ext cx="54864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57200"/>
          </a:xfrm>
          <a:prstGeom prst="rect">
            <a:avLst/>
          </a:prstGeom>
          <a:noFill/>
        </p:spPr>
        <p:txBody>
          <a:bodyPr wrap="none">
            <a:spAutoFit/>
          </a:bodyPr>
          <a:lstStyle/>
          <a:p>
            <a:pPr>
              <a:defRPr sz="1400" b="1">
                <a:solidFill>
                  <a:srgbClr val="1E3A8A"/>
                </a:solidFill>
              </a:defRPr>
            </a:pPr>
            <a:r>
              <a:t>Benchmark Corpora Characteristics</a:t>
            </a:r>
          </a:p>
        </p:txBody>
      </p:sp>
      <p:sp>
        <p:nvSpPr>
          <p:cNvPr id="6" name="TextBox 5"/>
          <p:cNvSpPr txBox="1"/>
          <p:nvPr/>
        </p:nvSpPr>
        <p:spPr>
          <a:xfrm>
            <a:off x="914400" y="2103120"/>
            <a:ext cx="5120640" cy="4023360"/>
          </a:xfrm>
          <a:prstGeom prst="rect">
            <a:avLst/>
          </a:prstGeom>
          <a:noFill/>
        </p:spPr>
        <p:txBody>
          <a:bodyPr wrap="square">
            <a:spAutoFit/>
          </a:bodyPr>
          <a:lstStyle/>
          <a:p>
            <a:pPr>
              <a:defRPr sz="1100">
                <a:solidFill>
                  <a:srgbClr val="0F172A"/>
                </a:solidFill>
              </a:defRPr>
            </a:pPr>
            <a:r>
              <a:t>• EmoDB (German):</a:t>
            </a:r>
          </a:p>
          <a:p>
            <a:pPr>
              <a:defRPr sz="1100">
                <a:solidFill>
                  <a:srgbClr val="0F172A"/>
                </a:solidFill>
              </a:defRPr>
            </a:pPr>
            <a:r>
              <a:t>  - 535 clips, 10 professional actors, 7 emotions (ang, bor, dis, fea, hap, sad, neu).</a:t>
            </a:r>
          </a:p>
          <a:p>
            <a:pPr>
              <a:defRPr sz="1100">
                <a:solidFill>
                  <a:srgbClr val="0F172A"/>
                </a:solidFill>
              </a:defRPr>
            </a:pPr>
            <a:r>
              <a:t>  - Recorded in studio setting, high acoustic clarity.</a:t>
            </a:r>
          </a:p>
          <a:p>
            <a:pPr>
              <a:defRPr sz="1100">
                <a:solidFill>
                  <a:srgbClr val="0F172A"/>
                </a:solidFill>
              </a:defRPr>
            </a:pPr>
          </a:p>
          <a:p>
            <a:pPr>
              <a:defRPr sz="1100">
                <a:solidFill>
                  <a:srgbClr val="0F172A"/>
                </a:solidFill>
              </a:defRPr>
            </a:pPr>
            <a:r>
              <a:t>• CAFE (Canadian French):</a:t>
            </a:r>
          </a:p>
          <a:p>
            <a:pPr>
              <a:defRPr sz="1100">
                <a:solidFill>
                  <a:srgbClr val="0F172A"/>
                </a:solidFill>
              </a:defRPr>
            </a:pPr>
            <a:r>
              <a:t>  - 936 clips, 12 professional actors (6M/6F), 7 emotions.</a:t>
            </a:r>
          </a:p>
          <a:p>
            <a:pPr>
              <a:defRPr sz="1100">
                <a:solidFill>
                  <a:srgbClr val="0F172A"/>
                </a:solidFill>
              </a:defRPr>
            </a:pPr>
            <a:r>
              <a:t>  - Perfectly balanced: 78 clips per speaker, CC BY-NC-SA 4.0 license.</a:t>
            </a:r>
          </a:p>
          <a:p>
            <a:pPr>
              <a:defRPr sz="1100">
                <a:solidFill>
                  <a:srgbClr val="0F172A"/>
                </a:solidFill>
              </a:defRPr>
            </a:pPr>
          </a:p>
          <a:p>
            <a:pPr>
              <a:defRPr sz="1100">
                <a:solidFill>
                  <a:srgbClr val="0F172A"/>
                </a:solidFill>
              </a:defRPr>
            </a:pPr>
            <a:r>
              <a:t>• AESDD (Att-HACK Greek):</a:t>
            </a:r>
          </a:p>
          <a:p>
            <a:pPr>
              <a:defRPr sz="1100">
                <a:solidFill>
                  <a:srgbClr val="0F172A"/>
                </a:solidFill>
              </a:defRPr>
            </a:pPr>
            <a:r>
              <a:t>  - 500 clips, 5 actors, 5 emotions (anger, disgust, fear, happiness, sadness).</a:t>
            </a:r>
          </a:p>
          <a:p>
            <a:pPr>
              <a:defRPr sz="1100">
                <a:solidFill>
                  <a:srgbClr val="0F172A"/>
                </a:solidFill>
              </a:defRPr>
            </a:pPr>
            <a:r>
              <a:t>  - Perfectly balanced: exactly 100 clips per emotion, academic license.</a:t>
            </a:r>
          </a:p>
          <a:p>
            <a:pPr>
              <a:defRPr sz="1100">
                <a:solidFill>
                  <a:srgbClr val="0F172A"/>
                </a:solidFill>
              </a:defRPr>
            </a:pPr>
          </a:p>
          <a:p>
            <a:pPr>
              <a:defRPr sz="1100">
                <a:solidFill>
                  <a:srgbClr val="0F172A"/>
                </a:solidFill>
              </a:defRPr>
            </a:pPr>
            <a:r>
              <a:t>• MESD (Mexican Spanish):</a:t>
            </a:r>
          </a:p>
          <a:p>
            <a:pPr>
              <a:defRPr sz="1100">
                <a:solidFill>
                  <a:srgbClr val="0F172A"/>
                </a:solidFill>
              </a:defRPr>
            </a:pPr>
            <a:r>
              <a:t>  - 862 single-word utterances, 6 emotions (ang, dis, fea, hap, neu, sad).</a:t>
            </a:r>
          </a:p>
          <a:p>
            <a:pPr>
              <a:defRPr sz="1100">
                <a:solidFill>
                  <a:srgbClr val="0F172A"/>
                </a:solidFill>
              </a:defRPr>
            </a:pPr>
            <a:r>
              <a:t>  - 3 voice cohorts: female, male, and children; CC BY 4.0 license.</a:t>
            </a:r>
          </a:p>
        </p:txBody>
      </p:sp>
      <p:sp>
        <p:nvSpPr>
          <p:cNvPr id="7" name="Rounded Rectangle 6"/>
          <p:cNvSpPr/>
          <p:nvPr/>
        </p:nvSpPr>
        <p:spPr>
          <a:xfrm>
            <a:off x="6583680" y="1554480"/>
            <a:ext cx="484632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691640"/>
            <a:ext cx="4480560" cy="457200"/>
          </a:xfrm>
          <a:prstGeom prst="rect">
            <a:avLst/>
          </a:prstGeom>
          <a:noFill/>
        </p:spPr>
        <p:txBody>
          <a:bodyPr wrap="none">
            <a:spAutoFit/>
          </a:bodyPr>
          <a:lstStyle/>
          <a:p>
            <a:pPr>
              <a:defRPr sz="1400" b="1">
                <a:solidFill>
                  <a:srgbClr val="1E3A8A"/>
                </a:solidFill>
              </a:defRPr>
            </a:pPr>
            <a:r>
              <a:t>Standardized Multi-Corpus Protocol</a:t>
            </a:r>
          </a:p>
        </p:txBody>
      </p:sp>
      <p:sp>
        <p:nvSpPr>
          <p:cNvPr id="9" name="TextBox 8"/>
          <p:cNvSpPr txBox="1"/>
          <p:nvPr/>
        </p:nvSpPr>
        <p:spPr>
          <a:xfrm>
            <a:off x="6766560" y="2103120"/>
            <a:ext cx="4480560" cy="4023360"/>
          </a:xfrm>
          <a:prstGeom prst="rect">
            <a:avLst/>
          </a:prstGeom>
          <a:noFill/>
        </p:spPr>
        <p:txBody>
          <a:bodyPr wrap="square">
            <a:spAutoFit/>
          </a:bodyPr>
          <a:lstStyle/>
          <a:p>
            <a:pPr>
              <a:defRPr sz="1100">
                <a:solidFill>
                  <a:srgbClr val="0F172A"/>
                </a:solidFill>
              </a:defRPr>
            </a:pPr>
            <a:r>
              <a:t>• Rigorous Verification Guardrails:</a:t>
            </a:r>
          </a:p>
          <a:p>
            <a:pPr>
              <a:defRPr sz="1100">
                <a:solidFill>
                  <a:srgbClr val="0F172A"/>
                </a:solidFill>
              </a:defRPr>
            </a:pPr>
            <a:r>
              <a:t>  - Audio resampled to 16 kHz mono across all corpora.</a:t>
            </a:r>
          </a:p>
          <a:p>
            <a:pPr>
              <a:defRPr sz="1100">
                <a:solidFill>
                  <a:srgbClr val="0F172A"/>
                </a:solidFill>
              </a:defRPr>
            </a:pPr>
            <a:r>
              <a:t>  - Label spaces cleanly harmonized to discrete integers.</a:t>
            </a:r>
          </a:p>
          <a:p>
            <a:pPr>
              <a:defRPr sz="1100">
                <a:solidFill>
                  <a:srgbClr val="0F172A"/>
                </a:solidFill>
              </a:defRPr>
            </a:pPr>
            <a:r>
              <a:t>  - Verified zero corrupted clips (filtered 36-byte invalid AESDD wav).</a:t>
            </a:r>
          </a:p>
          <a:p>
            <a:pPr>
              <a:defRPr sz="1100">
                <a:solidFill>
                  <a:srgbClr val="0F172A"/>
                </a:solidFill>
              </a:defRPr>
            </a:pPr>
            <a:r>
              <a:t>  - Evaluated on identical random seeds: 42, 43, 44.</a:t>
            </a:r>
          </a:p>
          <a:p>
            <a:pPr>
              <a:defRPr sz="1100">
                <a:solidFill>
                  <a:srgbClr val="0F172A"/>
                </a:solidFill>
              </a:defRPr>
            </a:pPr>
          </a:p>
          <a:p>
            <a:pPr>
              <a:defRPr sz="1100">
                <a:solidFill>
                  <a:srgbClr val="0F172A"/>
                </a:solidFill>
              </a:defRPr>
            </a:pPr>
            <a:r>
              <a:t>• Experimental Matrix per Dataset:</a:t>
            </a:r>
          </a:p>
          <a:p>
            <a:pPr>
              <a:defRPr sz="1100">
                <a:solidFill>
                  <a:srgbClr val="0F172A"/>
                </a:solidFill>
              </a:defRPr>
            </a:pPr>
            <a:r>
              <a:t>  - 2 Feature sets: MFCC vs. MFMC.</a:t>
            </a:r>
          </a:p>
          <a:p>
            <a:pPr>
              <a:defRPr sz="1100">
                <a:solidFill>
                  <a:srgbClr val="0F172A"/>
                </a:solidFill>
              </a:defRPr>
            </a:pPr>
            <a:r>
              <a:t>  - 3 Coefficient counts: 12, 24, 30.</a:t>
            </a:r>
          </a:p>
          <a:p>
            <a:pPr>
              <a:defRPr sz="1100">
                <a:solidFill>
                  <a:srgbClr val="0F172A"/>
                </a:solidFill>
              </a:defRPr>
            </a:pPr>
            <a:r>
              <a:t>  - 2 Augmentation setups: None vs. Version A (clean 5x).</a:t>
            </a:r>
          </a:p>
          <a:p>
            <a:pPr>
              <a:defRPr sz="1100">
                <a:solidFill>
                  <a:srgbClr val="0F172A"/>
                </a:solidFill>
              </a:defRPr>
            </a:pPr>
            <a:r>
              <a:t>  - Total: 36 runs per dataset x 3 datasets = 108 experimental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Results: Cross-Corpus Performance &amp; Augmentation</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Cross-Corpus Comparative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Inherent Dataset Difficulty:</a:t>
            </a:r>
          </a:p>
          <a:p>
            <a:pPr>
              <a:defRPr sz="1100">
                <a:solidFill>
                  <a:srgbClr val="0F172A"/>
                </a:solidFill>
              </a:defRPr>
            </a:pPr>
            <a:r>
              <a:t>  - AESDD (5 classes): Yields highest accuracy (65–75%) due to fewer emotion categories and exaggerated theatrical acting.</a:t>
            </a:r>
          </a:p>
          <a:p>
            <a:pPr>
              <a:defRPr sz="1100">
                <a:solidFill>
                  <a:srgbClr val="0F172A"/>
                </a:solidFill>
              </a:defRPr>
            </a:pPr>
            <a:r>
              <a:t>  - CAFE (7 classes): Ranges between 50–62%, showing balanced but challenging boundaries between subtle emotions.</a:t>
            </a:r>
          </a:p>
          <a:p>
            <a:pPr>
              <a:defRPr sz="1100">
                <a:solidFill>
                  <a:srgbClr val="0F172A"/>
                </a:solidFill>
              </a:defRPr>
            </a:pPr>
            <a:r>
              <a:t>  - MESD (6 classes): Yields lowest accuracy (35–48%) due to single-word utterances lacking sentence-level prosodic context.</a:t>
            </a:r>
          </a:p>
          <a:p>
            <a:pPr>
              <a:defRPr sz="1100">
                <a:solidFill>
                  <a:srgbClr val="0F172A"/>
                </a:solidFill>
              </a:defRPr>
            </a:pPr>
          </a:p>
          <a:p>
            <a:pPr>
              <a:defRPr sz="1100">
                <a:solidFill>
                  <a:srgbClr val="0F172A"/>
                </a:solidFill>
              </a:defRPr>
            </a:pPr>
            <a:r>
              <a:t>• Does Gaussian Noise Augmentation Help Globally?</a:t>
            </a:r>
          </a:p>
          <a:p>
            <a:pPr>
              <a:defRPr sz="1100">
                <a:solidFill>
                  <a:srgbClr val="0F172A"/>
                </a:solidFill>
              </a:defRPr>
            </a:pPr>
            <a:r>
              <a:t>  - Across all 4 datasets, Version A (clean 5x) provides modest, non-uniform effects: typically between -1.5% and +3.0% on test accuracy.</a:t>
            </a:r>
          </a:p>
          <a:p>
            <a:pPr>
              <a:defRPr sz="1100">
                <a:solidFill>
                  <a:srgbClr val="0F172A"/>
                </a:solidFill>
              </a:defRPr>
            </a:pPr>
            <a:r>
              <a:t>  - No dataset observed gains exceeding 4% under leak-free conditions.</a:t>
            </a:r>
          </a:p>
          <a:p>
            <a:pPr>
              <a:defRPr sz="1100">
                <a:solidFill>
                  <a:srgbClr val="0F172A"/>
                </a:solidFill>
              </a:defRPr>
            </a:pPr>
            <a:r>
              <a:t>  - Paper's claimed +10.3% jump (86.9% -&gt; 97.2%) fails to replicate on any corpus.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Summary Across Corpora</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MFCC vs. MFMC Consistency:</a:t>
            </a:r>
          </a:p>
          <a:p>
            <a:pPr>
              <a:defRPr sz="1100">
                <a:solidFill>
                  <a:srgbClr val="0F172A"/>
                </a:solidFill>
              </a:defRPr>
            </a:pPr>
            <a:r>
              <a:t>  - MFCC and MFMC show remarkably comparable accuracy across all four datasets (within 1–3% of each other).</a:t>
            </a:r>
          </a:p>
          <a:p>
            <a:pPr>
              <a:defRPr sz="1100">
                <a:solidFill>
                  <a:srgbClr val="0F172A"/>
                </a:solidFill>
              </a:defRPr>
            </a:pPr>
            <a:r>
              <a:t>  - Increasing coefficients from 12 to 24/30 provides consistent modest improvements (+3% to +6%) across all languages.</a:t>
            </a:r>
          </a:p>
          <a:p>
            <a:pPr>
              <a:defRPr sz="1100">
                <a:solidFill>
                  <a:srgbClr val="0F172A"/>
                </a:solidFill>
              </a:defRPr>
            </a:pPr>
          </a:p>
          <a:p>
            <a:pPr>
              <a:defRPr sz="1100">
                <a:solidFill>
                  <a:srgbClr val="0F172A"/>
                </a:solidFill>
              </a:defRPr>
            </a:pPr>
            <a:r>
              <a:t>• Universality of Overfitting:</a:t>
            </a:r>
          </a:p>
          <a:p>
            <a:pPr>
              <a:defRPr sz="1100">
                <a:solidFill>
                  <a:srgbClr val="0F172A"/>
                </a:solidFill>
              </a:defRPr>
            </a:pPr>
            <a:r>
              <a:t>  - On every dataset, training accuracy reached 98–100% within 40 epochs.</a:t>
            </a:r>
          </a:p>
          <a:p>
            <a:pPr>
              <a:defRPr sz="1100">
                <a:solidFill>
                  <a:srgbClr val="0F172A"/>
                </a:solidFill>
              </a:defRPr>
            </a:pPr>
            <a:r>
              <a:t>  - Additive Gaussian noise did not prevent loss divergence on validation sets, proving that simple noise does not resolve acoustic overfitting.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Partitioning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The Speaker Confounder in SER</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Why Random Stratified Splits Mislead:</a:t>
            </a:r>
          </a:p>
          <a:p>
            <a:pPr>
              <a:defRPr sz="1100">
                <a:solidFill>
                  <a:srgbClr val="0F172A"/>
                </a:solidFill>
              </a:defRPr>
            </a:pPr>
            <a:r>
              <a:t>  - In a standard stratified split, audio clips from the SAME speaker appear in train, validation, and test sets.</a:t>
            </a:r>
          </a:p>
          <a:p>
            <a:pPr>
              <a:defRPr sz="1100">
                <a:solidFill>
                  <a:srgbClr val="0F172A"/>
                </a:solidFill>
              </a:defRPr>
            </a:pPr>
            <a:r>
              <a:t>  - The 1D-CNN easily learns to recognize speaker vocal tract geometry (timbre, pitch range, formant baselines) rather than true emotion.</a:t>
            </a:r>
          </a:p>
          <a:p>
            <a:pPr>
              <a:defRPr sz="1100">
                <a:solidFill>
                  <a:srgbClr val="0F172A"/>
                </a:solidFill>
              </a:defRPr>
            </a:pPr>
            <a:r>
              <a:t>  - The model effectively acts as a speaker classifier mapping speaker traits to emotions.</a:t>
            </a:r>
          </a:p>
          <a:p>
            <a:pPr>
              <a:defRPr sz="1100">
                <a:solidFill>
                  <a:srgbClr val="0F172A"/>
                </a:solidFill>
              </a:defRPr>
            </a:pPr>
          </a:p>
          <a:p>
            <a:pPr>
              <a:defRPr sz="1100">
                <a:solidFill>
                  <a:srgbClr val="0F172A"/>
                </a:solidFill>
              </a:defRPr>
            </a:pPr>
            <a:r>
              <a:t>• Real-World Speech Recognition Requirement:</a:t>
            </a:r>
          </a:p>
          <a:p>
            <a:pPr>
              <a:defRPr sz="1100">
                <a:solidFill>
                  <a:srgbClr val="0F172A"/>
                </a:solidFill>
              </a:defRPr>
            </a:pPr>
            <a:r>
              <a:t>  - Real SER systems must generalize to completely novel speakers never encountered during training.</a:t>
            </a:r>
          </a:p>
          <a:p>
            <a:pPr>
              <a:defRPr sz="1100">
                <a:solidFill>
                  <a:srgbClr val="0F172A"/>
                </a:solidFill>
              </a:defRPr>
            </a:pPr>
            <a:r>
              <a:t>  - Speaker-independent evaluation is the gold standard benchmark.</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Strict Disjoint Partitioning Design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Disjoint Speaker Partitions Built:</a:t>
            </a:r>
          </a:p>
          <a:p>
            <a:pPr>
              <a:defRPr sz="1100">
                <a:solidFill>
                  <a:srgbClr val="0F172A"/>
                </a:solidFill>
              </a:defRPr>
            </a:pPr>
            <a:r>
              <a:t>  - EmoDB (10 speakers):</a:t>
            </a:r>
          </a:p>
          <a:p>
            <a:pPr>
              <a:defRPr sz="1100">
                <a:solidFill>
                  <a:srgbClr val="0F172A"/>
                </a:solidFill>
              </a:defRPr>
            </a:pPr>
            <a:r>
              <a:t>    * Train: 6 speakers (~60% clips)</a:t>
            </a:r>
          </a:p>
          <a:p>
            <a:pPr>
              <a:defRPr sz="1100">
                <a:solidFill>
                  <a:srgbClr val="0F172A"/>
                </a:solidFill>
              </a:defRPr>
            </a:pPr>
            <a:r>
              <a:t>    * Val: 2 speakers (~20% clips)</a:t>
            </a:r>
          </a:p>
          <a:p>
            <a:pPr>
              <a:defRPr sz="1100">
                <a:solidFill>
                  <a:srgbClr val="0F172A"/>
                </a:solidFill>
              </a:defRPr>
            </a:pPr>
            <a:r>
              <a:t>    * Test: 2 speakers (~20% clips)</a:t>
            </a:r>
          </a:p>
          <a:p>
            <a:pPr>
              <a:defRPr sz="1100">
                <a:solidFill>
                  <a:srgbClr val="0F172A"/>
                </a:solidFill>
              </a:defRPr>
            </a:pPr>
            <a:r>
              <a:t>  - CAFE (12 speakers):</a:t>
            </a:r>
          </a:p>
          <a:p>
            <a:pPr>
              <a:defRPr sz="1100">
                <a:solidFill>
                  <a:srgbClr val="0F172A"/>
                </a:solidFill>
              </a:defRPr>
            </a:pPr>
            <a:r>
              <a:t>    * Train: 8 speakers (624 clips)</a:t>
            </a:r>
          </a:p>
          <a:p>
            <a:pPr>
              <a:defRPr sz="1100">
                <a:solidFill>
                  <a:srgbClr val="0F172A"/>
                </a:solidFill>
              </a:defRPr>
            </a:pPr>
            <a:r>
              <a:t>    * Val: 2 speakers (156 clips)</a:t>
            </a:r>
          </a:p>
          <a:p>
            <a:pPr>
              <a:defRPr sz="1100">
                <a:solidFill>
                  <a:srgbClr val="0F172A"/>
                </a:solidFill>
              </a:defRPr>
            </a:pPr>
            <a:r>
              <a:t>    * Test: 2 speakers (156 clips)</a:t>
            </a:r>
          </a:p>
          <a:p>
            <a:pPr>
              <a:defRPr sz="1100">
                <a:solidFill>
                  <a:srgbClr val="0F172A"/>
                </a:solidFill>
              </a:defRPr>
            </a:pPr>
            <a:r>
              <a:t>  - AESDD (5 speakers):</a:t>
            </a:r>
          </a:p>
          <a:p>
            <a:pPr>
              <a:defRPr sz="1100">
                <a:solidFill>
                  <a:srgbClr val="0F172A"/>
                </a:solidFill>
              </a:defRPr>
            </a:pPr>
            <a:r>
              <a:t>    * Train: 3 speakers (300 clips)</a:t>
            </a:r>
          </a:p>
          <a:p>
            <a:pPr>
              <a:defRPr sz="1100">
                <a:solidFill>
                  <a:srgbClr val="0F172A"/>
                </a:solidFill>
              </a:defRPr>
            </a:pPr>
            <a:r>
              <a:t>    * Val: 1 speaker (100 clips)</a:t>
            </a:r>
          </a:p>
          <a:p>
            <a:pPr>
              <a:defRPr sz="1100">
                <a:solidFill>
                  <a:srgbClr val="0F172A"/>
                </a:solidFill>
              </a:defRPr>
            </a:pPr>
            <a:r>
              <a:t>    * Test: 1 speaker (100 clips)</a:t>
            </a:r>
          </a:p>
          <a:p>
            <a:pPr>
              <a:defRPr sz="1100">
                <a:solidFill>
                  <a:srgbClr val="0F172A"/>
                </a:solidFill>
              </a:defRPr>
            </a:pPr>
          </a:p>
          <a:p>
            <a:pPr>
              <a:defRPr sz="1100">
                <a:solidFill>
                  <a:srgbClr val="0F172A"/>
                </a:solidFill>
              </a:defRPr>
            </a:pPr>
            <a:r>
              <a:t>• Verification:</a:t>
            </a:r>
          </a:p>
          <a:p>
            <a:pPr>
              <a:defRPr sz="1100">
                <a:solidFill>
                  <a:srgbClr val="0F172A"/>
                </a:solidFill>
              </a:defRPr>
            </a:pPr>
            <a:r>
              <a:t>  - Set intersection: Train ∩ Val = ∅, Train ∩ Test = ∅, Val ∩ Test = ∅.</a:t>
            </a:r>
          </a:p>
          <a:p>
            <a:pPr>
              <a:defRPr sz="1100">
                <a:solidFill>
                  <a:srgbClr val="0F172A"/>
                </a:solidFill>
              </a:defRPr>
            </a:pPr>
            <a:r>
              <a:t>  - Verified 100% disjointness via automated unit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Results: Quantifying the Generalization Drop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Accuracy Drop Under Speaker Independence</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Severe Performance Degradation:</a:t>
            </a:r>
          </a:p>
          <a:p>
            <a:pPr>
              <a:defRPr sz="1100">
                <a:solidFill>
                  <a:srgbClr val="0F172A"/>
                </a:solidFill>
              </a:defRPr>
            </a:pPr>
            <a:r>
              <a:t>  - Across all datasets, enforcing speaker independence causes a substantial drop in test accuracy (typically 12% to 28% absolute drop).</a:t>
            </a:r>
          </a:p>
          <a:p>
            <a:pPr>
              <a:defRPr sz="1100">
                <a:solidFill>
                  <a:srgbClr val="0F172A"/>
                </a:solidFill>
              </a:defRPr>
            </a:pPr>
          </a:p>
          <a:p>
            <a:pPr>
              <a:defRPr sz="1100">
                <a:solidFill>
                  <a:srgbClr val="0F172A"/>
                </a:solidFill>
              </a:defRPr>
            </a:pPr>
            <a:r>
              <a:t>• Observed Drops by Benchmark:</a:t>
            </a:r>
          </a:p>
          <a:p>
            <a:pPr>
              <a:defRPr sz="1100">
                <a:solidFill>
                  <a:srgbClr val="0F172A"/>
                </a:solidFill>
              </a:defRPr>
            </a:pPr>
            <a:r>
              <a:t>  - EmoDB (30 coeffs, None):</a:t>
            </a:r>
          </a:p>
          <a:p>
            <a:pPr>
              <a:defRPr sz="1100">
                <a:solidFill>
                  <a:srgbClr val="0F172A"/>
                </a:solidFill>
              </a:defRPr>
            </a:pPr>
            <a:r>
              <a:t>    * Stratified: 70.1% ± 3.8%</a:t>
            </a:r>
          </a:p>
          <a:p>
            <a:pPr>
              <a:defRPr sz="1100">
                <a:solidFill>
                  <a:srgbClr val="0F172A"/>
                </a:solidFill>
              </a:defRPr>
            </a:pPr>
            <a:r>
              <a:t>    * Speaker-Independent: 48–56% (Drop: ~15–20%)</a:t>
            </a:r>
          </a:p>
          <a:p>
            <a:pPr>
              <a:defRPr sz="1100">
                <a:solidFill>
                  <a:srgbClr val="0F172A"/>
                </a:solidFill>
              </a:defRPr>
            </a:pPr>
            <a:r>
              <a:t>  - CAFE (30 coeffs, None):</a:t>
            </a:r>
          </a:p>
          <a:p>
            <a:pPr>
              <a:defRPr sz="1100">
                <a:solidFill>
                  <a:srgbClr val="0F172A"/>
                </a:solidFill>
              </a:defRPr>
            </a:pPr>
            <a:r>
              <a:t>    * Stratified: 58.4% ± 2.6%</a:t>
            </a:r>
          </a:p>
          <a:p>
            <a:pPr>
              <a:defRPr sz="1100">
                <a:solidFill>
                  <a:srgbClr val="0F172A"/>
                </a:solidFill>
              </a:defRPr>
            </a:pPr>
            <a:r>
              <a:t>    * Speaker-Independent: 42–49% (Drop: ~12–16%)</a:t>
            </a:r>
          </a:p>
          <a:p>
            <a:pPr>
              <a:defRPr sz="1100">
                <a:solidFill>
                  <a:srgbClr val="0F172A"/>
                </a:solidFill>
              </a:defRPr>
            </a:pPr>
            <a:r>
              <a:t>  - AESDD (30 coeffs, None):</a:t>
            </a:r>
          </a:p>
          <a:p>
            <a:pPr>
              <a:defRPr sz="1100">
                <a:solidFill>
                  <a:srgbClr val="0F172A"/>
                </a:solidFill>
              </a:defRPr>
            </a:pPr>
            <a:r>
              <a:t>    * Stratified: 71.8% ± 4.1%</a:t>
            </a:r>
          </a:p>
          <a:p>
            <a:pPr>
              <a:defRPr sz="1100">
                <a:solidFill>
                  <a:srgbClr val="0F172A"/>
                </a:solidFill>
              </a:defRPr>
            </a:pPr>
            <a:r>
              <a:t>    * Speaker-Independent: 46–54% (Drop: ~18–25%)</a:t>
            </a:r>
          </a:p>
          <a:p>
            <a:pPr>
              <a:defRPr sz="1100">
                <a:solidFill>
                  <a:srgbClr val="0F172A"/>
                </a:solidFill>
              </a:defRPr>
            </a:pPr>
          </a:p>
          <a:p>
            <a:pPr>
              <a:defRPr sz="1100">
                <a:solidFill>
                  <a:srgbClr val="0F172A"/>
                </a:solidFill>
              </a:defRPr>
            </a:pPr>
            <a:r>
              <a:t>• Key Insight:</a:t>
            </a:r>
          </a:p>
          <a:p>
            <a:pPr>
              <a:defRPr sz="1100">
                <a:solidFill>
                  <a:srgbClr val="0F172A"/>
                </a:solidFill>
              </a:defRPr>
            </a:pPr>
            <a:r>
              <a:t>  - A large fraction of reported SER accuracy in random splits reflects speaker memorization rather than generalized emotional recognition.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Methodological Implication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Implication for the Published Paper:</a:t>
            </a:r>
          </a:p>
          <a:p>
            <a:pPr>
              <a:defRPr sz="1100">
                <a:solidFill>
                  <a:srgbClr val="0F172A"/>
                </a:solidFill>
              </a:defRPr>
            </a:pPr>
            <a:r>
              <a:t>  - The paper reports 97.2% test accuracy on EmoDB.</a:t>
            </a:r>
          </a:p>
          <a:p>
            <a:pPr>
              <a:defRPr sz="1100">
                <a:solidFill>
                  <a:srgbClr val="0F172A"/>
                </a:solidFill>
              </a:defRPr>
            </a:pPr>
            <a:r>
              <a:t>  - If random splits alone inflate accuracy by 15–20% due to speaker leakage, and augmenting before split inflates by another 15–20%, reported numbers can easily reach the high 90s.</a:t>
            </a:r>
          </a:p>
          <a:p>
            <a:pPr>
              <a:defRPr sz="1100">
                <a:solidFill>
                  <a:srgbClr val="0F172A"/>
                </a:solidFill>
              </a:defRPr>
            </a:pPr>
            <a:r>
              <a:t>  - Under true speaker-independent conditions without leakage, the actual generalized accuracy of this 1D-CNN is in the 48–56% range.</a:t>
            </a:r>
          </a:p>
          <a:p>
            <a:pPr>
              <a:defRPr sz="1100">
                <a:solidFill>
                  <a:srgbClr val="0F172A"/>
                </a:solidFill>
              </a:defRPr>
            </a:pPr>
          </a:p>
          <a:p>
            <a:pPr>
              <a:defRPr sz="1100">
                <a:solidFill>
                  <a:srgbClr val="0F172A"/>
                </a:solidFill>
              </a:defRPr>
            </a:pPr>
            <a:r>
              <a:t>• Augmentation Effect Under Speaker Independence:</a:t>
            </a:r>
          </a:p>
          <a:p>
            <a:pPr>
              <a:defRPr sz="1100">
                <a:solidFill>
                  <a:srgbClr val="0F172A"/>
                </a:solidFill>
              </a:defRPr>
            </a:pPr>
            <a:r>
              <a:t>  - Gaussian noise augmentation provides negligible protection against speaker shift (-1% to +2%).</a:t>
            </a:r>
          </a:p>
          <a:p>
            <a:pPr>
              <a:defRPr sz="1100">
                <a:solidFill>
                  <a:srgbClr val="0F172A"/>
                </a:solidFill>
              </a:defRPr>
            </a:pPr>
            <a:r>
              <a:t>  - Generalizing across speakers requires vocal tract normalization, pitch perturbation, or self-supervised representations.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Synthesis &amp; Critical Findings</a:t>
            </a:r>
          </a:p>
        </p:txBody>
      </p:sp>
      <p:sp>
        <p:nvSpPr>
          <p:cNvPr id="4" name="Rounded Rectangle 3"/>
          <p:cNvSpPr/>
          <p:nvPr/>
        </p:nvSpPr>
        <p:spPr>
          <a:xfrm>
            <a:off x="731520" y="1554480"/>
            <a:ext cx="106984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32720" cy="457200"/>
          </a:xfrm>
          <a:prstGeom prst="rect">
            <a:avLst/>
          </a:prstGeom>
          <a:noFill/>
        </p:spPr>
        <p:txBody>
          <a:bodyPr wrap="none">
            <a:spAutoFit/>
          </a:bodyPr>
          <a:lstStyle/>
          <a:p>
            <a:pPr>
              <a:defRPr sz="1400" b="1">
                <a:solidFill>
                  <a:srgbClr val="1E3A8A"/>
                </a:solidFill>
              </a:defRPr>
            </a:pPr>
            <a:r>
              <a:t>Core Conclusions from Week 4 Investigations</a:t>
            </a:r>
          </a:p>
        </p:txBody>
      </p:sp>
      <p:sp>
        <p:nvSpPr>
          <p:cNvPr id="6" name="TextBox 5"/>
          <p:cNvSpPr txBox="1"/>
          <p:nvPr/>
        </p:nvSpPr>
        <p:spPr>
          <a:xfrm>
            <a:off x="914400" y="2103120"/>
            <a:ext cx="10332720" cy="4023360"/>
          </a:xfrm>
          <a:prstGeom prst="rect">
            <a:avLst/>
          </a:prstGeom>
          <a:noFill/>
        </p:spPr>
        <p:txBody>
          <a:bodyPr wrap="square">
            <a:spAutoFit/>
          </a:bodyPr>
          <a:lstStyle/>
          <a:p>
            <a:pPr>
              <a:defRPr sz="1100">
                <a:solidFill>
                  <a:srgbClr val="0F172A"/>
                </a:solidFill>
              </a:defRPr>
            </a:pPr>
            <a:r>
              <a:t>1. The 144-Input Discrepancy Does NOT Explain the Performance Gap</a:t>
            </a:r>
          </a:p>
          <a:p>
            <a:pPr>
              <a:defRPr sz="1100">
                <a:solidFill>
                  <a:srgbClr val="0F172A"/>
                </a:solidFill>
              </a:defRPr>
            </a:pPr>
            <a:r>
              <a:t>   - Preserving 144 temporal frames increases model parameters and dramatically accelerates overfitting on small datasets.</a:t>
            </a:r>
          </a:p>
          <a:p>
            <a:pPr>
              <a:defRPr sz="1100">
                <a:solidFill>
                  <a:srgbClr val="0F172A"/>
                </a:solidFill>
              </a:defRPr>
            </a:pPr>
            <a:r>
              <a:t>   - Test accuracy on frames144 drops to 51–61%, falling well below the pooled 24/48/60 baseline (64–71%).</a:t>
            </a:r>
          </a:p>
          <a:p>
            <a:pPr>
              <a:defRPr sz="1100">
                <a:solidFill>
                  <a:srgbClr val="0F172A"/>
                </a:solidFill>
              </a:defRPr>
            </a:pPr>
            <a:r>
              <a:t>   - Summary statistics (mean + std) provide essential implicit regularization for small sample regimes.</a:t>
            </a:r>
          </a:p>
          <a:p>
            <a:pPr>
              <a:defRPr sz="1100">
                <a:solidFill>
                  <a:srgbClr val="0F172A"/>
                </a:solidFill>
              </a:defRPr>
            </a:pPr>
          </a:p>
          <a:p>
            <a:pPr>
              <a:defRPr sz="1100">
                <a:solidFill>
                  <a:srgbClr val="0F172A"/>
                </a:solidFill>
              </a:defRPr>
            </a:pPr>
            <a:r>
              <a:t>2. Additive Gaussian Noise Augmentation Does Not Reliably Boost Generalization</a:t>
            </a:r>
          </a:p>
          <a:p>
            <a:pPr>
              <a:defRPr sz="1100">
                <a:solidFill>
                  <a:srgbClr val="0F172A"/>
                </a:solidFill>
              </a:defRPr>
            </a:pPr>
            <a:r>
              <a:t>   - Across German (EmoDB), French (CAFE), Greek (AESDD), and Spanish (MESD), clean Version A augmentation yields only -1.5% to +3% change.</a:t>
            </a:r>
          </a:p>
          <a:p>
            <a:pPr>
              <a:defRPr sz="1100">
                <a:solidFill>
                  <a:srgbClr val="0F172A"/>
                </a:solidFill>
              </a:defRPr>
            </a:pPr>
            <a:r>
              <a:t>   - The paper's claimed jump to 97.2% cannot be reproduced under leak-free conditions on any corpus.</a:t>
            </a:r>
          </a:p>
          <a:p>
            <a:pPr>
              <a:defRPr sz="1100">
                <a:solidFill>
                  <a:srgbClr val="0F172A"/>
                </a:solidFill>
              </a:defRPr>
            </a:pPr>
          </a:p>
          <a:p>
            <a:pPr>
              <a:defRPr sz="1100">
                <a:solidFill>
                  <a:srgbClr val="0F172A"/>
                </a:solidFill>
              </a:defRPr>
            </a:pPr>
            <a:r>
              <a:t>3. Speaker Identity Memorization is the Dominant Hidden Factor in High Reported Accuracies</a:t>
            </a:r>
          </a:p>
          <a:p>
            <a:pPr>
              <a:defRPr sz="1100">
                <a:solidFill>
                  <a:srgbClr val="0F172A"/>
                </a:solidFill>
              </a:defRPr>
            </a:pPr>
            <a:r>
              <a:t>   - Evaluating on unseen speakers causes a sharp 12% to 25% accuracy collapse across all corpora.</a:t>
            </a:r>
          </a:p>
          <a:p>
            <a:pPr>
              <a:defRPr sz="1100">
                <a:solidFill>
                  <a:srgbClr val="0F172A"/>
                </a:solidFill>
              </a:defRPr>
            </a:pPr>
            <a:r>
              <a:t>   - When combined with data leakage (augmenting before splitting, +15-20%), models easily reach artificial 90%+ scores without true emotion generalization.</a:t>
            </a:r>
          </a:p>
          <a:p>
            <a:pPr>
              <a:defRPr sz="1100">
                <a:solidFill>
                  <a:srgbClr val="0F172A"/>
                </a:solidFill>
              </a:defRPr>
            </a:pPr>
          </a:p>
          <a:p>
            <a:pPr>
              <a:defRPr sz="1100">
                <a:solidFill>
                  <a:srgbClr val="0F172A"/>
                </a:solidFill>
              </a:defRPr>
            </a:pPr>
            <a:r>
              <a:t>4. University Reproduction Takeaway</a:t>
            </a:r>
          </a:p>
          <a:p>
            <a:pPr>
              <a:defRPr sz="1100">
                <a:solidFill>
                  <a:srgbClr val="0F172A"/>
                </a:solidFill>
              </a:defRPr>
            </a:pPr>
            <a:r>
              <a:t>   - Scientific honesty requires reporting genuine leak-free numbers: this 1D-CNN architecture achieves ~65-72% in speaker-dependent conditions, and ~48-55% in speaker-independent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Issues, Ambiguities &amp; Scientific Integrity</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Documented Paper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Missing Specifications in the Published Article:</a:t>
            </a:r>
          </a:p>
          <a:p>
            <a:pPr>
              <a:defRPr sz="1100">
                <a:solidFill>
                  <a:srgbClr val="0F172A"/>
                </a:solidFill>
              </a:defRPr>
            </a:pPr>
            <a:r>
              <a:t>  1. Input Dimension Construction:</a:t>
            </a:r>
          </a:p>
          <a:p>
            <a:pPr>
              <a:defRPr sz="1100">
                <a:solidFill>
                  <a:srgbClr val="0F172A"/>
                </a:solidFill>
              </a:defRPr>
            </a:pPr>
            <a:r>
              <a:t>     - States '144 feature vectors' but omits frame length, hop size, windowing function, and audio duration.</a:t>
            </a:r>
          </a:p>
          <a:p>
            <a:pPr>
              <a:defRPr sz="1100">
                <a:solidFill>
                  <a:srgbClr val="0F172A"/>
                </a:solidFill>
              </a:defRPr>
            </a:pPr>
            <a:r>
              <a:t>  2. Padding Configuration:</a:t>
            </a:r>
          </a:p>
          <a:p>
            <a:pPr>
              <a:defRPr sz="1100">
                <a:solidFill>
                  <a:srgbClr val="0F172A"/>
                </a:solidFill>
              </a:defRPr>
            </a:pPr>
            <a:r>
              <a:t>     - Uses kernel size 15 across 4 Conv1D layers. Without padding='same', spatial dimensions collapse to negative numbers on 24-dim inputs.</a:t>
            </a:r>
          </a:p>
          <a:p>
            <a:pPr>
              <a:defRPr sz="1100">
                <a:solidFill>
                  <a:srgbClr val="0F172A"/>
                </a:solidFill>
              </a:defRPr>
            </a:pPr>
            <a:r>
              <a:t>  3. Augmentation Timing:</a:t>
            </a:r>
          </a:p>
          <a:p>
            <a:pPr>
              <a:defRPr sz="1100">
                <a:solidFill>
                  <a:srgbClr val="0F172A"/>
                </a:solidFill>
              </a:defRPr>
            </a:pPr>
            <a:r>
              <a:t>     - Completely silent on whether 5x Gaussian augmentation occurred before or after train/val/test splitting.</a:t>
            </a:r>
          </a:p>
          <a:p>
            <a:pPr>
              <a:defRPr sz="1100">
                <a:solidFill>
                  <a:srgbClr val="0F172A"/>
                </a:solidFill>
              </a:defRPr>
            </a:pPr>
            <a:r>
              <a:t>  4. Speaker Partitioning:</a:t>
            </a:r>
          </a:p>
          <a:p>
            <a:pPr>
              <a:defRPr sz="1100">
                <a:solidFill>
                  <a:srgbClr val="0F172A"/>
                </a:solidFill>
              </a:defRPr>
            </a:pPr>
            <a:r>
              <a:t>     - No mention of speaker disjointness or speaker cross-validation.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Reproduction Integrity Principles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Adherence to Academic Best Practices:</a:t>
            </a:r>
          </a:p>
          <a:p>
            <a:pPr>
              <a:defRPr sz="1100">
                <a:solidFill>
                  <a:srgbClr val="0F172A"/>
                </a:solidFill>
              </a:defRPr>
            </a:pPr>
            <a:r>
              <a:t>  - Zero Fabrication: All data acquired from verified official/open mirrors with exact file hashes.</a:t>
            </a:r>
          </a:p>
          <a:p>
            <a:pPr>
              <a:defRPr sz="1100">
                <a:solidFill>
                  <a:srgbClr val="0F172A"/>
                </a:solidFill>
              </a:defRPr>
            </a:pPr>
            <a:r>
              <a:t>  - Zero Cherry-Picking: Multi-seed evaluations (42, 43, 44) reported with mean ± standard deviation.</a:t>
            </a:r>
          </a:p>
          <a:p>
            <a:pPr>
              <a:defRPr sz="1100">
                <a:solidFill>
                  <a:srgbClr val="0F172A"/>
                </a:solidFill>
              </a:defRPr>
            </a:pPr>
            <a:r>
              <a:t>  - Frozen Test Sets: Selected models chosen solely by validation accuracy; test partition scored exactly once.</a:t>
            </a:r>
          </a:p>
          <a:p>
            <a:pPr>
              <a:defRPr sz="1100">
                <a:solidFill>
                  <a:srgbClr val="0F172A"/>
                </a:solidFill>
              </a:defRPr>
            </a:pPr>
            <a:r>
              <a:t>  - Explicit Attribution: All differences between our implementation and the paper are formally documented in repo markdown logs.</a:t>
            </a:r>
          </a:p>
          <a:p>
            <a:pPr>
              <a:defRPr sz="1100">
                <a:solidFill>
                  <a:srgbClr val="0F172A"/>
                </a:solidFill>
              </a:defRPr>
            </a:pPr>
            <a:r>
              <a:t>  - Cautious Language: Claims framed as 'plausible' and 'empirically observed' rather than overstated.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Next Steps: Week 5 Research Roadmap</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Advanced Regularization</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Combating Overfitting:</a:t>
            </a:r>
          </a:p>
          <a:p>
            <a:pPr>
              <a:defRPr sz="1100">
                <a:solidFill>
                  <a:srgbClr val="0F172A"/>
                </a:solidFill>
              </a:defRPr>
            </a:pPr>
            <a:r>
              <a:t>  - L2 weight decay on dense layers.</a:t>
            </a:r>
          </a:p>
          <a:p>
            <a:pPr>
              <a:defRPr sz="1100">
                <a:solidFill>
                  <a:srgbClr val="0F172A"/>
                </a:solidFill>
              </a:defRPr>
            </a:pPr>
            <a:r>
              <a:t>  - SpatialDropout1D across convolutional feature maps.</a:t>
            </a:r>
          </a:p>
          <a:p>
            <a:pPr>
              <a:defRPr sz="1100">
                <a:solidFill>
                  <a:srgbClr val="0F172A"/>
                </a:solidFill>
              </a:defRPr>
            </a:pPr>
            <a:r>
              <a:t>  - Early stopping with patience=15 to prevent late-epoch memorization.</a:t>
            </a:r>
          </a:p>
          <a:p>
            <a:pPr>
              <a:defRPr sz="1100">
                <a:solidFill>
                  <a:srgbClr val="0F172A"/>
                </a:solidFill>
              </a:defRPr>
            </a:pPr>
            <a:r>
              <a:t>  - Cosine annealing learning rate schedules.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Acoustic Augmentations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Beyond Additive White Noise:</a:t>
            </a:r>
          </a:p>
          <a:p>
            <a:pPr>
              <a:defRPr sz="1100">
                <a:solidFill>
                  <a:srgbClr val="0F172A"/>
                </a:solidFill>
              </a:defRPr>
            </a:pPr>
            <a:r>
              <a:t>  - SpecAugment (frequency and time masking) on spectrograms.</a:t>
            </a:r>
          </a:p>
          <a:p>
            <a:pPr>
              <a:defRPr sz="1100">
                <a:solidFill>
                  <a:srgbClr val="0F172A"/>
                </a:solidFill>
              </a:defRPr>
            </a:pPr>
            <a:r>
              <a:t>  - Pitch shifting (±2 semitones) to simulate speaker vocal tract variance.</a:t>
            </a:r>
          </a:p>
          <a:p>
            <a:pPr>
              <a:defRPr sz="1100">
                <a:solidFill>
                  <a:srgbClr val="0F172A"/>
                </a:solidFill>
              </a:defRPr>
            </a:pPr>
            <a:r>
              <a:t>  - Time stretching (0.9x–1.1x) to vary speaking rate.</a:t>
            </a:r>
          </a:p>
          <a:p>
            <a:pPr>
              <a:defRPr sz="1100">
                <a:solidFill>
                  <a:srgbClr val="0F172A"/>
                </a:solidFill>
              </a:defRPr>
            </a:pPr>
            <a:r>
              <a:t>  - Test whether acoustic shifts improve speaker independence.</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Final Paper &amp; Code Release</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Deliverables &amp; Synthesis:</a:t>
            </a:r>
          </a:p>
          <a:p>
            <a:pPr>
              <a:defRPr sz="1100">
                <a:solidFill>
                  <a:srgbClr val="0F172A"/>
                </a:solidFill>
              </a:defRPr>
            </a:pPr>
            <a:r>
              <a:t>  - Comprehensive reproduction report detailing why the paper's 97.2% claim is fragile.</a:t>
            </a:r>
          </a:p>
          <a:p>
            <a:pPr>
              <a:defRPr sz="1100">
                <a:solidFill>
                  <a:srgbClr val="0F172A"/>
                </a:solidFill>
              </a:defRPr>
            </a:pPr>
            <a:r>
              <a:t>  - Open-source reproduction repository with automated verification suites.</a:t>
            </a:r>
          </a:p>
          <a:p>
            <a:pPr>
              <a:defRPr sz="1100">
                <a:solidFill>
                  <a:srgbClr val="0F172A"/>
                </a:solidFill>
              </a:defRPr>
            </a:pPr>
            <a:r>
              <a:t>  - Guidelines for rigorous, leak-free evaluation in speech emotion recognition research.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Backup Slide: Multi-Corpus Architecture &amp; Loss Dynamics</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1D-CNN Layer-by-Layer Specifications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Baseline Model (Global Pooled Summary):</a:t>
            </a:r>
          </a:p>
          <a:p>
            <a:pPr>
              <a:defRPr sz="1050">
                <a:solidFill>
                  <a:srgbClr val="0F172A"/>
                </a:solidFill>
              </a:defRPr>
            </a:pPr>
            <a:r>
              <a:t>  - Input: (N, D, 1) where D in {24, 48, 60}</a:t>
            </a:r>
          </a:p>
          <a:p>
            <a:pPr>
              <a:defRPr sz="1050">
                <a:solidFill>
                  <a:srgbClr val="0F172A"/>
                </a:solidFill>
              </a:defRPr>
            </a:pPr>
            <a:r>
              <a:t>  - Block 1: Conv1D(8, k=15, same) -&gt; BN -&gt; ReLU -&gt; MaxPool(2)</a:t>
            </a:r>
          </a:p>
          <a:p>
            <a:pPr>
              <a:defRPr sz="1050">
                <a:solidFill>
                  <a:srgbClr val="0F172A"/>
                </a:solidFill>
              </a:defRPr>
            </a:pPr>
            <a:r>
              <a:t>  - Block 2: Conv1D(16, k=15, same) -&gt; BN -&gt; ReLU -&gt; MaxPool(2)</a:t>
            </a:r>
          </a:p>
          <a:p>
            <a:pPr>
              <a:defRPr sz="1050">
                <a:solidFill>
                  <a:srgbClr val="0F172A"/>
                </a:solidFill>
              </a:defRPr>
            </a:pPr>
            <a:r>
              <a:t>  - Block 3: Conv1D(32, k=15, same) -&gt; BN -&gt; ReLU -&gt; MaxPool(2)</a:t>
            </a:r>
          </a:p>
          <a:p>
            <a:pPr>
              <a:defRPr sz="1050">
                <a:solidFill>
                  <a:srgbClr val="0F172A"/>
                </a:solidFill>
              </a:defRPr>
            </a:pPr>
            <a:r>
              <a:t>  - Block 4: Conv1D(64, k=15, same) -&gt; BN -&gt; ReLU -&gt; MaxPool(2)</a:t>
            </a:r>
          </a:p>
          <a:p>
            <a:pPr>
              <a:defRPr sz="1050">
                <a:solidFill>
                  <a:srgbClr val="0F172A"/>
                </a:solidFill>
              </a:defRPr>
            </a:pPr>
            <a:r>
              <a:t>  - Head: Dropout(0.3) -&gt; Flatten -&gt; Dense(120, ReLU) -&gt; Dropout(0.2) -&gt; Dense(C, Softmax)</a:t>
            </a:r>
          </a:p>
          <a:p>
            <a:pPr>
              <a:defRPr sz="1050">
                <a:solidFill>
                  <a:srgbClr val="0F172A"/>
                </a:solidFill>
              </a:defRPr>
            </a:pPr>
            <a:r>
              <a:t>  - Total Parameters: 49,687 (12 coeffs) / 65,047 (24 &amp; 30 coeffs)</a:t>
            </a:r>
          </a:p>
          <a:p>
            <a:pPr>
              <a:defRPr sz="1050">
                <a:solidFill>
                  <a:srgbClr val="0F172A"/>
                </a:solidFill>
              </a:defRPr>
            </a:pPr>
          </a:p>
          <a:p>
            <a:pPr>
              <a:defRPr sz="1050">
                <a:solidFill>
                  <a:srgbClr val="0F172A"/>
                </a:solidFill>
              </a:defRPr>
            </a:pPr>
            <a:r>
              <a:t>• frames144 Model (Temporal Sequence):</a:t>
            </a:r>
          </a:p>
          <a:p>
            <a:pPr>
              <a:defRPr sz="1050">
                <a:solidFill>
                  <a:srgbClr val="0F172A"/>
                </a:solidFill>
              </a:defRPr>
            </a:pPr>
            <a:r>
              <a:t>  - Input: (N, 144, C) where C in {12, 24, 30}</a:t>
            </a:r>
          </a:p>
          <a:p>
            <a:pPr>
              <a:defRPr sz="1050">
                <a:solidFill>
                  <a:srgbClr val="0F172A"/>
                </a:solidFill>
              </a:defRPr>
            </a:pPr>
            <a:r>
              <a:t>  - Pooling over time: 144 -&gt; 72 -&gt; 36 -&gt; 18 -&gt; 9 frames</a:t>
            </a:r>
          </a:p>
          <a:p>
            <a:pPr>
              <a:defRPr sz="1050">
                <a:solidFill>
                  <a:srgbClr val="0F172A"/>
                </a:solidFill>
              </a:defRPr>
            </a:pPr>
            <a:r>
              <a:t>  - Flatten: 9 x 64 = 576 units into Dense(120)</a:t>
            </a:r>
          </a:p>
          <a:p>
            <a:pPr>
              <a:defRPr sz="1050">
                <a:solidFill>
                  <a:srgbClr val="0F172A"/>
                </a:solidFill>
              </a:defRPr>
            </a:pPr>
            <a:r>
              <a:t>  - Total Parameters: ~104,000</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Multi-Seed Experimental Summary</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Execution &amp; Reproducibility Parameters:</a:t>
            </a:r>
          </a:p>
          <a:p>
            <a:pPr>
              <a:defRPr sz="1050">
                <a:solidFill>
                  <a:srgbClr val="0F172A"/>
                </a:solidFill>
              </a:defRPr>
            </a:pPr>
            <a:r>
              <a:t>  - Optimizer: Adam, Learning Rate = 0.001</a:t>
            </a:r>
          </a:p>
          <a:p>
            <a:pPr>
              <a:defRPr sz="1050">
                <a:solidFill>
                  <a:srgbClr val="0F172A"/>
                </a:solidFill>
              </a:defRPr>
            </a:pPr>
            <a:r>
              <a:t>  - Epochs: 100, Batch Size = 32</a:t>
            </a:r>
          </a:p>
          <a:p>
            <a:pPr>
              <a:defRPr sz="1050">
                <a:solidFill>
                  <a:srgbClr val="0F172A"/>
                </a:solidFill>
              </a:defRPr>
            </a:pPr>
            <a:r>
              <a:t>  - Loss: Sparse Categorical Cross-Entropy</a:t>
            </a:r>
          </a:p>
          <a:p>
            <a:pPr>
              <a:defRPr sz="1050">
                <a:solidFill>
                  <a:srgbClr val="0F172A"/>
                </a:solidFill>
              </a:defRPr>
            </a:pPr>
            <a:r>
              <a:t>  - Checkpoint: ModelCheckpoint monitoring val_accuracy (mode='max')</a:t>
            </a:r>
          </a:p>
          <a:p>
            <a:pPr>
              <a:defRPr sz="1050">
                <a:solidFill>
                  <a:srgbClr val="0F172A"/>
                </a:solidFill>
              </a:defRPr>
            </a:pPr>
            <a:r>
              <a:t>  - Test Evaluation: Frozen checkpoint evaluated once on test split</a:t>
            </a:r>
          </a:p>
          <a:p>
            <a:pPr>
              <a:defRPr sz="1050">
                <a:solidFill>
                  <a:srgbClr val="0F172A"/>
                </a:solidFill>
              </a:defRPr>
            </a:pPr>
          </a:p>
          <a:p>
            <a:pPr>
              <a:defRPr sz="1050">
                <a:solidFill>
                  <a:srgbClr val="0F172A"/>
                </a:solidFill>
              </a:defRPr>
            </a:pPr>
            <a:r>
              <a:t>• Verification &amp; Testing:</a:t>
            </a:r>
          </a:p>
          <a:p>
            <a:pPr>
              <a:defRPr sz="1050">
                <a:solidFill>
                  <a:srgbClr val="0F172A"/>
                </a:solidFill>
              </a:defRPr>
            </a:pPr>
            <a:r>
              <a:t>  - Automated unit test suite: tests/test_week4.py</a:t>
            </a:r>
          </a:p>
          <a:p>
            <a:pPr>
              <a:defRPr sz="1050">
                <a:solidFill>
                  <a:srgbClr val="0F172A"/>
                </a:solidFill>
              </a:defRPr>
            </a:pPr>
            <a:r>
              <a:t>  - Confirms zero NaNs, correct tensor dimensions, valid split sizes, and strict speaker disjointness.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