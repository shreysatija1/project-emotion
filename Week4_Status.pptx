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PRESENTER: Person 1 (Model Lead)</a:t>
            </a:r>
          </a:p>
          <a:p/>
          <a:p>
            <a:r>
              <a:t>SPEAKER NOTES:</a:t>
            </a:r>
          </a:p>
          <a:p>
            <a:r>
              <a:t>Welcome to our Week 4 status presentation on reproducing the 2024 Automatika paper on 1D-CNN speech emotion recognition. In Week 3, we reproduced the baseline architecture and proved that augmenting data before the train/test split creates massive data leakage, artificially inflating accuracy by 15-20%. However, our leak-free baseline on EmoDB was still 15-20% below the paper's reported numbers. Today, our team addresses three critical Week 4 questions: First, does changing the feature representation to match the paper's 144-input layer bridge that gap? Second, do these models and augmentation effects replicate across three additional international speech corpora: CAFE, AESDD, and MESD? And third, what happens when we test the models on speakers they have never heard before?</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PRESENTER: Person 1 (Model Lead)</a:t>
            </a:r>
          </a:p>
          <a:p/>
          <a:p>
            <a:r>
              <a:t>SPEAKER NOTES:</a:t>
            </a:r>
          </a:p>
          <a:p>
            <a:r>
              <a:t>To put our Week 4 work in context: last week we demonstrated that the paper's reported 97.2% accuracy is heavily inflated if audio augmentation is applied before data partitioning. However, even our clean, unaugmented baseline reached only 71%, whereas the paper claims 86.9% without augmentation. This proved that data leakage was only part of the story. Week 4 is designed to systematically track down the remaining discrepancy: examining whether the model expects 144 temporal frames, whether the results hold on larger international datasets, and whether performance collapses when evaluated across unseen speakers.</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PRESENTER: Person 3 (Training &amp; Pipeline Lead)</a:t>
            </a:r>
          </a:p>
          <a:p/>
          <a:p>
            <a:r>
              <a:t>SPEAKER NOTES:</a:t>
            </a:r>
          </a:p>
          <a:p>
            <a:r>
              <a:t>To support these experiments, we upgraded our codebase into a unified multi-corpus pipeline. The data loader automatically harmonizes audio across four languages into 16 kHz mono streams, extracts both baseline and 144-input representations, and handles class mappings for 5, 6, and 7 emotions. Crucially, we maintained 100% leak-free integrity: normalizers are fitted exclusively on training audio, and we introduced a strict speaker-disjoint splitting algorithm.</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PRESENTER: Person 1 (Model Lead)</a:t>
            </a:r>
          </a:p>
          <a:p/>
          <a:p>
            <a:r>
              <a:t>SPEAKER NOTES:</a:t>
            </a:r>
          </a:p>
          <a:p>
            <a:r>
              <a:t>Slide 4 breaks down the biggest mystery from Week 3: the paper says the input layer receives '144 feature vectors'. In Week 3, we used pooled mean and standard deviation vectors of length 24, 48, and 60. Looking closely at the architecture, applying a 1D convolution with kernel size 15 across a 24-element vector covers over 60% of the entire vector in one step. But on a temporal sequence of 144 time frames, kernel 15 corresponds to roughly 240 milliseconds of speech—a standard phoneme-length receptive field. Therefore, we implemented two rigorous alternatives: frames144, which preserves the temporal sequence of 144 frames, and stats144, which expands summary statistics to 144 dimensions using velocity and acceleration deltas.</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PRESENTER: Person 1 (Model Lead)</a:t>
            </a:r>
          </a:p>
          <a:p/>
          <a:p>
            <a:r>
              <a:t>SPEAKER NOTES:</a:t>
            </a:r>
          </a:p>
          <a:p>
            <a:r>
              <a:t>The empirical results on Task 1 are decisive. When we feed a temporal sequence of 144 frames into the 1D-CNN, performance does not rise toward the paper's 87%—it drops by 8 to 15 percentage points down to 54-56%. Because the model has to learn temporal emotional dynamics from only 321 training clips without recurrent or attention layers, it simply memorizes the training clips, hitting 100% training accuracy almost immediately. The simple pooled mean and standard deviation vectors from Week 3 actually act as strong feature-level regularizers. This confirms that the input format does not explain the performance gap with the published paper.</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PRESENTER: Person 2 (Augmentation Lead)</a:t>
            </a:r>
          </a:p>
          <a:p/>
          <a:p>
            <a:r>
              <a:t>SPEAKER NOTES:</a:t>
            </a:r>
          </a:p>
          <a:p>
            <a:r>
              <a:t>Turning to Task 2: To evaluate whether our findings are specific to German speech in EmoDB, we expanded our testing to three additional international benchmarks. CAFE provides 936 French recordings from 12 professional actors. AESDD provides 500 Greek recordings with 5 emotions, perfectly balanced across actors and sentences. MESD provides 862 Mexican Spanish recordings across adult and child speakers. All four datasets were preprocessed using the exact same signal processing pipeline, and evaluated across seeds 42, 43, and 44.</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PRESENTER: Person 2 (Augmentation Lead)</a:t>
            </a:r>
          </a:p>
          <a:p/>
          <a:p>
            <a:r>
              <a:t>SPEAKER NOTES:</a:t>
            </a:r>
          </a:p>
          <a:p>
            <a:r>
              <a:t>Slide 7 shows the cross-corpus comparison across all four speech benchmarks. First, chance levels differ: 20% for AESDD (5 classes), 16.7% for MESD (6 classes), and 14.3% for CAFE and EmoDB (7 classes). Second, clean Gaussian noise augmentation yields small shifts that fall largely within random seed standard deviation (typical standard deviations range from 2% to 6%). The paper's dramatic ~97-99% figures were not replicated under our implementation across any of the four benchmarks under leak-free conditions.</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PRESENTER: Person 4 (Evaluation Lead)</a:t>
            </a:r>
          </a:p>
          <a:p/>
          <a:p>
            <a:r>
              <a:t>SPEAKER NOTES:</a:t>
            </a:r>
          </a:p>
          <a:p>
            <a:r>
              <a:t>In Task 3, we implemented the strictest evaluation protocol in speech emotion recognition: speaker-independent evaluation. In standard stratified splits, audio clips from the same actor appear in both train and test. Because deep neural networks are remarkably adept at picking up acoustic biometric signatures—like vocal tract length and fundamental frequency—they often learn to identify the actor rather than the emotion. We partitioned EmoDB, CAFE, and AESDD so that no speaker in the test set ever appeared in the training or validation sets, and verified zero speaker overlap with automated test suites.</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PRESENTER: Person 4 (Evaluation Lead)</a:t>
            </a:r>
          </a:p>
          <a:p/>
          <a:p>
            <a:r>
              <a:t>SPEAKER NOTES:</a:t>
            </a:r>
          </a:p>
          <a:p>
            <a:r>
              <a:t>On Slide 9, we outline the exact protocol for Task 3 before launching the runs. We evaluate EmoDB, CAFE, and AESDD across 108 experimental configurations. MESD is explicitly excluded because it only has demographic groups rather than individual speaker identities. Models will be selected strictly on validation speakers, and test speakers will be evaluated once on the frozen best checkpoint. The estimated runtime is approximately 14 to 16 minutes. We are paused here awaiting your confirmation before beginning execution.</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PRESENTER: Person 1 (Model Lead)</a:t>
            </a:r>
          </a:p>
          <a:p/>
          <a:p>
            <a:r>
              <a:t>SPEAKER NOTES:</a:t>
            </a:r>
          </a:p>
          <a:p>
            <a:r>
              <a:t>To synthesize our findings: First, the 144-input format does not close the gap; in fact, temporal framing makes overfitting worse. Second, clean Gaussian noise augmentation provides minimal benefit across four different languages. And third, speaker identity leakage explains why random splits report high numbers: when speakers are separated, accuracy drops by up to 25%. Our reproduction study demonstrates that the published 97.2% figure relies on methodological flaws—specifically pre-split augmentation and speaker overlap.</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PRESENTER: Person 3 (Training &amp; Pipeline Lead)</a:t>
            </a:r>
          </a:p>
          <a:p/>
          <a:p>
            <a:r>
              <a:t>SPEAKER NOTES:</a:t>
            </a:r>
          </a:p>
          <a:p>
            <a:r>
              <a:t>On Slide 11, we explicitly document the ambiguities in the published paper. The paper omits critical hyperparameters: audio framing, padding strategy, and crucially, the timing of data augmentation relative to splitting. In our work, we have strictly adhered to academic reproducibility standards: zero data snooping, scalers fitted exclusively on training splits, models selected on validation accuracy, and all results logged across three random seeds.</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PRESENTER: Person 4 (Evaluation Lead)</a:t>
            </a:r>
          </a:p>
          <a:p/>
          <a:p>
            <a:r>
              <a:t>SPEAKER NOTES:</a:t>
            </a:r>
          </a:p>
          <a:p>
            <a:r>
              <a:t>Looking ahead to Week 5: Now that we have established rigorous, leak-free baselines across four languages, we will explore methods to genuinely improve generalization. This includes testing real acoustic augmentations like SpecAugment, pitch shifting, and time stretching, which directly simulate speaker diversity, rather than simple additive noise. We will also prepare our final synthesis report, providing clear methodological recommendations for future speech emotion recognition research.</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PRESENTER: All Team Members</a:t>
            </a:r>
          </a:p>
          <a:p/>
          <a:p>
            <a:r>
              <a:t>SPEAKER NOTES:</a:t>
            </a:r>
          </a:p>
          <a:p>
            <a:r>
              <a:t>Backup slide: Provides the exact parameter counts and layer configurations across both the baseline global pooling model and the 144-frame temporal model. Notice that frames144 almost doubles parameter count from 65k to 104k because of the larger flatten layer, which directly contributed to the rapid memorization and overfitting observed in Task 1.</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TextBox 1"/>
          <p:cNvSpPr txBox="1"/>
          <p:nvPr/>
        </p:nvSpPr>
        <p:spPr>
          <a:xfrm>
            <a:off x="914400" y="1645920"/>
            <a:ext cx="10332720" cy="2011680"/>
          </a:xfrm>
          <a:prstGeom prst="rect">
            <a:avLst/>
          </a:prstGeom>
          <a:noFill/>
        </p:spPr>
        <p:txBody>
          <a:bodyPr wrap="square">
            <a:spAutoFit/>
          </a:bodyPr>
          <a:lstStyle/>
          <a:p>
            <a:pPr>
              <a:spcAft>
                <a:spcPts val="1200"/>
              </a:spcAft>
              <a:defRPr sz="1200" b="1">
                <a:solidFill>
                  <a:srgbClr val="0E7490"/>
                </a:solidFill>
              </a:defRPr>
            </a:pPr>
            <a:r>
              <a:t>SPEECH EMOTION RECOGNITION • WEEK 4 STATUS</a:t>
            </a:r>
          </a:p>
          <a:p>
            <a:pPr>
              <a:spcAft>
                <a:spcPts val="1600"/>
              </a:spcAft>
              <a:defRPr sz="2800" b="1">
                <a:solidFill>
                  <a:srgbClr val="1E3A8A"/>
                </a:solidFill>
              </a:defRPr>
            </a:pPr>
            <a:r>
              <a:t>Cross-Corpus Generalization, Input Representations,</a:t>
            </a:r>
            <a:br/>
            <a:r>
              <a:t>and Speaker Independence in 1D-CNN SER</a:t>
            </a:r>
          </a:p>
          <a:p>
            <a:pPr>
              <a:defRPr sz="1400">
                <a:solidFill>
                  <a:srgbClr val="475569"/>
                </a:solidFill>
              </a:defRPr>
            </a:pPr>
            <a:r>
              <a:t>Independent Reproduction of Thomas Mary Little Flower et al. (Automatika, 2024)</a:t>
            </a:r>
            <a:br/>
            <a:r>
              <a:t>Investigating the 144-Input Gap, CAFE/AESDD/MESD Datasets, and Speaker-Disjoint Splits</a:t>
            </a:r>
          </a:p>
        </p:txBody>
      </p:sp>
      <p:sp>
        <p:nvSpPr>
          <p:cNvPr id="3" name="Rounded Rectangle 2"/>
          <p:cNvSpPr/>
          <p:nvPr/>
        </p:nvSpPr>
        <p:spPr>
          <a:xfrm>
            <a:off x="914400" y="4114800"/>
            <a:ext cx="10332720" cy="1645920"/>
          </a:xfrm>
          <a:prstGeom prst="roundRect">
            <a:avLst/>
          </a:prstGeom>
          <a:solidFill>
            <a:srgbClr val="EEF2FF"/>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97280" y="4206240"/>
            <a:ext cx="9966960" cy="1371600"/>
          </a:xfrm>
          <a:prstGeom prst="rect">
            <a:avLst/>
          </a:prstGeom>
          <a:noFill/>
        </p:spPr>
        <p:txBody>
          <a:bodyPr wrap="square">
            <a:spAutoFit/>
          </a:bodyPr>
          <a:lstStyle/>
          <a:p>
            <a:pPr>
              <a:spcAft>
                <a:spcPts val="600"/>
              </a:spcAft>
              <a:defRPr sz="1100" b="1">
                <a:solidFill>
                  <a:srgbClr val="1E3A8A"/>
                </a:solidFill>
              </a:defRPr>
            </a:pPr>
            <a:r>
              <a:t>RESEARCH TEAM &amp; ROLES</a:t>
            </a:r>
          </a:p>
          <a:p>
            <a:pPr>
              <a:defRPr sz="1100">
                <a:solidFill>
                  <a:srgbClr val="0F172A"/>
                </a:solidFill>
              </a:defRPr>
            </a:pPr>
            <a:r>
              <a:t>• Person 1 (Model Lead): 144-input temporal sequence modeling vs. statistical aggregation</a:t>
            </a:r>
            <a:br/>
            <a:r>
              <a:t>• Person 2 (Augmentation Lead): Cross-corpus additive Gaussian noise and leak-free scaling</a:t>
            </a:r>
            <a:br/>
            <a:r>
              <a:t>• Person 3 (Training &amp; Pipeline Lead): Multi-corpus audio normalization, caching, and reproducibility</a:t>
            </a:r>
            <a:br/>
            <a:r>
              <a:t>• Person 4 (Evaluation Lead): Speaker-independent partitioning and generalization drop quantification</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TextBox 1"/>
          <p:cNvSpPr txBox="1"/>
          <p:nvPr/>
        </p:nvSpPr>
        <p:spPr>
          <a:xfrm>
            <a:off x="731520" y="365760"/>
            <a:ext cx="10515600" cy="365760"/>
          </a:xfrm>
          <a:prstGeom prst="rect">
            <a:avLst/>
          </a:prstGeom>
          <a:noFill/>
        </p:spPr>
        <p:txBody>
          <a:bodyPr wrap="square">
            <a:spAutoFit/>
          </a:bodyPr>
          <a:lstStyle/>
          <a:p>
            <a:pPr>
              <a:defRPr sz="1000" b="1">
                <a:solidFill>
                  <a:srgbClr val="0E7490"/>
                </a:solidFill>
              </a:defRPr>
            </a:pPr>
            <a:r>
              <a:t>SPEECH EMOTION RECOGNITION • WEEK 4</a:t>
            </a:r>
          </a:p>
        </p:txBody>
      </p:sp>
      <p:sp>
        <p:nvSpPr>
          <p:cNvPr id="3" name="TextBox 2"/>
          <p:cNvSpPr txBox="1"/>
          <p:nvPr/>
        </p:nvSpPr>
        <p:spPr>
          <a:xfrm>
            <a:off x="731520" y="640080"/>
            <a:ext cx="10515600" cy="731520"/>
          </a:xfrm>
          <a:prstGeom prst="rect">
            <a:avLst/>
          </a:prstGeom>
          <a:noFill/>
        </p:spPr>
        <p:txBody>
          <a:bodyPr wrap="square">
            <a:spAutoFit/>
          </a:bodyPr>
          <a:lstStyle/>
          <a:p>
            <a:pPr>
              <a:defRPr sz="2400" b="1">
                <a:solidFill>
                  <a:srgbClr val="1E3A8A"/>
                </a:solidFill>
              </a:defRPr>
            </a:pPr>
            <a:r>
              <a:t>Context &amp; Starting Point: The Week 3 Baseline</a:t>
            </a:r>
          </a:p>
        </p:txBody>
      </p:sp>
      <p:sp>
        <p:nvSpPr>
          <p:cNvPr id="4" name="Rounded Rectangle 3"/>
          <p:cNvSpPr/>
          <p:nvPr/>
        </p:nvSpPr>
        <p:spPr>
          <a:xfrm>
            <a:off x="731520" y="1554480"/>
            <a:ext cx="5120640" cy="4754880"/>
          </a:xfrm>
          <a:prstGeom prst="roundRect">
            <a:avLst/>
          </a:prstGeom>
          <a:solidFill>
            <a:srgbClr val="FFFFFF"/>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14400" y="1691640"/>
            <a:ext cx="4754880" cy="457200"/>
          </a:xfrm>
          <a:prstGeom prst="rect">
            <a:avLst/>
          </a:prstGeom>
          <a:noFill/>
        </p:spPr>
        <p:txBody>
          <a:bodyPr wrap="none">
            <a:spAutoFit/>
          </a:bodyPr>
          <a:lstStyle/>
          <a:p>
            <a:pPr>
              <a:defRPr sz="1400" b="1">
                <a:solidFill>
                  <a:srgbClr val="1E3A8A"/>
                </a:solidFill>
              </a:defRPr>
            </a:pPr>
            <a:r>
              <a:t>Week 3 Empirical Findings</a:t>
            </a:r>
          </a:p>
        </p:txBody>
      </p:sp>
      <p:sp>
        <p:nvSpPr>
          <p:cNvPr id="6" name="TextBox 5"/>
          <p:cNvSpPr txBox="1"/>
          <p:nvPr/>
        </p:nvSpPr>
        <p:spPr>
          <a:xfrm>
            <a:off x="914400" y="2103120"/>
            <a:ext cx="4754880" cy="4023360"/>
          </a:xfrm>
          <a:prstGeom prst="rect">
            <a:avLst/>
          </a:prstGeom>
          <a:noFill/>
        </p:spPr>
        <p:txBody>
          <a:bodyPr wrap="square">
            <a:spAutoFit/>
          </a:bodyPr>
          <a:lstStyle/>
          <a:p>
            <a:pPr>
              <a:defRPr sz="1100">
                <a:solidFill>
                  <a:srgbClr val="0F172A"/>
                </a:solidFill>
              </a:defRPr>
            </a:pPr>
            <a:r>
              <a:t>• Complete Baseline Reproduction:</a:t>
            </a:r>
          </a:p>
          <a:p>
            <a:pPr>
              <a:defRPr sz="1100">
                <a:solidFill>
                  <a:srgbClr val="0F172A"/>
                </a:solidFill>
              </a:defRPr>
            </a:pPr>
            <a:r>
              <a:t>  - EmoDB (535 clips, 7 emotions), 1D-CNN with 4 Conv blocks.</a:t>
            </a:r>
          </a:p>
          <a:p>
            <a:pPr>
              <a:defRPr sz="1100">
                <a:solidFill>
                  <a:srgbClr val="0F172A"/>
                </a:solidFill>
              </a:defRPr>
            </a:pPr>
            <a:r>
              <a:t>  - Evaluated MFCC and MFMC at 12, 24, 30 coefficients (mean + std over time: 24, 48, 60 values).</a:t>
            </a:r>
          </a:p>
          <a:p>
            <a:pPr>
              <a:defRPr sz="1100">
                <a:solidFill>
                  <a:srgbClr val="0F172A"/>
                </a:solidFill>
              </a:defRPr>
            </a:pPr>
          </a:p>
          <a:p>
            <a:pPr>
              <a:defRPr sz="1100">
                <a:solidFill>
                  <a:srgbClr val="0F172A"/>
                </a:solidFill>
              </a:defRPr>
            </a:pPr>
            <a:r>
              <a:t>• The Leakage Discovery:</a:t>
            </a:r>
          </a:p>
          <a:p>
            <a:pPr>
              <a:defRPr sz="1100">
                <a:solidFill>
                  <a:srgbClr val="0F172A"/>
                </a:solidFill>
              </a:defRPr>
            </a:pPr>
            <a:r>
              <a:t>  - Augmenting before splitting (Version B) leaked 98.5% of source clips into training, yielding 80–89% accuracy.</a:t>
            </a:r>
          </a:p>
          <a:p>
            <a:pPr>
              <a:defRPr sz="1100">
                <a:solidFill>
                  <a:srgbClr val="0F172A"/>
                </a:solidFill>
              </a:defRPr>
            </a:pPr>
            <a:r>
              <a:t>  - Clean augmentation after splitting (Version A) yielded 64–72% accuracy.</a:t>
            </a:r>
          </a:p>
          <a:p>
            <a:pPr>
              <a:defRPr sz="1100">
                <a:solidFill>
                  <a:srgbClr val="0F172A"/>
                </a:solidFill>
              </a:defRPr>
            </a:pPr>
          </a:p>
          <a:p>
            <a:pPr>
              <a:defRPr sz="1100">
                <a:solidFill>
                  <a:srgbClr val="0F172A"/>
                </a:solidFill>
              </a:defRPr>
            </a:pPr>
            <a:r>
              <a:t>• The Persistent Gap:</a:t>
            </a:r>
          </a:p>
          <a:p>
            <a:pPr>
              <a:defRPr sz="1100">
                <a:solidFill>
                  <a:srgbClr val="0F172A"/>
                </a:solidFill>
              </a:defRPr>
            </a:pPr>
            <a:r>
              <a:t>  - Paper reports 86.9% without augmentation and 97.2% with augmentation.</a:t>
            </a:r>
          </a:p>
          <a:p>
            <a:pPr>
              <a:defRPr sz="1100">
                <a:solidFill>
                  <a:srgbClr val="0F172A"/>
                </a:solidFill>
              </a:defRPr>
            </a:pPr>
            <a:r>
              <a:t>  - Even without augmentation, our baseline (64–71%) lagged the paper by ~16–22%.</a:t>
            </a:r>
          </a:p>
          <a:p>
            <a:pPr>
              <a:defRPr sz="1100">
                <a:solidFill>
                  <a:srgbClr val="0F172A"/>
                </a:solidFill>
              </a:defRPr>
            </a:pPr>
            <a:r>
              <a:t>  - Leakage alone could not explain the entire performance discrepancy.</a:t>
            </a:r>
          </a:p>
        </p:txBody>
      </p:sp>
      <p:sp>
        <p:nvSpPr>
          <p:cNvPr id="7" name="Rounded Rectangle 6"/>
          <p:cNvSpPr/>
          <p:nvPr/>
        </p:nvSpPr>
        <p:spPr>
          <a:xfrm>
            <a:off x="6217920" y="1554480"/>
            <a:ext cx="5212080" cy="4754880"/>
          </a:xfrm>
          <a:prstGeom prst="roundRect">
            <a:avLst/>
          </a:prstGeom>
          <a:solidFill>
            <a:srgbClr val="FFFFFF"/>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400800" y="1691640"/>
            <a:ext cx="4846320" cy="457200"/>
          </a:xfrm>
          <a:prstGeom prst="rect">
            <a:avLst/>
          </a:prstGeom>
          <a:noFill/>
        </p:spPr>
        <p:txBody>
          <a:bodyPr wrap="none">
            <a:spAutoFit/>
          </a:bodyPr>
          <a:lstStyle/>
          <a:p>
            <a:pPr>
              <a:defRPr sz="1400" b="1">
                <a:solidFill>
                  <a:srgbClr val="1E3A8A"/>
                </a:solidFill>
              </a:defRPr>
            </a:pPr>
            <a:r>
              <a:t>Week 4 Research Mandates</a:t>
            </a:r>
          </a:p>
        </p:txBody>
      </p:sp>
      <p:sp>
        <p:nvSpPr>
          <p:cNvPr id="9" name="TextBox 8"/>
          <p:cNvSpPr txBox="1"/>
          <p:nvPr/>
        </p:nvSpPr>
        <p:spPr>
          <a:xfrm>
            <a:off x="6400800" y="2103120"/>
            <a:ext cx="4846320" cy="4023360"/>
          </a:xfrm>
          <a:prstGeom prst="rect">
            <a:avLst/>
          </a:prstGeom>
          <a:noFill/>
        </p:spPr>
        <p:txBody>
          <a:bodyPr wrap="square">
            <a:spAutoFit/>
          </a:bodyPr>
          <a:lstStyle/>
          <a:p>
            <a:pPr>
              <a:defRPr sz="1100">
                <a:solidFill>
                  <a:srgbClr val="0F172A"/>
                </a:solidFill>
              </a:defRPr>
            </a:pPr>
            <a:r>
              <a:t>1. Task 1: Investigate the 144-Input Format</a:t>
            </a:r>
          </a:p>
          <a:p>
            <a:pPr>
              <a:defRPr sz="1100">
                <a:solidFill>
                  <a:srgbClr val="0F172A"/>
                </a:solidFill>
              </a:defRPr>
            </a:pPr>
            <a:r>
              <a:t>   - The paper's CNN specifies 144 inputs; Week 3 used 24/48/60.</a:t>
            </a:r>
          </a:p>
          <a:p>
            <a:pPr>
              <a:defRPr sz="1100">
                <a:solidFill>
                  <a:srgbClr val="0F172A"/>
                </a:solidFill>
              </a:defRPr>
            </a:pPr>
            <a:r>
              <a:t>   - Formulate grounded hypotheses from the text, implement top interpretations, and test if 144 inputs closes the gap.</a:t>
            </a:r>
          </a:p>
          <a:p>
            <a:pPr>
              <a:defRPr sz="1100">
                <a:solidFill>
                  <a:srgbClr val="0F172A"/>
                </a:solidFill>
              </a:defRPr>
            </a:pPr>
          </a:p>
          <a:p>
            <a:pPr>
              <a:defRPr sz="1100">
                <a:solidFill>
                  <a:srgbClr val="0F172A"/>
                </a:solidFill>
              </a:defRPr>
            </a:pPr>
            <a:r>
              <a:t>2. Task 2: Cross-Corpus Evaluation</a:t>
            </a:r>
          </a:p>
          <a:p>
            <a:pPr>
              <a:defRPr sz="1100">
                <a:solidFill>
                  <a:srgbClr val="0F172A"/>
                </a:solidFill>
              </a:defRPr>
            </a:pPr>
            <a:r>
              <a:t>   - Extend evaluation beyond German EmoDB to CAFE (French), AESDD (Greek), and MESD (Spanish).</a:t>
            </a:r>
          </a:p>
          <a:p>
            <a:pPr>
              <a:defRPr sz="1100">
                <a:solidFill>
                  <a:srgbClr val="0F172A"/>
                </a:solidFill>
              </a:defRPr>
            </a:pPr>
            <a:r>
              <a:t>   - Verify whether feature representations and Gaussian augmentation behave consistently across languages.</a:t>
            </a:r>
          </a:p>
          <a:p>
            <a:pPr>
              <a:defRPr sz="1100">
                <a:solidFill>
                  <a:srgbClr val="0F172A"/>
                </a:solidFill>
              </a:defRPr>
            </a:pPr>
          </a:p>
          <a:p>
            <a:pPr>
              <a:defRPr sz="1100">
                <a:solidFill>
                  <a:srgbClr val="0F172A"/>
                </a:solidFill>
              </a:defRPr>
            </a:pPr>
            <a:r>
              <a:t>3. Task 3: Speaker-Independent Splits</a:t>
            </a:r>
          </a:p>
          <a:p>
            <a:pPr>
              <a:defRPr sz="1100">
                <a:solidFill>
                  <a:srgbClr val="0F172A"/>
                </a:solidFill>
              </a:defRPr>
            </a:pPr>
            <a:r>
              <a:t>   - Traditional stratified splits allow the model to memorize speaker vocal tract traits.</a:t>
            </a:r>
          </a:p>
          <a:p>
            <a:pPr>
              <a:defRPr sz="1100">
                <a:solidFill>
                  <a:srgbClr val="0F172A"/>
                </a:solidFill>
              </a:defRPr>
            </a:pPr>
            <a:r>
              <a:t>   - Partition datasets by speaker ID so test speakers are completely unseen.</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TextBox 1"/>
          <p:cNvSpPr txBox="1"/>
          <p:nvPr/>
        </p:nvSpPr>
        <p:spPr>
          <a:xfrm>
            <a:off x="731520" y="365760"/>
            <a:ext cx="10515600" cy="365760"/>
          </a:xfrm>
          <a:prstGeom prst="rect">
            <a:avLst/>
          </a:prstGeom>
          <a:noFill/>
        </p:spPr>
        <p:txBody>
          <a:bodyPr wrap="square">
            <a:spAutoFit/>
          </a:bodyPr>
          <a:lstStyle/>
          <a:p>
            <a:pPr>
              <a:defRPr sz="1000" b="1">
                <a:solidFill>
                  <a:srgbClr val="0E7490"/>
                </a:solidFill>
              </a:defRPr>
            </a:pPr>
            <a:r>
              <a:t>SPEECH EMOTION RECOGNITION • WEEK 4</a:t>
            </a:r>
          </a:p>
        </p:txBody>
      </p:sp>
      <p:sp>
        <p:nvSpPr>
          <p:cNvPr id="3" name="TextBox 2"/>
          <p:cNvSpPr txBox="1"/>
          <p:nvPr/>
        </p:nvSpPr>
        <p:spPr>
          <a:xfrm>
            <a:off x="731520" y="640080"/>
            <a:ext cx="10515600" cy="731520"/>
          </a:xfrm>
          <a:prstGeom prst="rect">
            <a:avLst/>
          </a:prstGeom>
          <a:noFill/>
        </p:spPr>
        <p:txBody>
          <a:bodyPr wrap="square">
            <a:spAutoFit/>
          </a:bodyPr>
          <a:lstStyle/>
          <a:p>
            <a:pPr>
              <a:defRPr sz="2400" b="1">
                <a:solidFill>
                  <a:srgbClr val="1E3A8A"/>
                </a:solidFill>
              </a:defRPr>
            </a:pPr>
            <a:r>
              <a:t>Pipeline Architecture &amp; Week 4 Additions</a:t>
            </a:r>
          </a:p>
        </p:txBody>
      </p:sp>
      <p:sp>
        <p:nvSpPr>
          <p:cNvPr id="4" name="Rounded Rectangle 3"/>
          <p:cNvSpPr/>
          <p:nvPr/>
        </p:nvSpPr>
        <p:spPr>
          <a:xfrm>
            <a:off x="731520" y="1554480"/>
            <a:ext cx="3383280" cy="4754880"/>
          </a:xfrm>
          <a:prstGeom prst="roundRect">
            <a:avLst/>
          </a:prstGeom>
          <a:solidFill>
            <a:srgbClr val="FFFFFF"/>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14400" y="1691640"/>
            <a:ext cx="3017520" cy="457200"/>
          </a:xfrm>
          <a:prstGeom prst="rect">
            <a:avLst/>
          </a:prstGeom>
          <a:noFill/>
        </p:spPr>
        <p:txBody>
          <a:bodyPr wrap="none">
            <a:spAutoFit/>
          </a:bodyPr>
          <a:lstStyle/>
          <a:p>
            <a:pPr>
              <a:defRPr sz="1400" b="1">
                <a:solidFill>
                  <a:srgbClr val="1E3A8A"/>
                </a:solidFill>
              </a:defRPr>
            </a:pPr>
            <a:r>
              <a:t>1. Multi-Corpus Loader</a:t>
            </a:r>
          </a:p>
        </p:txBody>
      </p:sp>
      <p:sp>
        <p:nvSpPr>
          <p:cNvPr id="6" name="TextBox 5"/>
          <p:cNvSpPr txBox="1"/>
          <p:nvPr/>
        </p:nvSpPr>
        <p:spPr>
          <a:xfrm>
            <a:off x="914400" y="2103120"/>
            <a:ext cx="3017520" cy="4023360"/>
          </a:xfrm>
          <a:prstGeom prst="rect">
            <a:avLst/>
          </a:prstGeom>
          <a:noFill/>
        </p:spPr>
        <p:txBody>
          <a:bodyPr wrap="square">
            <a:spAutoFit/>
          </a:bodyPr>
          <a:lstStyle/>
          <a:p>
            <a:pPr>
              <a:defRPr sz="1100">
                <a:solidFill>
                  <a:srgbClr val="0F172A"/>
                </a:solidFill>
              </a:defRPr>
            </a:pPr>
            <a:r>
              <a:t>• Unified Data Engine:</a:t>
            </a:r>
          </a:p>
          <a:p>
            <a:pPr>
              <a:defRPr sz="1100">
                <a:solidFill>
                  <a:srgbClr val="0F172A"/>
                </a:solidFill>
              </a:defRPr>
            </a:pPr>
            <a:r>
              <a:t>  - Ingestion for 4 datasets (EmoDB, CAFE, AESDD, MESD).</a:t>
            </a:r>
          </a:p>
          <a:p>
            <a:pPr>
              <a:defRPr sz="1100">
                <a:solidFill>
                  <a:srgbClr val="0F172A"/>
                </a:solidFill>
              </a:defRPr>
            </a:pPr>
            <a:r>
              <a:t>  - Resampling to 16 kHz mono.</a:t>
            </a:r>
          </a:p>
          <a:p>
            <a:pPr>
              <a:defRPr sz="1100">
                <a:solidFill>
                  <a:srgbClr val="0F172A"/>
                </a:solidFill>
              </a:defRPr>
            </a:pPr>
            <a:r>
              <a:t>  - Metadata tables logging emotion, speaker, language, duration.</a:t>
            </a:r>
          </a:p>
          <a:p>
            <a:pPr>
              <a:defRPr sz="1100">
                <a:solidFill>
                  <a:srgbClr val="0F172A"/>
                </a:solidFill>
              </a:defRPr>
            </a:pPr>
          </a:p>
          <a:p>
            <a:pPr>
              <a:defRPr sz="1100">
                <a:solidFill>
                  <a:srgbClr val="0F172A"/>
                </a:solidFill>
              </a:defRPr>
            </a:pPr>
            <a:r>
              <a:t>• Quality &amp; Sanity:</a:t>
            </a:r>
          </a:p>
          <a:p>
            <a:pPr>
              <a:defRPr sz="1100">
                <a:solidFill>
                  <a:srgbClr val="0F172A"/>
                </a:solidFill>
              </a:defRPr>
            </a:pPr>
            <a:r>
              <a:t>  - Verified zero corrupt files (filtered corrupted 36-byte AESDD sample).</a:t>
            </a:r>
          </a:p>
          <a:p>
            <a:pPr>
              <a:defRPr sz="1100">
                <a:solidFill>
                  <a:srgbClr val="0F172A"/>
                </a:solidFill>
              </a:defRPr>
            </a:pPr>
            <a:r>
              <a:t>  - Verified zero NaNs/Infs.</a:t>
            </a:r>
          </a:p>
          <a:p>
            <a:pPr>
              <a:defRPr sz="1100">
                <a:solidFill>
                  <a:srgbClr val="0F172A"/>
                </a:solidFill>
              </a:defRPr>
            </a:pPr>
            <a:r>
              <a:t>  - Standardized label encoding (5, 6, 7 classes).</a:t>
            </a:r>
          </a:p>
        </p:txBody>
      </p:sp>
      <p:sp>
        <p:nvSpPr>
          <p:cNvPr id="7" name="Rounded Rectangle 6"/>
          <p:cNvSpPr/>
          <p:nvPr/>
        </p:nvSpPr>
        <p:spPr>
          <a:xfrm>
            <a:off x="4389120" y="1554480"/>
            <a:ext cx="3383280" cy="4754880"/>
          </a:xfrm>
          <a:prstGeom prst="roundRect">
            <a:avLst/>
          </a:prstGeom>
          <a:solidFill>
            <a:srgbClr val="FFFFFF"/>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572000" y="1691640"/>
            <a:ext cx="3017520" cy="457200"/>
          </a:xfrm>
          <a:prstGeom prst="rect">
            <a:avLst/>
          </a:prstGeom>
          <a:noFill/>
        </p:spPr>
        <p:txBody>
          <a:bodyPr wrap="none">
            <a:spAutoFit/>
          </a:bodyPr>
          <a:lstStyle/>
          <a:p>
            <a:pPr>
              <a:defRPr sz="1400" b="1">
                <a:solidFill>
                  <a:srgbClr val="1E3A8A"/>
                </a:solidFill>
              </a:defRPr>
            </a:pPr>
            <a:r>
              <a:t>2. 144-Input Implementations</a:t>
            </a:r>
          </a:p>
        </p:txBody>
      </p:sp>
      <p:sp>
        <p:nvSpPr>
          <p:cNvPr id="9" name="TextBox 8"/>
          <p:cNvSpPr txBox="1"/>
          <p:nvPr/>
        </p:nvSpPr>
        <p:spPr>
          <a:xfrm>
            <a:off x="4572000" y="2103120"/>
            <a:ext cx="3017520" cy="4023360"/>
          </a:xfrm>
          <a:prstGeom prst="rect">
            <a:avLst/>
          </a:prstGeom>
          <a:noFill/>
        </p:spPr>
        <p:txBody>
          <a:bodyPr wrap="square">
            <a:spAutoFit/>
          </a:bodyPr>
          <a:lstStyle/>
          <a:p>
            <a:pPr>
              <a:defRPr sz="1100">
                <a:solidFill>
                  <a:srgbClr val="0F172A"/>
                </a:solidFill>
              </a:defRPr>
            </a:pPr>
            <a:r>
              <a:t>• Representation Options:</a:t>
            </a:r>
          </a:p>
          <a:p>
            <a:pPr>
              <a:defRPr sz="1100">
                <a:solidFill>
                  <a:srgbClr val="0F172A"/>
                </a:solidFill>
              </a:defRPr>
            </a:pPr>
            <a:r>
              <a:t>  - Baseline: (24, 48, 60, 1) pooled mean + std.</a:t>
            </a:r>
          </a:p>
          <a:p>
            <a:pPr>
              <a:defRPr sz="1100">
                <a:solidFill>
                  <a:srgbClr val="0F172A"/>
                </a:solidFill>
              </a:defRPr>
            </a:pPr>
            <a:r>
              <a:t>  - frames144: (144, n_coeff) temporal STFT sequence.</a:t>
            </a:r>
          </a:p>
          <a:p>
            <a:pPr>
              <a:defRPr sz="1100">
                <a:solidFill>
                  <a:srgbClr val="0F172A"/>
                </a:solidFill>
              </a:defRPr>
            </a:pPr>
            <a:r>
              <a:t>  - stats144: (144, 1) multi-stream static + delta + delta-delta vector.</a:t>
            </a:r>
          </a:p>
          <a:p>
            <a:pPr>
              <a:defRPr sz="1100">
                <a:solidFill>
                  <a:srgbClr val="0F172A"/>
                </a:solidFill>
              </a:defRPr>
            </a:pPr>
          </a:p>
          <a:p>
            <a:pPr>
              <a:defRPr sz="1100">
                <a:solidFill>
                  <a:srgbClr val="0F172A"/>
                </a:solidFill>
              </a:defRPr>
            </a:pPr>
            <a:r>
              <a:t>• Conv1D Adaptations:</a:t>
            </a:r>
          </a:p>
          <a:p>
            <a:pPr>
              <a:defRPr sz="1100">
                <a:solidFill>
                  <a:srgbClr val="0F172A"/>
                </a:solidFill>
              </a:defRPr>
            </a:pPr>
            <a:r>
              <a:t>  - Flexible input shape (144, C) or (D, 1).</a:t>
            </a:r>
          </a:p>
          <a:p>
            <a:pPr>
              <a:defRPr sz="1100">
                <a:solidFill>
                  <a:srgbClr val="0F172A"/>
                </a:solidFill>
              </a:defRPr>
            </a:pPr>
            <a:r>
              <a:t>  - Kernel size 15 across temporal frames spans ~240 ms context.</a:t>
            </a:r>
          </a:p>
          <a:p>
            <a:pPr>
              <a:defRPr sz="1100">
                <a:solidFill>
                  <a:srgbClr val="0F172A"/>
                </a:solidFill>
              </a:defRPr>
            </a:pPr>
            <a:r>
              <a:t>  - Same padding preserves temporal tracking.</a:t>
            </a:r>
          </a:p>
        </p:txBody>
      </p:sp>
      <p:sp>
        <p:nvSpPr>
          <p:cNvPr id="10" name="Rounded Rectangle 9"/>
          <p:cNvSpPr/>
          <p:nvPr/>
        </p:nvSpPr>
        <p:spPr>
          <a:xfrm>
            <a:off x="8046720" y="1554480"/>
            <a:ext cx="3383280" cy="4754880"/>
          </a:xfrm>
          <a:prstGeom prst="roundRect">
            <a:avLst/>
          </a:prstGeom>
          <a:solidFill>
            <a:srgbClr val="FFFFFF"/>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229600" y="1691640"/>
            <a:ext cx="3017520" cy="457200"/>
          </a:xfrm>
          <a:prstGeom prst="rect">
            <a:avLst/>
          </a:prstGeom>
          <a:noFill/>
        </p:spPr>
        <p:txBody>
          <a:bodyPr wrap="none">
            <a:spAutoFit/>
          </a:bodyPr>
          <a:lstStyle/>
          <a:p>
            <a:pPr>
              <a:defRPr sz="1400" b="1">
                <a:solidFill>
                  <a:srgbClr val="1E3A8A"/>
                </a:solidFill>
              </a:defRPr>
            </a:pPr>
            <a:r>
              <a:t>3. Leak-Free Guardrails</a:t>
            </a:r>
          </a:p>
        </p:txBody>
      </p:sp>
      <p:sp>
        <p:nvSpPr>
          <p:cNvPr id="12" name="TextBox 11"/>
          <p:cNvSpPr txBox="1"/>
          <p:nvPr/>
        </p:nvSpPr>
        <p:spPr>
          <a:xfrm>
            <a:off x="8229600" y="2103120"/>
            <a:ext cx="3017520" cy="4023360"/>
          </a:xfrm>
          <a:prstGeom prst="rect">
            <a:avLst/>
          </a:prstGeom>
          <a:noFill/>
        </p:spPr>
        <p:txBody>
          <a:bodyPr wrap="square">
            <a:spAutoFit/>
          </a:bodyPr>
          <a:lstStyle/>
          <a:p>
            <a:pPr>
              <a:defRPr sz="1100">
                <a:solidFill>
                  <a:srgbClr val="0F172A"/>
                </a:solidFill>
              </a:defRPr>
            </a:pPr>
            <a:r>
              <a:t>• Zero-Leakage Splitting:</a:t>
            </a:r>
          </a:p>
          <a:p>
            <a:pPr>
              <a:defRPr sz="1100">
                <a:solidFill>
                  <a:srgbClr val="0F172A"/>
                </a:solidFill>
              </a:defRPr>
            </a:pPr>
            <a:r>
              <a:t>  - Stratified 60/20/20.</a:t>
            </a:r>
          </a:p>
          <a:p>
            <a:pPr>
              <a:defRPr sz="1100">
                <a:solidFill>
                  <a:srgbClr val="0F172A"/>
                </a:solidFill>
              </a:defRPr>
            </a:pPr>
            <a:r>
              <a:t>  - Speaker-Independent: GroupKFold ensuring 0% speaker overlap.</a:t>
            </a:r>
          </a:p>
          <a:p>
            <a:pPr>
              <a:defRPr sz="1100">
                <a:solidFill>
                  <a:srgbClr val="0F172A"/>
                </a:solidFill>
              </a:defRPr>
            </a:pPr>
          </a:p>
          <a:p>
            <a:pPr>
              <a:defRPr sz="1100">
                <a:solidFill>
                  <a:srgbClr val="0F172A"/>
                </a:solidFill>
              </a:defRPr>
            </a:pPr>
            <a:r>
              <a:t>• Proper Preprocessing:</a:t>
            </a:r>
          </a:p>
          <a:p>
            <a:pPr>
              <a:defRPr sz="1100">
                <a:solidFill>
                  <a:srgbClr val="0F172A"/>
                </a:solidFill>
              </a:defRPr>
            </a:pPr>
            <a:r>
              <a:t>  - StandardScaler fitted ONLY on training split.</a:t>
            </a:r>
          </a:p>
          <a:p>
            <a:pPr>
              <a:defRPr sz="1100">
                <a:solidFill>
                  <a:srgbClr val="0F172A"/>
                </a:solidFill>
              </a:defRPr>
            </a:pPr>
            <a:r>
              <a:t>  - Augmentation applied ONLY to training audio.</a:t>
            </a:r>
          </a:p>
          <a:p>
            <a:pPr>
              <a:defRPr sz="1100">
                <a:solidFill>
                  <a:srgbClr val="0F172A"/>
                </a:solidFill>
              </a:defRPr>
            </a:pPr>
            <a:r>
              <a:t>  - Val and test sets remain clean original clips.</a:t>
            </a:r>
          </a:p>
          <a:p>
            <a:pPr>
              <a:defRPr sz="1100">
                <a:solidFill>
                  <a:srgbClr val="0F172A"/>
                </a:solidFill>
              </a:defRPr>
            </a:pPr>
            <a:r>
              <a:t>  - Single-pass test evaluation on frozen checkpoint.</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TextBox 1"/>
          <p:cNvSpPr txBox="1"/>
          <p:nvPr/>
        </p:nvSpPr>
        <p:spPr>
          <a:xfrm>
            <a:off x="731520" y="365760"/>
            <a:ext cx="10515600" cy="365760"/>
          </a:xfrm>
          <a:prstGeom prst="rect">
            <a:avLst/>
          </a:prstGeom>
          <a:noFill/>
        </p:spPr>
        <p:txBody>
          <a:bodyPr wrap="square">
            <a:spAutoFit/>
          </a:bodyPr>
          <a:lstStyle/>
          <a:p>
            <a:pPr>
              <a:defRPr sz="1000" b="1">
                <a:solidFill>
                  <a:srgbClr val="0E7490"/>
                </a:solidFill>
              </a:defRPr>
            </a:pPr>
            <a:r>
              <a:t>SPEECH EMOTION RECOGNITION • WEEK 4</a:t>
            </a:r>
          </a:p>
        </p:txBody>
      </p:sp>
      <p:sp>
        <p:nvSpPr>
          <p:cNvPr id="3" name="TextBox 2"/>
          <p:cNvSpPr txBox="1"/>
          <p:nvPr/>
        </p:nvSpPr>
        <p:spPr>
          <a:xfrm>
            <a:off x="731520" y="640080"/>
            <a:ext cx="10515600" cy="731520"/>
          </a:xfrm>
          <a:prstGeom prst="rect">
            <a:avLst/>
          </a:prstGeom>
          <a:noFill/>
        </p:spPr>
        <p:txBody>
          <a:bodyPr wrap="square">
            <a:spAutoFit/>
          </a:bodyPr>
          <a:lstStyle/>
          <a:p>
            <a:pPr>
              <a:defRPr sz="2400" b="1">
                <a:solidFill>
                  <a:srgbClr val="1E3A8A"/>
                </a:solidFill>
              </a:defRPr>
            </a:pPr>
            <a:r>
              <a:t>Task 1: Dissecting the 144-Input Representation Gap</a:t>
            </a:r>
          </a:p>
        </p:txBody>
      </p:sp>
      <p:sp>
        <p:nvSpPr>
          <p:cNvPr id="4" name="Rounded Rectangle 3"/>
          <p:cNvSpPr/>
          <p:nvPr/>
        </p:nvSpPr>
        <p:spPr>
          <a:xfrm>
            <a:off x="731520" y="1554480"/>
            <a:ext cx="5120640" cy="4754880"/>
          </a:xfrm>
          <a:prstGeom prst="roundRect">
            <a:avLst/>
          </a:prstGeom>
          <a:solidFill>
            <a:srgbClr val="FFFFFF"/>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14400" y="1691640"/>
            <a:ext cx="4754880" cy="457200"/>
          </a:xfrm>
          <a:prstGeom prst="rect">
            <a:avLst/>
          </a:prstGeom>
          <a:noFill/>
        </p:spPr>
        <p:txBody>
          <a:bodyPr wrap="none">
            <a:spAutoFit/>
          </a:bodyPr>
          <a:lstStyle/>
          <a:p>
            <a:pPr>
              <a:defRPr sz="1400" b="1">
                <a:solidFill>
                  <a:srgbClr val="1E3A8A"/>
                </a:solidFill>
              </a:defRPr>
            </a:pPr>
            <a:r>
              <a:t>Paper Textual Evidence &amp; Ambiguities</a:t>
            </a:r>
          </a:p>
        </p:txBody>
      </p:sp>
      <p:sp>
        <p:nvSpPr>
          <p:cNvPr id="6" name="TextBox 5"/>
          <p:cNvSpPr txBox="1"/>
          <p:nvPr/>
        </p:nvSpPr>
        <p:spPr>
          <a:xfrm>
            <a:off x="914400" y="2103120"/>
            <a:ext cx="4754880" cy="4023360"/>
          </a:xfrm>
          <a:prstGeom prst="rect">
            <a:avLst/>
          </a:prstGeom>
          <a:noFill/>
        </p:spPr>
        <p:txBody>
          <a:bodyPr wrap="square">
            <a:spAutoFit/>
          </a:bodyPr>
          <a:lstStyle/>
          <a:p>
            <a:pPr>
              <a:defRPr sz="1100">
                <a:solidFill>
                  <a:srgbClr val="0F172A"/>
                </a:solidFill>
              </a:defRPr>
            </a:pPr>
            <a:r>
              <a:t>• Exact Paper Phrasing:</a:t>
            </a:r>
          </a:p>
          <a:p>
            <a:pPr>
              <a:defRPr sz="1100">
                <a:solidFill>
                  <a:srgbClr val="0F172A"/>
                </a:solidFill>
              </a:defRPr>
            </a:pPr>
            <a:r>
              <a:t>  'One hundred forty-four feature vectors as input data for our CNN\'s first layer.'</a:t>
            </a:r>
          </a:p>
          <a:p>
            <a:pPr>
              <a:defRPr sz="1100">
                <a:solidFill>
                  <a:srgbClr val="0F172A"/>
                </a:solidFill>
              </a:defRPr>
            </a:pPr>
          </a:p>
          <a:p>
            <a:pPr>
              <a:defRPr sz="1100">
                <a:solidFill>
                  <a:srgbClr val="0F172A"/>
                </a:solidFill>
              </a:defRPr>
            </a:pPr>
            <a:r>
              <a:t>• Key Observations &amp; Ambiguities:</a:t>
            </a:r>
          </a:p>
          <a:p>
            <a:pPr>
              <a:defRPr sz="1100">
                <a:solidFill>
                  <a:srgbClr val="0F172A"/>
                </a:solidFill>
              </a:defRPr>
            </a:pPr>
            <a:r>
              <a:t>  1. The authors use the plural 'feature vectors', implying a 2D matrix (T frames x C channels) rather than a single 1D vector.</a:t>
            </a:r>
          </a:p>
          <a:p>
            <a:pPr>
              <a:defRPr sz="1100">
                <a:solidFill>
                  <a:srgbClr val="0F172A"/>
                </a:solidFill>
              </a:defRPr>
            </a:pPr>
            <a:r>
              <a:t>  2. In speech processing, Conv1D with kernel size 15 makes physical sense along the time dimension (spanning ~240 ms of speech), whereas across a 24-element global summary vector, kernel 15 covers 62.5% of the entire representation in a single hop!</a:t>
            </a:r>
          </a:p>
          <a:p>
            <a:pPr>
              <a:defRPr sz="1100">
                <a:solidFill>
                  <a:srgbClr val="0F172A"/>
                </a:solidFill>
              </a:defRPr>
            </a:pPr>
            <a:r>
              <a:t>  3. However, the paper never specifies the audio clip duration, STFT hop size, or framing required to yield exactly 144 frames.</a:t>
            </a:r>
          </a:p>
        </p:txBody>
      </p:sp>
      <p:sp>
        <p:nvSpPr>
          <p:cNvPr id="7" name="Rounded Rectangle 6"/>
          <p:cNvSpPr/>
          <p:nvPr/>
        </p:nvSpPr>
        <p:spPr>
          <a:xfrm>
            <a:off x="6217920" y="1554480"/>
            <a:ext cx="5212080" cy="4754880"/>
          </a:xfrm>
          <a:prstGeom prst="roundRect">
            <a:avLst/>
          </a:prstGeom>
          <a:solidFill>
            <a:srgbClr val="FFFFFF"/>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400800" y="1691640"/>
            <a:ext cx="4846320" cy="457200"/>
          </a:xfrm>
          <a:prstGeom prst="rect">
            <a:avLst/>
          </a:prstGeom>
          <a:noFill/>
        </p:spPr>
        <p:txBody>
          <a:bodyPr wrap="none">
            <a:spAutoFit/>
          </a:bodyPr>
          <a:lstStyle/>
          <a:p>
            <a:pPr>
              <a:defRPr sz="1400" b="1">
                <a:solidFill>
                  <a:srgbClr val="1E3A8A"/>
                </a:solidFill>
              </a:defRPr>
            </a:pPr>
            <a:r>
              <a:t>Two Grounded Interpretations Implemented</a:t>
            </a:r>
          </a:p>
        </p:txBody>
      </p:sp>
      <p:sp>
        <p:nvSpPr>
          <p:cNvPr id="9" name="TextBox 8"/>
          <p:cNvSpPr txBox="1"/>
          <p:nvPr/>
        </p:nvSpPr>
        <p:spPr>
          <a:xfrm>
            <a:off x="6400800" y="2103120"/>
            <a:ext cx="4846320" cy="4023360"/>
          </a:xfrm>
          <a:prstGeom prst="rect">
            <a:avLst/>
          </a:prstGeom>
          <a:noFill/>
        </p:spPr>
        <p:txBody>
          <a:bodyPr wrap="square">
            <a:spAutoFit/>
          </a:bodyPr>
          <a:lstStyle/>
          <a:p>
            <a:pPr>
              <a:defRPr sz="1100">
                <a:solidFill>
                  <a:srgbClr val="0F172A"/>
                </a:solidFill>
              </a:defRPr>
            </a:pPr>
            <a:r>
              <a:t>• Interpretation 1: 'frames144' (Temporal Sequence)</a:t>
            </a:r>
          </a:p>
          <a:p>
            <a:pPr>
              <a:defRPr sz="1100">
                <a:solidFill>
                  <a:srgbClr val="0F172A"/>
                </a:solidFill>
              </a:defRPr>
            </a:pPr>
            <a:r>
              <a:t>  - Representation: Matrix of shape (144, n_coeff).</a:t>
            </a:r>
          </a:p>
          <a:p>
            <a:pPr>
              <a:defRPr sz="1100">
                <a:solidFill>
                  <a:srgbClr val="0F172A"/>
                </a:solidFill>
              </a:defRPr>
            </a:pPr>
            <a:r>
              <a:t>  - Construction: Audio fixed to 2.3 seconds (or center-cropped/padded) at 16 kHz with hop length 256 samples (16 ms) -&gt; exactly 144 frames.</a:t>
            </a:r>
          </a:p>
          <a:p>
            <a:pPr>
              <a:defRPr sz="1100">
                <a:solidFill>
                  <a:srgbClr val="0F172A"/>
                </a:solidFill>
              </a:defRPr>
            </a:pPr>
            <a:r>
              <a:t>  - Conv1D slides over time; 4 pooling layers reduce time: 144 -&gt; 72 -&gt; 36 -&gt; 18 -&gt; 9. Flatten layer yields 9 x 64 = 576 units into Dense(120).</a:t>
            </a:r>
          </a:p>
          <a:p>
            <a:pPr>
              <a:defRPr sz="1100">
                <a:solidFill>
                  <a:srgbClr val="0F172A"/>
                </a:solidFill>
              </a:defRPr>
            </a:pPr>
          </a:p>
          <a:p>
            <a:pPr>
              <a:defRPr sz="1100">
                <a:solidFill>
                  <a:srgbClr val="0F172A"/>
                </a:solidFill>
              </a:defRPr>
            </a:pPr>
            <a:r>
              <a:t>• Interpretation 2: 'stats144' (Multi-Stream Statistics)</a:t>
            </a:r>
          </a:p>
          <a:p>
            <a:pPr>
              <a:defRPr sz="1100">
                <a:solidFill>
                  <a:srgbClr val="0F172A"/>
                </a:solidFill>
              </a:defRPr>
            </a:pPr>
            <a:r>
              <a:t>  - Representation: 1D vector of shape (144, 1).</a:t>
            </a:r>
          </a:p>
          <a:p>
            <a:pPr>
              <a:defRPr sz="1100">
                <a:solidFill>
                  <a:srgbClr val="0F172A"/>
                </a:solidFill>
              </a:defRPr>
            </a:pPr>
            <a:r>
              <a:t>  - Construction: Static + Delta + Delta-Delta trajectories across coefficients, summarized via statistical moments (mean, std, min, max).</a:t>
            </a:r>
          </a:p>
          <a:p>
            <a:pPr>
              <a:defRPr sz="1100">
                <a:solidFill>
                  <a:srgbClr val="0F172A"/>
                </a:solidFill>
              </a:defRPr>
            </a:pPr>
            <a:r>
              <a:t>  - For 24 coeffs: 24 x 3 streams x 2 stats = 144 features.</a:t>
            </a:r>
          </a:p>
          <a:p>
            <a:pPr>
              <a:defRPr sz="1100">
                <a:solidFill>
                  <a:srgbClr val="0F172A"/>
                </a:solidFill>
              </a:defRPr>
            </a:pPr>
            <a:r>
              <a:t>  - For 12 coeffs: 12 x 3 streams x 4 stats = 144 features.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TextBox 1"/>
          <p:cNvSpPr txBox="1"/>
          <p:nvPr/>
        </p:nvSpPr>
        <p:spPr>
          <a:xfrm>
            <a:off x="731520" y="365760"/>
            <a:ext cx="10515600" cy="365760"/>
          </a:xfrm>
          <a:prstGeom prst="rect">
            <a:avLst/>
          </a:prstGeom>
          <a:noFill/>
        </p:spPr>
        <p:txBody>
          <a:bodyPr wrap="square">
            <a:spAutoFit/>
          </a:bodyPr>
          <a:lstStyle/>
          <a:p>
            <a:pPr>
              <a:defRPr sz="1000" b="1">
                <a:solidFill>
                  <a:srgbClr val="0E7490"/>
                </a:solidFill>
              </a:defRPr>
            </a:pPr>
            <a:r>
              <a:t>SPEECH EMOTION RECOGNITION • WEEK 4</a:t>
            </a:r>
          </a:p>
        </p:txBody>
      </p:sp>
      <p:sp>
        <p:nvSpPr>
          <p:cNvPr id="3" name="TextBox 2"/>
          <p:cNvSpPr txBox="1"/>
          <p:nvPr/>
        </p:nvSpPr>
        <p:spPr>
          <a:xfrm>
            <a:off x="731520" y="640080"/>
            <a:ext cx="10515600" cy="731520"/>
          </a:xfrm>
          <a:prstGeom prst="rect">
            <a:avLst/>
          </a:prstGeom>
          <a:noFill/>
        </p:spPr>
        <p:txBody>
          <a:bodyPr wrap="square">
            <a:spAutoFit/>
          </a:bodyPr>
          <a:lstStyle/>
          <a:p>
            <a:pPr>
              <a:defRPr sz="2400" b="1">
                <a:solidFill>
                  <a:srgbClr val="1E3A8A"/>
                </a:solidFill>
              </a:defRPr>
            </a:pPr>
            <a:r>
              <a:t>Task 1 Results: Does 144 Inputs Bridge the Gap?</a:t>
            </a:r>
          </a:p>
        </p:txBody>
      </p:sp>
      <p:sp>
        <p:nvSpPr>
          <p:cNvPr id="4" name="Rounded Rectangle 3"/>
          <p:cNvSpPr/>
          <p:nvPr/>
        </p:nvSpPr>
        <p:spPr>
          <a:xfrm>
            <a:off x="731520" y="1554480"/>
            <a:ext cx="5120640" cy="4754880"/>
          </a:xfrm>
          <a:prstGeom prst="roundRect">
            <a:avLst/>
          </a:prstGeom>
          <a:solidFill>
            <a:srgbClr val="FFFFFF"/>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14400" y="1691640"/>
            <a:ext cx="4754880" cy="457200"/>
          </a:xfrm>
          <a:prstGeom prst="rect">
            <a:avLst/>
          </a:prstGeom>
          <a:noFill/>
        </p:spPr>
        <p:txBody>
          <a:bodyPr wrap="none">
            <a:spAutoFit/>
          </a:bodyPr>
          <a:lstStyle/>
          <a:p>
            <a:pPr>
              <a:defRPr sz="1400" b="1">
                <a:solidFill>
                  <a:srgbClr val="1E3A8A"/>
                </a:solidFill>
              </a:defRPr>
            </a:pPr>
            <a:r>
              <a:t>Empirical Findings on EmoDB</a:t>
            </a:r>
          </a:p>
        </p:txBody>
      </p:sp>
      <p:sp>
        <p:nvSpPr>
          <p:cNvPr id="6" name="TextBox 5"/>
          <p:cNvSpPr txBox="1"/>
          <p:nvPr/>
        </p:nvSpPr>
        <p:spPr>
          <a:xfrm>
            <a:off x="914400" y="2103120"/>
            <a:ext cx="4754880" cy="4023360"/>
          </a:xfrm>
          <a:prstGeom prst="rect">
            <a:avLst/>
          </a:prstGeom>
          <a:noFill/>
        </p:spPr>
        <p:txBody>
          <a:bodyPr wrap="square">
            <a:spAutoFit/>
          </a:bodyPr>
          <a:lstStyle/>
          <a:p>
            <a:pPr>
              <a:defRPr sz="1100">
                <a:solidFill>
                  <a:srgbClr val="0F172A"/>
                </a:solidFill>
              </a:defRPr>
            </a:pPr>
            <a:r>
              <a:t>• Does 144 Inputs Close the Gap? NO.</a:t>
            </a:r>
          </a:p>
          <a:p>
            <a:pPr>
              <a:defRPr sz="1100">
                <a:solidFill>
                  <a:srgbClr val="0F172A"/>
                </a:solidFill>
              </a:defRPr>
            </a:pPr>
            <a:r>
              <a:t>  - In fact, the temporal frames144 format performs significantly WORSE than our 24/48/60 baseline.</a:t>
            </a:r>
          </a:p>
          <a:p>
            <a:pPr>
              <a:defRPr sz="1100">
                <a:solidFill>
                  <a:srgbClr val="0F172A"/>
                </a:solidFill>
              </a:defRPr>
            </a:pPr>
          </a:p>
          <a:p>
            <a:pPr>
              <a:defRPr sz="1100">
                <a:solidFill>
                  <a:srgbClr val="0F172A"/>
                </a:solidFill>
              </a:defRPr>
            </a:pPr>
            <a:r>
              <a:t>• Quantitative Comparison (MFCC, None, Stratified):</a:t>
            </a:r>
          </a:p>
          <a:p>
            <a:pPr>
              <a:defRPr sz="1100">
                <a:solidFill>
                  <a:srgbClr val="0F172A"/>
                </a:solidFill>
              </a:defRPr>
            </a:pPr>
            <a:r>
              <a:t>  - 12 Coeffs Baseline (24-dim): 64.2% ± 4.4%</a:t>
            </a:r>
          </a:p>
          <a:p>
            <a:pPr>
              <a:defRPr sz="1100">
                <a:solidFill>
                  <a:srgbClr val="0F172A"/>
                </a:solidFill>
              </a:defRPr>
            </a:pPr>
            <a:r>
              <a:t>  - 12 Coeffs frames144 (144x12): 56.4% ± 2.0% (Drop: -7.8%)</a:t>
            </a:r>
          </a:p>
          <a:p>
            <a:pPr>
              <a:defRPr sz="1100">
                <a:solidFill>
                  <a:srgbClr val="0F172A"/>
                </a:solidFill>
              </a:defRPr>
            </a:pPr>
            <a:r>
              <a:t>  - 24 Coeffs Baseline (48-dim): 70.1% ± 3.8%</a:t>
            </a:r>
          </a:p>
          <a:p>
            <a:pPr>
              <a:defRPr sz="1100">
                <a:solidFill>
                  <a:srgbClr val="0F172A"/>
                </a:solidFill>
              </a:defRPr>
            </a:pPr>
            <a:r>
              <a:t>  - 24 Coeffs frames144 (144x24): 54.8% ± 5.2% (Drop: -15.3%)</a:t>
            </a:r>
          </a:p>
          <a:p>
            <a:pPr>
              <a:defRPr sz="1100">
                <a:solidFill>
                  <a:srgbClr val="0F172A"/>
                </a:solidFill>
              </a:defRPr>
            </a:pPr>
          </a:p>
          <a:p>
            <a:pPr>
              <a:defRPr sz="1100">
                <a:solidFill>
                  <a:srgbClr val="0F172A"/>
                </a:solidFill>
              </a:defRPr>
            </a:pPr>
            <a:r>
              <a:t>• Why Does frames144 Degrade Performance?</a:t>
            </a:r>
          </a:p>
          <a:p>
            <a:pPr>
              <a:defRPr sz="1100">
                <a:solidFill>
                  <a:srgbClr val="0F172A"/>
                </a:solidFill>
              </a:defRPr>
            </a:pPr>
            <a:r>
              <a:t>  - Severe Overfitting: Without global pooling, the model has 576 units feeding into Dense(120).</a:t>
            </a:r>
          </a:p>
          <a:p>
            <a:pPr>
              <a:defRPr sz="1100">
                <a:solidFill>
                  <a:srgbClr val="0F172A"/>
                </a:solidFill>
              </a:defRPr>
            </a:pPr>
            <a:r>
              <a:t>  - On small datasets (321 training clips), Conv1D rapidly memorizes exact frame sequences, reaching 100% training accuracy within 15 epochs while validation diverges.</a:t>
            </a:r>
          </a:p>
          <a:p>
            <a:pPr>
              <a:defRPr sz="1100">
                <a:solidFill>
                  <a:srgbClr val="0F172A"/>
                </a:solidFill>
              </a:defRPr>
            </a:pPr>
            <a:r>
              <a:t>  - Baseline summary statistics (mean+std) provide implicit temporal regularization.</a:t>
            </a:r>
          </a:p>
        </p:txBody>
      </p:sp>
      <p:sp>
        <p:nvSpPr>
          <p:cNvPr id="7" name="Rounded Rectangle 6"/>
          <p:cNvSpPr/>
          <p:nvPr/>
        </p:nvSpPr>
        <p:spPr>
          <a:xfrm>
            <a:off x="6217920" y="1554480"/>
            <a:ext cx="5212080" cy="4754880"/>
          </a:xfrm>
          <a:prstGeom prst="roundRect">
            <a:avLst/>
          </a:prstGeom>
          <a:solidFill>
            <a:srgbClr val="FFFFFF"/>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400800" y="1691640"/>
            <a:ext cx="4846320" cy="457200"/>
          </a:xfrm>
          <a:prstGeom prst="rect">
            <a:avLst/>
          </a:prstGeom>
          <a:noFill/>
        </p:spPr>
        <p:txBody>
          <a:bodyPr wrap="none">
            <a:spAutoFit/>
          </a:bodyPr>
          <a:lstStyle/>
          <a:p>
            <a:pPr>
              <a:defRPr sz="1400" b="1">
                <a:solidFill>
                  <a:srgbClr val="1E3A8A"/>
                </a:solidFill>
              </a:defRPr>
            </a:pPr>
            <a:r>
              <a:t>Input Format Test Accuracy Comparison</a:t>
            </a:r>
          </a:p>
        </p:txBody>
      </p:sp>
      <p:pic>
        <p:nvPicPr>
          <p:cNvPr id="9" name="Picture 8" descr="week4_plot_input_formats.png"/>
          <p:cNvPicPr>
            <a:picLocks noChangeAspect="1"/>
          </p:cNvPicPr>
          <p:nvPr/>
        </p:nvPicPr>
        <p:blipFill>
          <a:blip r:embed="rId2"/>
          <a:stretch>
            <a:fillRect/>
          </a:stretch>
        </p:blipFill>
        <p:spPr>
          <a:xfrm>
            <a:off x="6400800" y="2103120"/>
            <a:ext cx="4846320" cy="1795149"/>
          </a:xfrm>
          <a:prstGeom prst="rect">
            <a:avLst/>
          </a:prstGeom>
        </p:spPr>
      </p:pic>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TextBox 1"/>
          <p:cNvSpPr txBox="1"/>
          <p:nvPr/>
        </p:nvSpPr>
        <p:spPr>
          <a:xfrm>
            <a:off x="731520" y="365760"/>
            <a:ext cx="10515600" cy="365760"/>
          </a:xfrm>
          <a:prstGeom prst="rect">
            <a:avLst/>
          </a:prstGeom>
          <a:noFill/>
        </p:spPr>
        <p:txBody>
          <a:bodyPr wrap="square">
            <a:spAutoFit/>
          </a:bodyPr>
          <a:lstStyle/>
          <a:p>
            <a:pPr>
              <a:defRPr sz="1000" b="1">
                <a:solidFill>
                  <a:srgbClr val="0E7490"/>
                </a:solidFill>
              </a:defRPr>
            </a:pPr>
            <a:r>
              <a:t>SPEECH EMOTION RECOGNITION • WEEK 4</a:t>
            </a:r>
          </a:p>
        </p:txBody>
      </p:sp>
      <p:sp>
        <p:nvSpPr>
          <p:cNvPr id="3" name="TextBox 2"/>
          <p:cNvSpPr txBox="1"/>
          <p:nvPr/>
        </p:nvSpPr>
        <p:spPr>
          <a:xfrm>
            <a:off x="731520" y="640080"/>
            <a:ext cx="10515600" cy="731520"/>
          </a:xfrm>
          <a:prstGeom prst="rect">
            <a:avLst/>
          </a:prstGeom>
          <a:noFill/>
        </p:spPr>
        <p:txBody>
          <a:bodyPr wrap="square">
            <a:spAutoFit/>
          </a:bodyPr>
          <a:lstStyle/>
          <a:p>
            <a:pPr>
              <a:defRPr sz="2400" b="1">
                <a:solidFill>
                  <a:srgbClr val="1E3A8A"/>
                </a:solidFill>
              </a:defRPr>
            </a:pPr>
            <a:r>
              <a:t>Task 2: Multi-Corpus Evaluation (CAFE, AESDD, MESD)</a:t>
            </a:r>
          </a:p>
        </p:txBody>
      </p:sp>
      <p:sp>
        <p:nvSpPr>
          <p:cNvPr id="4" name="Rounded Rectangle 3"/>
          <p:cNvSpPr/>
          <p:nvPr/>
        </p:nvSpPr>
        <p:spPr>
          <a:xfrm>
            <a:off x="731520" y="1554480"/>
            <a:ext cx="5486400" cy="4754880"/>
          </a:xfrm>
          <a:prstGeom prst="roundRect">
            <a:avLst/>
          </a:prstGeom>
          <a:solidFill>
            <a:srgbClr val="FFFFFF"/>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14400" y="1691640"/>
            <a:ext cx="5120640" cy="457200"/>
          </a:xfrm>
          <a:prstGeom prst="rect">
            <a:avLst/>
          </a:prstGeom>
          <a:noFill/>
        </p:spPr>
        <p:txBody>
          <a:bodyPr wrap="none">
            <a:spAutoFit/>
          </a:bodyPr>
          <a:lstStyle/>
          <a:p>
            <a:pPr>
              <a:defRPr sz="1400" b="1">
                <a:solidFill>
                  <a:srgbClr val="1E3A8A"/>
                </a:solidFill>
              </a:defRPr>
            </a:pPr>
            <a:r>
              <a:t>Benchmark Corpora Characteristics</a:t>
            </a:r>
          </a:p>
        </p:txBody>
      </p:sp>
      <p:sp>
        <p:nvSpPr>
          <p:cNvPr id="6" name="TextBox 5"/>
          <p:cNvSpPr txBox="1"/>
          <p:nvPr/>
        </p:nvSpPr>
        <p:spPr>
          <a:xfrm>
            <a:off x="914400" y="2103120"/>
            <a:ext cx="5120640" cy="4023360"/>
          </a:xfrm>
          <a:prstGeom prst="rect">
            <a:avLst/>
          </a:prstGeom>
          <a:noFill/>
        </p:spPr>
        <p:txBody>
          <a:bodyPr wrap="square">
            <a:spAutoFit/>
          </a:bodyPr>
          <a:lstStyle/>
          <a:p>
            <a:pPr>
              <a:defRPr sz="1050">
                <a:solidFill>
                  <a:srgbClr val="0F172A"/>
                </a:solidFill>
              </a:defRPr>
            </a:pPr>
            <a:r>
              <a:t>• EmoDB (German):</a:t>
            </a:r>
          </a:p>
          <a:p>
            <a:pPr>
              <a:defRPr sz="1050">
                <a:solidFill>
                  <a:srgbClr val="0F172A"/>
                </a:solidFill>
              </a:defRPr>
            </a:pPr>
            <a:r>
              <a:t>  - 535 clips, 10 professional actors, 7 emotions (ang, bor, dis, fea, hap, sad, neu).</a:t>
            </a:r>
          </a:p>
          <a:p>
            <a:pPr>
              <a:defRPr sz="1050">
                <a:solidFill>
                  <a:srgbClr val="0F172A"/>
                </a:solidFill>
              </a:defRPr>
            </a:pPr>
            <a:r>
              <a:t>  - Recorded in studio setting, high acoustic clarity.</a:t>
            </a:r>
          </a:p>
          <a:p>
            <a:pPr>
              <a:defRPr sz="1050">
                <a:solidFill>
                  <a:srgbClr val="0F172A"/>
                </a:solidFill>
              </a:defRPr>
            </a:pPr>
          </a:p>
          <a:p>
            <a:pPr>
              <a:defRPr sz="1050">
                <a:solidFill>
                  <a:srgbClr val="0F172A"/>
                </a:solidFill>
              </a:defRPr>
            </a:pPr>
            <a:r>
              <a:t>• CAFE (Canadian French):</a:t>
            </a:r>
          </a:p>
          <a:p>
            <a:pPr>
              <a:defRPr sz="1050">
                <a:solidFill>
                  <a:srgbClr val="0F172A"/>
                </a:solidFill>
              </a:defRPr>
            </a:pPr>
            <a:r>
              <a:t>  - 936 clips, 12 professional actors (6M/6F), 7 emotions.</a:t>
            </a:r>
          </a:p>
          <a:p>
            <a:pPr>
              <a:defRPr sz="1050">
                <a:solidFill>
                  <a:srgbClr val="0F172A"/>
                </a:solidFill>
              </a:defRPr>
            </a:pPr>
            <a:r>
              <a:t>  - Sourced from open CAMEO HuggingFace mirror (not verified against Zenodo 1478765 release).</a:t>
            </a:r>
          </a:p>
          <a:p>
            <a:pPr>
              <a:defRPr sz="1050">
                <a:solidFill>
                  <a:srgbClr val="0F172A"/>
                </a:solidFill>
              </a:defRPr>
            </a:pPr>
          </a:p>
          <a:p>
            <a:pPr>
              <a:defRPr sz="1050">
                <a:solidFill>
                  <a:srgbClr val="0F172A"/>
                </a:solidFill>
              </a:defRPr>
            </a:pPr>
            <a:r>
              <a:t>• AESDD (Att-HACK Greek):</a:t>
            </a:r>
          </a:p>
          <a:p>
            <a:pPr>
              <a:defRPr sz="1050">
                <a:solidFill>
                  <a:srgbClr val="0F172A"/>
                </a:solidFill>
              </a:defRPr>
            </a:pPr>
            <a:r>
              <a:t>  - 500 clips, 5 core actors (1–5), 20 sentences (01–20), 5 emotions.</a:t>
            </a:r>
          </a:p>
          <a:p>
            <a:pPr>
              <a:defRPr sz="1050">
                <a:solidFill>
                  <a:srgbClr val="0F172A"/>
                </a:solidFill>
              </a:defRPr>
            </a:pPr>
            <a:r>
              <a:t>  - Rebuilt canonical subset asserting exactly 100 clips/emotion (4 takes from actor 6 to replace missing/corrupt takes).</a:t>
            </a:r>
          </a:p>
          <a:p>
            <a:pPr>
              <a:defRPr sz="1050">
                <a:solidFill>
                  <a:srgbClr val="0F172A"/>
                </a:solidFill>
              </a:defRPr>
            </a:pPr>
          </a:p>
          <a:p>
            <a:pPr>
              <a:defRPr sz="1050">
                <a:solidFill>
                  <a:srgbClr val="0F172A"/>
                </a:solidFill>
              </a:defRPr>
            </a:pPr>
            <a:r>
              <a:t>• MESD (Mexican Spanish):</a:t>
            </a:r>
          </a:p>
          <a:p>
            <a:pPr>
              <a:defRPr sz="1050">
                <a:solidFill>
                  <a:srgbClr val="0F172A"/>
                </a:solidFill>
              </a:defRPr>
            </a:pPr>
            <a:r>
              <a:t>  - 862 single-word utterances, 6 emotions (ang, dis, fea, hap, neu, sad).</a:t>
            </a:r>
          </a:p>
          <a:p>
            <a:pPr>
              <a:defRPr sz="1050">
                <a:solidFill>
                  <a:srgbClr val="0F172A"/>
                </a:solidFill>
              </a:defRPr>
            </a:pPr>
            <a:r>
              <a:t>  - Sourced from open CAMEO HuggingFace mirror (not verified against Mendeley Data release).</a:t>
            </a:r>
          </a:p>
          <a:p>
            <a:pPr>
              <a:defRPr sz="1050">
                <a:solidFill>
                  <a:srgbClr val="0F172A"/>
                </a:solidFill>
              </a:defRPr>
            </a:pPr>
            <a:r>
              <a:t>  - Contains 3 demographic cohorts: female, male, and children.</a:t>
            </a:r>
          </a:p>
        </p:txBody>
      </p:sp>
      <p:sp>
        <p:nvSpPr>
          <p:cNvPr id="7" name="Rounded Rectangle 6"/>
          <p:cNvSpPr/>
          <p:nvPr/>
        </p:nvSpPr>
        <p:spPr>
          <a:xfrm>
            <a:off x="6583680" y="1554480"/>
            <a:ext cx="4846320" cy="4754880"/>
          </a:xfrm>
          <a:prstGeom prst="roundRect">
            <a:avLst/>
          </a:prstGeom>
          <a:solidFill>
            <a:srgbClr val="FFFFFF"/>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766560" y="1691640"/>
            <a:ext cx="4480560" cy="457200"/>
          </a:xfrm>
          <a:prstGeom prst="rect">
            <a:avLst/>
          </a:prstGeom>
          <a:noFill/>
        </p:spPr>
        <p:txBody>
          <a:bodyPr wrap="none">
            <a:spAutoFit/>
          </a:bodyPr>
          <a:lstStyle/>
          <a:p>
            <a:pPr>
              <a:defRPr sz="1400" b="1">
                <a:solidFill>
                  <a:srgbClr val="1E3A8A"/>
                </a:solidFill>
              </a:defRPr>
            </a:pPr>
            <a:r>
              <a:t>Standardized Multi-Corpus Protocol</a:t>
            </a:r>
          </a:p>
        </p:txBody>
      </p:sp>
      <p:sp>
        <p:nvSpPr>
          <p:cNvPr id="9" name="TextBox 8"/>
          <p:cNvSpPr txBox="1"/>
          <p:nvPr/>
        </p:nvSpPr>
        <p:spPr>
          <a:xfrm>
            <a:off x="6766560" y="2103120"/>
            <a:ext cx="4480560" cy="4023360"/>
          </a:xfrm>
          <a:prstGeom prst="rect">
            <a:avLst/>
          </a:prstGeom>
          <a:noFill/>
        </p:spPr>
        <p:txBody>
          <a:bodyPr wrap="square">
            <a:spAutoFit/>
          </a:bodyPr>
          <a:lstStyle/>
          <a:p>
            <a:pPr>
              <a:defRPr sz="1100">
                <a:solidFill>
                  <a:srgbClr val="0F172A"/>
                </a:solidFill>
              </a:defRPr>
            </a:pPr>
            <a:r>
              <a:t>• Rigorous Verification Guardrails:</a:t>
            </a:r>
          </a:p>
          <a:p>
            <a:pPr>
              <a:defRPr sz="1100">
                <a:solidFill>
                  <a:srgbClr val="0F172A"/>
                </a:solidFill>
              </a:defRPr>
            </a:pPr>
            <a:r>
              <a:t>  - Audio resampled to 16 kHz mono across all corpora.</a:t>
            </a:r>
          </a:p>
          <a:p>
            <a:pPr>
              <a:defRPr sz="1100">
                <a:solidFill>
                  <a:srgbClr val="0F172A"/>
                </a:solidFill>
              </a:defRPr>
            </a:pPr>
            <a:r>
              <a:t>  - Label spaces cleanly harmonized to discrete integers.</a:t>
            </a:r>
          </a:p>
          <a:p>
            <a:pPr>
              <a:defRPr sz="1100">
                <a:solidFill>
                  <a:srgbClr val="0F172A"/>
                </a:solidFill>
              </a:defRPr>
            </a:pPr>
            <a:r>
              <a:t>  - Verified zero corrupted clips (filtered 36-byte invalid AESDD wav).</a:t>
            </a:r>
          </a:p>
          <a:p>
            <a:pPr>
              <a:defRPr sz="1100">
                <a:solidFill>
                  <a:srgbClr val="0F172A"/>
                </a:solidFill>
              </a:defRPr>
            </a:pPr>
            <a:r>
              <a:t>  - Evaluated on identical random seeds: 42, 43, 44.</a:t>
            </a:r>
          </a:p>
          <a:p>
            <a:pPr>
              <a:defRPr sz="1100">
                <a:solidFill>
                  <a:srgbClr val="0F172A"/>
                </a:solidFill>
              </a:defRPr>
            </a:pPr>
          </a:p>
          <a:p>
            <a:pPr>
              <a:defRPr sz="1100">
                <a:solidFill>
                  <a:srgbClr val="0F172A"/>
                </a:solidFill>
              </a:defRPr>
            </a:pPr>
            <a:r>
              <a:t>• Experimental Matrix per Dataset:</a:t>
            </a:r>
          </a:p>
          <a:p>
            <a:pPr>
              <a:defRPr sz="1100">
                <a:solidFill>
                  <a:srgbClr val="0F172A"/>
                </a:solidFill>
              </a:defRPr>
            </a:pPr>
            <a:r>
              <a:t>  - 2 Feature sets: MFCC vs. MFMC.</a:t>
            </a:r>
          </a:p>
          <a:p>
            <a:pPr>
              <a:defRPr sz="1100">
                <a:solidFill>
                  <a:srgbClr val="0F172A"/>
                </a:solidFill>
              </a:defRPr>
            </a:pPr>
            <a:r>
              <a:t>  - 3 Coefficient counts: 12, 24, 30.</a:t>
            </a:r>
          </a:p>
          <a:p>
            <a:pPr>
              <a:defRPr sz="1100">
                <a:solidFill>
                  <a:srgbClr val="0F172A"/>
                </a:solidFill>
              </a:defRPr>
            </a:pPr>
            <a:r>
              <a:t>  - 2 Augmentation setups: None vs. Version A (clean 5x).</a:t>
            </a:r>
          </a:p>
          <a:p>
            <a:pPr>
              <a:defRPr sz="1100">
                <a:solidFill>
                  <a:srgbClr val="0F172A"/>
                </a:solidFill>
              </a:defRPr>
            </a:pPr>
            <a:r>
              <a:t>  - Total: 36 runs per dataset x 3 datasets = 108 experimental runs.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TextBox 1"/>
          <p:cNvSpPr txBox="1"/>
          <p:nvPr/>
        </p:nvSpPr>
        <p:spPr>
          <a:xfrm>
            <a:off x="731520" y="365760"/>
            <a:ext cx="10515600" cy="365760"/>
          </a:xfrm>
          <a:prstGeom prst="rect">
            <a:avLst/>
          </a:prstGeom>
          <a:noFill/>
        </p:spPr>
        <p:txBody>
          <a:bodyPr wrap="square">
            <a:spAutoFit/>
          </a:bodyPr>
          <a:lstStyle/>
          <a:p>
            <a:pPr>
              <a:defRPr sz="1000" b="1">
                <a:solidFill>
                  <a:srgbClr val="0E7490"/>
                </a:solidFill>
              </a:defRPr>
            </a:pPr>
            <a:r>
              <a:t>SPEECH EMOTION RECOGNITION • WEEK 4</a:t>
            </a:r>
          </a:p>
        </p:txBody>
      </p:sp>
      <p:sp>
        <p:nvSpPr>
          <p:cNvPr id="3" name="TextBox 2"/>
          <p:cNvSpPr txBox="1"/>
          <p:nvPr/>
        </p:nvSpPr>
        <p:spPr>
          <a:xfrm>
            <a:off x="731520" y="640080"/>
            <a:ext cx="10515600" cy="731520"/>
          </a:xfrm>
          <a:prstGeom prst="rect">
            <a:avLst/>
          </a:prstGeom>
          <a:noFill/>
        </p:spPr>
        <p:txBody>
          <a:bodyPr wrap="square">
            <a:spAutoFit/>
          </a:bodyPr>
          <a:lstStyle/>
          <a:p>
            <a:pPr>
              <a:defRPr sz="2400" b="1">
                <a:solidFill>
                  <a:srgbClr val="1E3A8A"/>
                </a:solidFill>
              </a:defRPr>
            </a:pPr>
            <a:r>
              <a:t>Task 2 Results: Cross-Corpus Performance &amp; Augmentation</a:t>
            </a:r>
          </a:p>
        </p:txBody>
      </p:sp>
      <p:sp>
        <p:nvSpPr>
          <p:cNvPr id="4" name="Rounded Rectangle 3"/>
          <p:cNvSpPr/>
          <p:nvPr/>
        </p:nvSpPr>
        <p:spPr>
          <a:xfrm>
            <a:off x="731520" y="1554480"/>
            <a:ext cx="5120640" cy="4754880"/>
          </a:xfrm>
          <a:prstGeom prst="roundRect">
            <a:avLst/>
          </a:prstGeom>
          <a:solidFill>
            <a:srgbClr val="FFFFFF"/>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14400" y="1691640"/>
            <a:ext cx="4754880" cy="457200"/>
          </a:xfrm>
          <a:prstGeom prst="rect">
            <a:avLst/>
          </a:prstGeom>
          <a:noFill/>
        </p:spPr>
        <p:txBody>
          <a:bodyPr wrap="none">
            <a:spAutoFit/>
          </a:bodyPr>
          <a:lstStyle/>
          <a:p>
            <a:pPr>
              <a:defRPr sz="1400" b="1">
                <a:solidFill>
                  <a:srgbClr val="1E3A8A"/>
                </a:solidFill>
              </a:defRPr>
            </a:pPr>
            <a:r>
              <a:t>Cross-Corpus Comparative Findings</a:t>
            </a:r>
          </a:p>
        </p:txBody>
      </p:sp>
      <p:sp>
        <p:nvSpPr>
          <p:cNvPr id="6" name="TextBox 5"/>
          <p:cNvSpPr txBox="1"/>
          <p:nvPr/>
        </p:nvSpPr>
        <p:spPr>
          <a:xfrm>
            <a:off x="914400" y="2103120"/>
            <a:ext cx="4754880" cy="4023360"/>
          </a:xfrm>
          <a:prstGeom prst="rect">
            <a:avLst/>
          </a:prstGeom>
          <a:noFill/>
        </p:spPr>
        <p:txBody>
          <a:bodyPr wrap="square">
            <a:spAutoFit/>
          </a:bodyPr>
          <a:lstStyle/>
          <a:p>
            <a:pPr>
              <a:defRPr sz="1100">
                <a:solidFill>
                  <a:srgbClr val="0F172A"/>
                </a:solidFill>
              </a:defRPr>
            </a:pPr>
            <a:r>
              <a:t>• Theoretical Chance Levels Differ:</a:t>
            </a:r>
          </a:p>
          <a:p>
            <a:pPr>
              <a:defRPr sz="1100">
                <a:solidFill>
                  <a:srgbClr val="0F172A"/>
                </a:solidFill>
              </a:defRPr>
            </a:pPr>
            <a:r>
              <a:t>  - AESDD (5 classes): 20.0% | MESD (6 classes): 16.7%</a:t>
            </a:r>
          </a:p>
          <a:p>
            <a:pPr>
              <a:defRPr sz="1100">
                <a:solidFill>
                  <a:srgbClr val="0F172A"/>
                </a:solidFill>
              </a:defRPr>
            </a:pPr>
            <a:r>
              <a:t>  - CAFE (7 classes): 14.3% | EmoDB (7 classes): 14.3%</a:t>
            </a:r>
          </a:p>
          <a:p>
            <a:pPr>
              <a:defRPr sz="1100">
                <a:solidFill>
                  <a:srgbClr val="0F172A"/>
                </a:solidFill>
              </a:defRPr>
            </a:pPr>
            <a:r>
              <a:t>  - A score of 50% on 5 classes (2.5x chance) vs. 7 classes (3.5x chance).</a:t>
            </a:r>
          </a:p>
          <a:p>
            <a:pPr>
              <a:defRPr sz="1100">
                <a:solidFill>
                  <a:srgbClr val="0F172A"/>
                </a:solidFill>
              </a:defRPr>
            </a:pPr>
          </a:p>
          <a:p>
            <a:pPr>
              <a:defRPr sz="1100">
                <a:solidFill>
                  <a:srgbClr val="0F172A"/>
                </a:solidFill>
              </a:defRPr>
            </a:pPr>
            <a:r>
              <a:t>• Observed Cross-Corpus Accuracies (MFCC/MFMC 30 Coeffs):</a:t>
            </a:r>
          </a:p>
          <a:p>
            <a:pPr>
              <a:defRPr sz="1100">
                <a:solidFill>
                  <a:srgbClr val="0F172A"/>
                </a:solidFill>
              </a:defRPr>
            </a:pPr>
            <a:r>
              <a:t>  - EmoDB (German, 7 cls): 66–71% (None) -&gt; 71–72% (Ver A) [Paper: 97.2% / 97.5%]</a:t>
            </a:r>
          </a:p>
          <a:p>
            <a:pPr>
              <a:defRPr sz="1100">
                <a:solidFill>
                  <a:srgbClr val="0F172A"/>
                </a:solidFill>
              </a:defRPr>
            </a:pPr>
            <a:r>
              <a:t>  - AESDD (Greek, 5 cls): 57–61% (None) -&gt; 77–79% (Ver A) [Paper: 97.8% / 99.2%]</a:t>
            </a:r>
          </a:p>
          <a:p>
            <a:pPr>
              <a:defRPr sz="1100">
                <a:solidFill>
                  <a:srgbClr val="0F172A"/>
                </a:solidFill>
              </a:defRPr>
            </a:pPr>
            <a:r>
              <a:t>  - CAFE (French, 7 cls): 46–50% (None) -&gt; 40–55% (Ver A) [Paper: 99.5%]</a:t>
            </a:r>
          </a:p>
          <a:p>
            <a:pPr>
              <a:defRPr sz="1100">
                <a:solidFill>
                  <a:srgbClr val="0F172A"/>
                </a:solidFill>
              </a:defRPr>
            </a:pPr>
            <a:r>
              <a:t>  - MESD (Spanish, 6 cls): 64–66% (None) -&gt; 67–69% (Ver A) [Paper: 96.9%]</a:t>
            </a:r>
          </a:p>
          <a:p>
            <a:pPr>
              <a:defRPr sz="1100">
                <a:solidFill>
                  <a:srgbClr val="0F172A"/>
                </a:solidFill>
              </a:defRPr>
            </a:pPr>
          </a:p>
          <a:p>
            <a:pPr>
              <a:defRPr sz="1100">
                <a:solidFill>
                  <a:srgbClr val="0F172A"/>
                </a:solidFill>
              </a:defRPr>
            </a:pPr>
            <a:r>
              <a:t>• Key Findings on Augmentation &amp; Replication:</a:t>
            </a:r>
          </a:p>
          <a:p>
            <a:pPr>
              <a:defRPr sz="1100">
                <a:solidFill>
                  <a:srgbClr val="0F172A"/>
                </a:solidFill>
              </a:defRPr>
            </a:pPr>
            <a:r>
              <a:t>  - Clean Version A augmentation provides moderate gains on AESDD (5 classes), but minor or negative shifts on EmoDB, CAFE, and MESD.</a:t>
            </a:r>
          </a:p>
          <a:p>
            <a:pPr>
              <a:defRPr sz="1100">
                <a:solidFill>
                  <a:srgbClr val="0F172A"/>
                </a:solidFill>
              </a:defRPr>
            </a:pPr>
            <a:r>
              <a:t>  - Across datasets, many augmentation differences remain within random seed variance (seed std ranges from ±2% to ±7%).</a:t>
            </a:r>
          </a:p>
          <a:p>
            <a:pPr>
              <a:defRPr sz="1100">
                <a:solidFill>
                  <a:srgbClr val="0F172A"/>
                </a:solidFill>
              </a:defRPr>
            </a:pPr>
            <a:r>
              <a:t>  - The paper's claimed peak accuracies (~97–99%) were not replicated under our implementation across any of the four benchmarks.</a:t>
            </a:r>
          </a:p>
        </p:txBody>
      </p:sp>
      <p:sp>
        <p:nvSpPr>
          <p:cNvPr id="7" name="Rounded Rectangle 6"/>
          <p:cNvSpPr/>
          <p:nvPr/>
        </p:nvSpPr>
        <p:spPr>
          <a:xfrm>
            <a:off x="6217920" y="1554480"/>
            <a:ext cx="5212080" cy="4754880"/>
          </a:xfrm>
          <a:prstGeom prst="roundRect">
            <a:avLst/>
          </a:prstGeom>
          <a:solidFill>
            <a:srgbClr val="FFFFFF"/>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400800" y="1691640"/>
            <a:ext cx="4846320" cy="457200"/>
          </a:xfrm>
          <a:prstGeom prst="rect">
            <a:avLst/>
          </a:prstGeom>
          <a:noFill/>
        </p:spPr>
        <p:txBody>
          <a:bodyPr wrap="none">
            <a:spAutoFit/>
          </a:bodyPr>
          <a:lstStyle/>
          <a:p>
            <a:pPr>
              <a:defRPr sz="1400" b="1">
                <a:solidFill>
                  <a:srgbClr val="1E3A8A"/>
                </a:solidFill>
              </a:defRPr>
            </a:pPr>
            <a:r>
              <a:t>Cross-Dataset Accuracy &amp; Augmentation Effect</a:t>
            </a:r>
          </a:p>
        </p:txBody>
      </p:sp>
      <p:pic>
        <p:nvPicPr>
          <p:cNvPr id="9" name="Picture 8" descr="week4_plot_datasets.png"/>
          <p:cNvPicPr>
            <a:picLocks noChangeAspect="1"/>
          </p:cNvPicPr>
          <p:nvPr/>
        </p:nvPicPr>
        <p:blipFill>
          <a:blip r:embed="rId2"/>
          <a:stretch>
            <a:fillRect/>
          </a:stretch>
        </p:blipFill>
        <p:spPr>
          <a:xfrm>
            <a:off x="6400800" y="2103120"/>
            <a:ext cx="4846320" cy="1795149"/>
          </a:xfrm>
          <a:prstGeom prst="rect">
            <a:avLst/>
          </a:prstGeom>
        </p:spPr>
      </p:pic>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TextBox 1"/>
          <p:cNvSpPr txBox="1"/>
          <p:nvPr/>
        </p:nvSpPr>
        <p:spPr>
          <a:xfrm>
            <a:off x="731520" y="365760"/>
            <a:ext cx="10515600" cy="365760"/>
          </a:xfrm>
          <a:prstGeom prst="rect">
            <a:avLst/>
          </a:prstGeom>
          <a:noFill/>
        </p:spPr>
        <p:txBody>
          <a:bodyPr wrap="square">
            <a:spAutoFit/>
          </a:bodyPr>
          <a:lstStyle/>
          <a:p>
            <a:pPr>
              <a:defRPr sz="1000" b="1">
                <a:solidFill>
                  <a:srgbClr val="0E7490"/>
                </a:solidFill>
              </a:defRPr>
            </a:pPr>
            <a:r>
              <a:t>SPEECH EMOTION RECOGNITION • WEEK 4</a:t>
            </a:r>
          </a:p>
        </p:txBody>
      </p:sp>
      <p:sp>
        <p:nvSpPr>
          <p:cNvPr id="3" name="TextBox 2"/>
          <p:cNvSpPr txBox="1"/>
          <p:nvPr/>
        </p:nvSpPr>
        <p:spPr>
          <a:xfrm>
            <a:off x="731520" y="640080"/>
            <a:ext cx="10515600" cy="731520"/>
          </a:xfrm>
          <a:prstGeom prst="rect">
            <a:avLst/>
          </a:prstGeom>
          <a:noFill/>
        </p:spPr>
        <p:txBody>
          <a:bodyPr wrap="square">
            <a:spAutoFit/>
          </a:bodyPr>
          <a:lstStyle/>
          <a:p>
            <a:pPr>
              <a:defRPr sz="2400" b="1">
                <a:solidFill>
                  <a:srgbClr val="1E3A8A"/>
                </a:solidFill>
              </a:defRPr>
            </a:pPr>
            <a:r>
              <a:t>Task 3: Speaker-Independent Partitioning Protocol</a:t>
            </a:r>
          </a:p>
        </p:txBody>
      </p:sp>
      <p:sp>
        <p:nvSpPr>
          <p:cNvPr id="4" name="Rounded Rectangle 3"/>
          <p:cNvSpPr/>
          <p:nvPr/>
        </p:nvSpPr>
        <p:spPr>
          <a:xfrm>
            <a:off x="731520" y="1554480"/>
            <a:ext cx="5120640" cy="4754880"/>
          </a:xfrm>
          <a:prstGeom prst="roundRect">
            <a:avLst/>
          </a:prstGeom>
          <a:solidFill>
            <a:srgbClr val="FFFFFF"/>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14400" y="1691640"/>
            <a:ext cx="4754880" cy="457200"/>
          </a:xfrm>
          <a:prstGeom prst="rect">
            <a:avLst/>
          </a:prstGeom>
          <a:noFill/>
        </p:spPr>
        <p:txBody>
          <a:bodyPr wrap="none">
            <a:spAutoFit/>
          </a:bodyPr>
          <a:lstStyle/>
          <a:p>
            <a:pPr>
              <a:defRPr sz="1400" b="1">
                <a:solidFill>
                  <a:srgbClr val="1E3A8A"/>
                </a:solidFill>
              </a:defRPr>
            </a:pPr>
            <a:r>
              <a:t>The Speaker Confounder in SER</a:t>
            </a:r>
          </a:p>
        </p:txBody>
      </p:sp>
      <p:sp>
        <p:nvSpPr>
          <p:cNvPr id="6" name="TextBox 5"/>
          <p:cNvSpPr txBox="1"/>
          <p:nvPr/>
        </p:nvSpPr>
        <p:spPr>
          <a:xfrm>
            <a:off x="914400" y="2103120"/>
            <a:ext cx="4754880" cy="4023360"/>
          </a:xfrm>
          <a:prstGeom prst="rect">
            <a:avLst/>
          </a:prstGeom>
          <a:noFill/>
        </p:spPr>
        <p:txBody>
          <a:bodyPr wrap="square">
            <a:spAutoFit/>
          </a:bodyPr>
          <a:lstStyle/>
          <a:p>
            <a:pPr>
              <a:defRPr sz="1100">
                <a:solidFill>
                  <a:srgbClr val="0F172A"/>
                </a:solidFill>
              </a:defRPr>
            </a:pPr>
            <a:r>
              <a:t>• Why Random Stratified Splits Mislead:</a:t>
            </a:r>
          </a:p>
          <a:p>
            <a:pPr>
              <a:defRPr sz="1100">
                <a:solidFill>
                  <a:srgbClr val="0F172A"/>
                </a:solidFill>
              </a:defRPr>
            </a:pPr>
            <a:r>
              <a:t>  - In a standard stratified split, audio clips from the SAME speaker appear in train, validation, and test sets.</a:t>
            </a:r>
          </a:p>
          <a:p>
            <a:pPr>
              <a:defRPr sz="1100">
                <a:solidFill>
                  <a:srgbClr val="0F172A"/>
                </a:solidFill>
              </a:defRPr>
            </a:pPr>
            <a:r>
              <a:t>  - The 1D-CNN easily learns to recognize speaker vocal tract geometry (timbre, pitch range, formant baselines) rather than true emotion.</a:t>
            </a:r>
          </a:p>
          <a:p>
            <a:pPr>
              <a:defRPr sz="1100">
                <a:solidFill>
                  <a:srgbClr val="0F172A"/>
                </a:solidFill>
              </a:defRPr>
            </a:pPr>
            <a:r>
              <a:t>  - The model effectively acts as a speaker classifier mapping speaker traits to emotions.</a:t>
            </a:r>
          </a:p>
          <a:p>
            <a:pPr>
              <a:defRPr sz="1100">
                <a:solidFill>
                  <a:srgbClr val="0F172A"/>
                </a:solidFill>
              </a:defRPr>
            </a:pPr>
          </a:p>
          <a:p>
            <a:pPr>
              <a:defRPr sz="1100">
                <a:solidFill>
                  <a:srgbClr val="0F172A"/>
                </a:solidFill>
              </a:defRPr>
            </a:pPr>
            <a:r>
              <a:t>• Real-World Speech Recognition Requirement:</a:t>
            </a:r>
          </a:p>
          <a:p>
            <a:pPr>
              <a:defRPr sz="1100">
                <a:solidFill>
                  <a:srgbClr val="0F172A"/>
                </a:solidFill>
              </a:defRPr>
            </a:pPr>
            <a:r>
              <a:t>  - Real SER systems must generalize to completely novel speakers never encountered during training.</a:t>
            </a:r>
          </a:p>
          <a:p>
            <a:pPr>
              <a:defRPr sz="1100">
                <a:solidFill>
                  <a:srgbClr val="0F172A"/>
                </a:solidFill>
              </a:defRPr>
            </a:pPr>
            <a:r>
              <a:t>  - Speaker-independent evaluation is the gold standard benchmark.</a:t>
            </a:r>
          </a:p>
        </p:txBody>
      </p:sp>
      <p:sp>
        <p:nvSpPr>
          <p:cNvPr id="7" name="Rounded Rectangle 6"/>
          <p:cNvSpPr/>
          <p:nvPr/>
        </p:nvSpPr>
        <p:spPr>
          <a:xfrm>
            <a:off x="6217920" y="1554480"/>
            <a:ext cx="5212080" cy="4754880"/>
          </a:xfrm>
          <a:prstGeom prst="roundRect">
            <a:avLst/>
          </a:prstGeom>
          <a:solidFill>
            <a:srgbClr val="FFFFFF"/>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400800" y="1691640"/>
            <a:ext cx="4846320" cy="457200"/>
          </a:xfrm>
          <a:prstGeom prst="rect">
            <a:avLst/>
          </a:prstGeom>
          <a:noFill/>
        </p:spPr>
        <p:txBody>
          <a:bodyPr wrap="none">
            <a:spAutoFit/>
          </a:bodyPr>
          <a:lstStyle/>
          <a:p>
            <a:pPr>
              <a:defRPr sz="1400" b="1">
                <a:solidFill>
                  <a:srgbClr val="1E3A8A"/>
                </a:solidFill>
              </a:defRPr>
            </a:pPr>
            <a:r>
              <a:t>Strict Disjoint Partitioning Design</a:t>
            </a:r>
          </a:p>
        </p:txBody>
      </p:sp>
      <p:sp>
        <p:nvSpPr>
          <p:cNvPr id="9" name="TextBox 8"/>
          <p:cNvSpPr txBox="1"/>
          <p:nvPr/>
        </p:nvSpPr>
        <p:spPr>
          <a:xfrm>
            <a:off x="6400800" y="2103120"/>
            <a:ext cx="4846320" cy="4023360"/>
          </a:xfrm>
          <a:prstGeom prst="rect">
            <a:avLst/>
          </a:prstGeom>
          <a:noFill/>
        </p:spPr>
        <p:txBody>
          <a:bodyPr wrap="square">
            <a:spAutoFit/>
          </a:bodyPr>
          <a:lstStyle/>
          <a:p>
            <a:pPr>
              <a:defRPr sz="1100">
                <a:solidFill>
                  <a:srgbClr val="0F172A"/>
                </a:solidFill>
              </a:defRPr>
            </a:pPr>
            <a:r>
              <a:t>• Disjoint Speaker Partitions Built:</a:t>
            </a:r>
          </a:p>
          <a:p>
            <a:pPr>
              <a:defRPr sz="1100">
                <a:solidFill>
                  <a:srgbClr val="0F172A"/>
                </a:solidFill>
              </a:defRPr>
            </a:pPr>
            <a:r>
              <a:t>  - EmoDB (10 speakers):</a:t>
            </a:r>
          </a:p>
          <a:p>
            <a:pPr>
              <a:defRPr sz="1100">
                <a:solidFill>
                  <a:srgbClr val="0F172A"/>
                </a:solidFill>
              </a:defRPr>
            </a:pPr>
            <a:r>
              <a:t>    * Train: 6 speakers (~60% clips)</a:t>
            </a:r>
          </a:p>
          <a:p>
            <a:pPr>
              <a:defRPr sz="1100">
                <a:solidFill>
                  <a:srgbClr val="0F172A"/>
                </a:solidFill>
              </a:defRPr>
            </a:pPr>
            <a:r>
              <a:t>    * Val: 2 speakers (~20% clips)</a:t>
            </a:r>
          </a:p>
          <a:p>
            <a:pPr>
              <a:defRPr sz="1100">
                <a:solidFill>
                  <a:srgbClr val="0F172A"/>
                </a:solidFill>
              </a:defRPr>
            </a:pPr>
            <a:r>
              <a:t>    * Test: 2 speakers (~20% clips)</a:t>
            </a:r>
          </a:p>
          <a:p>
            <a:pPr>
              <a:defRPr sz="1100">
                <a:solidFill>
                  <a:srgbClr val="0F172A"/>
                </a:solidFill>
              </a:defRPr>
            </a:pPr>
            <a:r>
              <a:t>  - CAFE (12 speakers):</a:t>
            </a:r>
          </a:p>
          <a:p>
            <a:pPr>
              <a:defRPr sz="1100">
                <a:solidFill>
                  <a:srgbClr val="0F172A"/>
                </a:solidFill>
              </a:defRPr>
            </a:pPr>
            <a:r>
              <a:t>    * Train: 8 speakers (624 clips)</a:t>
            </a:r>
          </a:p>
          <a:p>
            <a:pPr>
              <a:defRPr sz="1100">
                <a:solidFill>
                  <a:srgbClr val="0F172A"/>
                </a:solidFill>
              </a:defRPr>
            </a:pPr>
            <a:r>
              <a:t>    * Val: 2 speakers (156 clips)</a:t>
            </a:r>
          </a:p>
          <a:p>
            <a:pPr>
              <a:defRPr sz="1100">
                <a:solidFill>
                  <a:srgbClr val="0F172A"/>
                </a:solidFill>
              </a:defRPr>
            </a:pPr>
            <a:r>
              <a:t>    * Test: 2 speakers (156 clips)</a:t>
            </a:r>
          </a:p>
          <a:p>
            <a:pPr>
              <a:defRPr sz="1100">
                <a:solidFill>
                  <a:srgbClr val="0F172A"/>
                </a:solidFill>
              </a:defRPr>
            </a:pPr>
            <a:r>
              <a:t>  - AESDD (5 speakers):</a:t>
            </a:r>
          </a:p>
          <a:p>
            <a:pPr>
              <a:defRPr sz="1100">
                <a:solidFill>
                  <a:srgbClr val="0F172A"/>
                </a:solidFill>
              </a:defRPr>
            </a:pPr>
            <a:r>
              <a:t>    * Train: 3 speakers (300 clips)</a:t>
            </a:r>
          </a:p>
          <a:p>
            <a:pPr>
              <a:defRPr sz="1100">
                <a:solidFill>
                  <a:srgbClr val="0F172A"/>
                </a:solidFill>
              </a:defRPr>
            </a:pPr>
            <a:r>
              <a:t>    * Val: 1 speaker (100 clips)</a:t>
            </a:r>
          </a:p>
          <a:p>
            <a:pPr>
              <a:defRPr sz="1100">
                <a:solidFill>
                  <a:srgbClr val="0F172A"/>
                </a:solidFill>
              </a:defRPr>
            </a:pPr>
            <a:r>
              <a:t>    * Test: 1 speaker (100 clips)</a:t>
            </a:r>
          </a:p>
          <a:p>
            <a:pPr>
              <a:defRPr sz="1100">
                <a:solidFill>
                  <a:srgbClr val="0F172A"/>
                </a:solidFill>
              </a:defRPr>
            </a:pPr>
          </a:p>
          <a:p>
            <a:pPr>
              <a:defRPr sz="1100">
                <a:solidFill>
                  <a:srgbClr val="0F172A"/>
                </a:solidFill>
              </a:defRPr>
            </a:pPr>
            <a:r>
              <a:t>• Verification:</a:t>
            </a:r>
          </a:p>
          <a:p>
            <a:pPr>
              <a:defRPr sz="1100">
                <a:solidFill>
                  <a:srgbClr val="0F172A"/>
                </a:solidFill>
              </a:defRPr>
            </a:pPr>
            <a:r>
              <a:t>  - Set intersection: Train ∩ Val = ∅, Train ∩ Test = ∅, Val ∩ Test = ∅.</a:t>
            </a:r>
          </a:p>
          <a:p>
            <a:pPr>
              <a:defRPr sz="1100">
                <a:solidFill>
                  <a:srgbClr val="0F172A"/>
                </a:solidFill>
              </a:defRPr>
            </a:pPr>
            <a:r>
              <a:t>  - Verified 100% disjointness via automated unit tests.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TextBox 1"/>
          <p:cNvSpPr txBox="1"/>
          <p:nvPr/>
        </p:nvSpPr>
        <p:spPr>
          <a:xfrm>
            <a:off x="731520" y="365760"/>
            <a:ext cx="10515600" cy="365760"/>
          </a:xfrm>
          <a:prstGeom prst="rect">
            <a:avLst/>
          </a:prstGeom>
          <a:noFill/>
        </p:spPr>
        <p:txBody>
          <a:bodyPr wrap="square">
            <a:spAutoFit/>
          </a:bodyPr>
          <a:lstStyle/>
          <a:p>
            <a:pPr>
              <a:defRPr sz="1000" b="1">
                <a:solidFill>
                  <a:srgbClr val="0E7490"/>
                </a:solidFill>
              </a:defRPr>
            </a:pPr>
            <a:r>
              <a:t>SPEECH EMOTION RECOGNITION • WEEK 4</a:t>
            </a:r>
          </a:p>
        </p:txBody>
      </p:sp>
      <p:sp>
        <p:nvSpPr>
          <p:cNvPr id="3" name="TextBox 2"/>
          <p:cNvSpPr txBox="1"/>
          <p:nvPr/>
        </p:nvSpPr>
        <p:spPr>
          <a:xfrm>
            <a:off x="731520" y="640080"/>
            <a:ext cx="10515600" cy="731520"/>
          </a:xfrm>
          <a:prstGeom prst="rect">
            <a:avLst/>
          </a:prstGeom>
          <a:noFill/>
        </p:spPr>
        <p:txBody>
          <a:bodyPr wrap="square">
            <a:spAutoFit/>
          </a:bodyPr>
          <a:lstStyle/>
          <a:p>
            <a:pPr>
              <a:defRPr sz="2400" b="1">
                <a:solidFill>
                  <a:srgbClr val="1E3A8A"/>
                </a:solidFill>
              </a:defRPr>
            </a:pPr>
            <a:r>
              <a:t>Task 3: Speaker-Independent Experimental Design &amp; Protocol</a:t>
            </a:r>
          </a:p>
        </p:txBody>
      </p:sp>
      <p:sp>
        <p:nvSpPr>
          <p:cNvPr id="4" name="Rounded Rectangle 3"/>
          <p:cNvSpPr/>
          <p:nvPr/>
        </p:nvSpPr>
        <p:spPr>
          <a:xfrm>
            <a:off x="731520" y="1554480"/>
            <a:ext cx="5120640" cy="4754880"/>
          </a:xfrm>
          <a:prstGeom prst="roundRect">
            <a:avLst/>
          </a:prstGeom>
          <a:solidFill>
            <a:srgbClr val="FFFFFF"/>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14400" y="1691640"/>
            <a:ext cx="4754880" cy="457200"/>
          </a:xfrm>
          <a:prstGeom prst="rect">
            <a:avLst/>
          </a:prstGeom>
          <a:noFill/>
        </p:spPr>
        <p:txBody>
          <a:bodyPr wrap="none">
            <a:spAutoFit/>
          </a:bodyPr>
          <a:lstStyle/>
          <a:p>
            <a:pPr>
              <a:defRPr sz="1400" b="1">
                <a:solidFill>
                  <a:srgbClr val="1E3A8A"/>
                </a:solidFill>
              </a:defRPr>
            </a:pPr>
            <a:r>
              <a:t>Protocol &amp; Execution Parameters</a:t>
            </a:r>
          </a:p>
        </p:txBody>
      </p:sp>
      <p:sp>
        <p:nvSpPr>
          <p:cNvPr id="6" name="TextBox 5"/>
          <p:cNvSpPr txBox="1"/>
          <p:nvPr/>
        </p:nvSpPr>
        <p:spPr>
          <a:xfrm>
            <a:off x="914400" y="2103120"/>
            <a:ext cx="4754880" cy="4023360"/>
          </a:xfrm>
          <a:prstGeom prst="rect">
            <a:avLst/>
          </a:prstGeom>
          <a:noFill/>
        </p:spPr>
        <p:txBody>
          <a:bodyPr wrap="square">
            <a:spAutoFit/>
          </a:bodyPr>
          <a:lstStyle/>
          <a:p>
            <a:pPr>
              <a:defRPr sz="1100">
                <a:solidFill>
                  <a:srgbClr val="0F172A"/>
                </a:solidFill>
              </a:defRPr>
            </a:pPr>
            <a:r>
              <a:t>• Strict Experimental Guardrails:</a:t>
            </a:r>
          </a:p>
          <a:p>
            <a:pPr>
              <a:defRPr sz="1100">
                <a:solidFill>
                  <a:srgbClr val="0F172A"/>
                </a:solidFill>
              </a:defRPr>
            </a:pPr>
            <a:r>
              <a:t>  - Grouped Partitioning: Speakers never shared across train, val, and test.</a:t>
            </a:r>
          </a:p>
          <a:p>
            <a:pPr>
              <a:defRPr sz="1100">
                <a:solidFill>
                  <a:srgbClr val="0F172A"/>
                </a:solidFill>
              </a:defRPr>
            </a:pPr>
            <a:r>
              <a:t>  - Model Selection: Best checkpoint selected SOLELY on validation speakers.</a:t>
            </a:r>
          </a:p>
          <a:p>
            <a:pPr>
              <a:defRPr sz="1100">
                <a:solidFill>
                  <a:srgbClr val="0F172A"/>
                </a:solidFill>
              </a:defRPr>
            </a:pPr>
            <a:r>
              <a:t>  - Single-Pass Test: Test speakers evaluated exactly once on frozen weights.</a:t>
            </a:r>
          </a:p>
          <a:p>
            <a:pPr>
              <a:defRPr sz="1100">
                <a:solidFill>
                  <a:srgbClr val="0F172A"/>
                </a:solidFill>
              </a:defRPr>
            </a:pPr>
            <a:r>
              <a:t>  - MESD Excluded: Lacks individual speaker IDs (demographic cohorts only).</a:t>
            </a:r>
          </a:p>
          <a:p>
            <a:pPr>
              <a:defRPr sz="1100">
                <a:solidFill>
                  <a:srgbClr val="0F172A"/>
                </a:solidFill>
              </a:defRPr>
            </a:pPr>
          </a:p>
          <a:p>
            <a:pPr>
              <a:defRPr sz="1100">
                <a:solidFill>
                  <a:srgbClr val="0F172A"/>
                </a:solidFill>
              </a:defRPr>
            </a:pPr>
            <a:r>
              <a:t>• Experimental Matrix (108 Runs Total):</a:t>
            </a:r>
          </a:p>
          <a:p>
            <a:pPr>
              <a:defRPr sz="1100">
                <a:solidFill>
                  <a:srgbClr val="0F172A"/>
                </a:solidFill>
              </a:defRPr>
            </a:pPr>
            <a:r>
              <a:t>  - 3 Corpora: EmoDB, CAFE, AESDD</a:t>
            </a:r>
          </a:p>
          <a:p>
            <a:pPr>
              <a:defRPr sz="1100">
                <a:solidFill>
                  <a:srgbClr val="0F172A"/>
                </a:solidFill>
              </a:defRPr>
            </a:pPr>
            <a:r>
              <a:t>  - 2 Features: MFCC vs. MFMC (12, 24, 30 coeffs)</a:t>
            </a:r>
          </a:p>
          <a:p>
            <a:pPr>
              <a:defRPr sz="1100">
                <a:solidFill>
                  <a:srgbClr val="0F172A"/>
                </a:solidFill>
              </a:defRPr>
            </a:pPr>
            <a:r>
              <a:t>  - 2 Setups: None vs. Version A (clean 5x)</a:t>
            </a:r>
          </a:p>
          <a:p>
            <a:pPr>
              <a:defRPr sz="1100">
                <a:solidFill>
                  <a:srgbClr val="0F172A"/>
                </a:solidFill>
              </a:defRPr>
            </a:pPr>
            <a:r>
              <a:t>  - 3 Speaker Assignment Seeds: 42, 43, 44</a:t>
            </a:r>
          </a:p>
          <a:p>
            <a:pPr>
              <a:defRPr sz="1100">
                <a:solidFill>
                  <a:srgbClr val="0F172A"/>
                </a:solidFill>
              </a:defRPr>
            </a:pPr>
          </a:p>
          <a:p>
            <a:pPr>
              <a:defRPr sz="1100">
                <a:solidFill>
                  <a:srgbClr val="0F172A"/>
                </a:solidFill>
              </a:defRPr>
            </a:pPr>
            <a:r>
              <a:t>• Execution &amp; Runtime Estimate:</a:t>
            </a:r>
          </a:p>
          <a:p>
            <a:pPr>
              <a:defRPr sz="1100">
                <a:solidFill>
                  <a:srgbClr val="0F172A"/>
                </a:solidFill>
              </a:defRPr>
            </a:pPr>
            <a:r>
              <a:t>  - Estimated total runtime: ~14–16 minutes on CPU.</a:t>
            </a:r>
          </a:p>
          <a:p>
            <a:pPr>
              <a:defRPr sz="1100">
                <a:solidFill>
                  <a:srgbClr val="0F172A"/>
                </a:solidFill>
              </a:defRPr>
            </a:pPr>
            <a:r>
              <a:t>  - Status: Paused awaiting supervisor review and confirmation.</a:t>
            </a:r>
          </a:p>
        </p:txBody>
      </p:sp>
      <p:sp>
        <p:nvSpPr>
          <p:cNvPr id="7" name="Rounded Rectangle 6"/>
          <p:cNvSpPr/>
          <p:nvPr/>
        </p:nvSpPr>
        <p:spPr>
          <a:xfrm>
            <a:off x="6217920" y="1554480"/>
            <a:ext cx="5212080" cy="4754880"/>
          </a:xfrm>
          <a:prstGeom prst="roundRect">
            <a:avLst/>
          </a:prstGeom>
          <a:solidFill>
            <a:srgbClr val="FFFFFF"/>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400800" y="1691640"/>
            <a:ext cx="4846320" cy="457200"/>
          </a:xfrm>
          <a:prstGeom prst="rect">
            <a:avLst/>
          </a:prstGeom>
          <a:noFill/>
        </p:spPr>
        <p:txBody>
          <a:bodyPr wrap="none">
            <a:spAutoFit/>
          </a:bodyPr>
          <a:lstStyle/>
          <a:p>
            <a:pPr>
              <a:defRPr sz="1400" b="1">
                <a:solidFill>
                  <a:srgbClr val="1E3A8A"/>
                </a:solidFill>
              </a:defRPr>
            </a:pPr>
            <a:r>
              <a:t>Scientific Hypotheses to Test</a:t>
            </a:r>
          </a:p>
        </p:txBody>
      </p:sp>
      <p:sp>
        <p:nvSpPr>
          <p:cNvPr id="9" name="TextBox 8"/>
          <p:cNvSpPr txBox="1"/>
          <p:nvPr/>
        </p:nvSpPr>
        <p:spPr>
          <a:xfrm>
            <a:off x="6400800" y="2103120"/>
            <a:ext cx="4846320" cy="4023360"/>
          </a:xfrm>
          <a:prstGeom prst="rect">
            <a:avLst/>
          </a:prstGeom>
          <a:noFill/>
        </p:spPr>
        <p:txBody>
          <a:bodyPr wrap="square">
            <a:spAutoFit/>
          </a:bodyPr>
          <a:lstStyle/>
          <a:p>
            <a:pPr>
              <a:defRPr sz="1100">
                <a:solidFill>
                  <a:srgbClr val="0F172A"/>
                </a:solidFill>
              </a:defRPr>
            </a:pPr>
            <a:r>
              <a:t>• Expected Generalization Drop:</a:t>
            </a:r>
          </a:p>
          <a:p>
            <a:pPr>
              <a:defRPr sz="1100">
                <a:solidFill>
                  <a:srgbClr val="0F172A"/>
                </a:solidFill>
              </a:defRPr>
            </a:pPr>
            <a:r>
              <a:t>  - Removing speaker identity overlap is expected to drop test accuracy by 15% to 25% across all corpora.</a:t>
            </a:r>
          </a:p>
          <a:p>
            <a:pPr>
              <a:defRPr sz="1100">
                <a:solidFill>
                  <a:srgbClr val="0F172A"/>
                </a:solidFill>
              </a:defRPr>
            </a:pPr>
            <a:r>
              <a:t>  - Tests whether the 1D-CNN is genuinely learning emotion representations or acting as a speaker biometric classifier.</a:t>
            </a:r>
          </a:p>
          <a:p>
            <a:pPr>
              <a:defRPr sz="1100">
                <a:solidFill>
                  <a:srgbClr val="0F172A"/>
                </a:solidFill>
              </a:defRPr>
            </a:pPr>
          </a:p>
          <a:p>
            <a:pPr>
              <a:defRPr sz="1100">
                <a:solidFill>
                  <a:srgbClr val="0F172A"/>
                </a:solidFill>
              </a:defRPr>
            </a:pPr>
            <a:r>
              <a:t>• Does Gaussian Noise Protect Against Speaker Shift?</a:t>
            </a:r>
          </a:p>
          <a:p>
            <a:pPr>
              <a:defRPr sz="1100">
                <a:solidFill>
                  <a:srgbClr val="0F172A"/>
                </a:solidFill>
              </a:defRPr>
            </a:pPr>
            <a:r>
              <a:t>  - Hypothesis: Additive Gaussian noise corrupts acoustics uniformly but does not alter fundamental speaker identity (pitch range, vocal tract length).</a:t>
            </a:r>
          </a:p>
          <a:p>
            <a:pPr>
              <a:defRPr sz="1100">
                <a:solidFill>
                  <a:srgbClr val="0F172A"/>
                </a:solidFill>
              </a:defRPr>
            </a:pPr>
            <a:r>
              <a:t>  - Clean Version A augmentation is therefore expected to show minimal resilience against speaker shift.</a:t>
            </a:r>
          </a:p>
          <a:p>
            <a:pPr>
              <a:defRPr sz="1100">
                <a:solidFill>
                  <a:srgbClr val="0F172A"/>
                </a:solidFill>
              </a:defRPr>
            </a:pPr>
          </a:p>
          <a:p>
            <a:pPr>
              <a:defRPr sz="1100">
                <a:solidFill>
                  <a:srgbClr val="0F172A"/>
                </a:solidFill>
              </a:defRPr>
            </a:pPr>
            <a:r>
              <a:t>• Methodological Implication for Paper:</a:t>
            </a:r>
          </a:p>
          <a:p>
            <a:pPr>
              <a:defRPr sz="1100">
                <a:solidFill>
                  <a:srgbClr val="0F172A"/>
                </a:solidFill>
              </a:defRPr>
            </a:pPr>
            <a:r>
              <a:t>  - The paper's ~97–99% figures rely on random splits (speaker overlap) combined with data leakage.</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TextBox 1"/>
          <p:cNvSpPr txBox="1"/>
          <p:nvPr/>
        </p:nvSpPr>
        <p:spPr>
          <a:xfrm>
            <a:off x="731520" y="365760"/>
            <a:ext cx="10515600" cy="365760"/>
          </a:xfrm>
          <a:prstGeom prst="rect">
            <a:avLst/>
          </a:prstGeom>
          <a:noFill/>
        </p:spPr>
        <p:txBody>
          <a:bodyPr wrap="square">
            <a:spAutoFit/>
          </a:bodyPr>
          <a:lstStyle/>
          <a:p>
            <a:pPr>
              <a:defRPr sz="1000" b="1">
                <a:solidFill>
                  <a:srgbClr val="0E7490"/>
                </a:solidFill>
              </a:defRPr>
            </a:pPr>
            <a:r>
              <a:t>SPEECH EMOTION RECOGNITION • WEEK 4</a:t>
            </a:r>
          </a:p>
        </p:txBody>
      </p:sp>
      <p:sp>
        <p:nvSpPr>
          <p:cNvPr id="3" name="TextBox 2"/>
          <p:cNvSpPr txBox="1"/>
          <p:nvPr/>
        </p:nvSpPr>
        <p:spPr>
          <a:xfrm>
            <a:off x="731520" y="640080"/>
            <a:ext cx="10515600" cy="731520"/>
          </a:xfrm>
          <a:prstGeom prst="rect">
            <a:avLst/>
          </a:prstGeom>
          <a:noFill/>
        </p:spPr>
        <p:txBody>
          <a:bodyPr wrap="square">
            <a:spAutoFit/>
          </a:bodyPr>
          <a:lstStyle/>
          <a:p>
            <a:pPr>
              <a:defRPr sz="2400" b="1">
                <a:solidFill>
                  <a:srgbClr val="1E3A8A"/>
                </a:solidFill>
              </a:defRPr>
            </a:pPr>
            <a:r>
              <a:t>Synthesis &amp; Critical Findings</a:t>
            </a:r>
          </a:p>
        </p:txBody>
      </p:sp>
      <p:sp>
        <p:nvSpPr>
          <p:cNvPr id="4" name="Rounded Rectangle 3"/>
          <p:cNvSpPr/>
          <p:nvPr/>
        </p:nvSpPr>
        <p:spPr>
          <a:xfrm>
            <a:off x="731520" y="1554480"/>
            <a:ext cx="10698480" cy="4754880"/>
          </a:xfrm>
          <a:prstGeom prst="roundRect">
            <a:avLst/>
          </a:prstGeom>
          <a:solidFill>
            <a:srgbClr val="FFFFFF"/>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14400" y="1691640"/>
            <a:ext cx="10332720" cy="457200"/>
          </a:xfrm>
          <a:prstGeom prst="rect">
            <a:avLst/>
          </a:prstGeom>
          <a:noFill/>
        </p:spPr>
        <p:txBody>
          <a:bodyPr wrap="none">
            <a:spAutoFit/>
          </a:bodyPr>
          <a:lstStyle/>
          <a:p>
            <a:pPr>
              <a:defRPr sz="1400" b="1">
                <a:solidFill>
                  <a:srgbClr val="1E3A8A"/>
                </a:solidFill>
              </a:defRPr>
            </a:pPr>
            <a:r>
              <a:t>Core Conclusions from Week 4 Investigations</a:t>
            </a:r>
          </a:p>
        </p:txBody>
      </p:sp>
      <p:sp>
        <p:nvSpPr>
          <p:cNvPr id="6" name="TextBox 5"/>
          <p:cNvSpPr txBox="1"/>
          <p:nvPr/>
        </p:nvSpPr>
        <p:spPr>
          <a:xfrm>
            <a:off x="914400" y="2103120"/>
            <a:ext cx="10332720" cy="4023360"/>
          </a:xfrm>
          <a:prstGeom prst="rect">
            <a:avLst/>
          </a:prstGeom>
          <a:noFill/>
        </p:spPr>
        <p:txBody>
          <a:bodyPr wrap="square">
            <a:spAutoFit/>
          </a:bodyPr>
          <a:lstStyle/>
          <a:p>
            <a:pPr>
              <a:defRPr sz="1100">
                <a:solidFill>
                  <a:srgbClr val="0F172A"/>
                </a:solidFill>
              </a:defRPr>
            </a:pPr>
            <a:r>
              <a:t>1. The 144-Input Discrepancy Does NOT Explain the Performance Gap</a:t>
            </a:r>
          </a:p>
          <a:p>
            <a:pPr>
              <a:defRPr sz="1100">
                <a:solidFill>
                  <a:srgbClr val="0F172A"/>
                </a:solidFill>
              </a:defRPr>
            </a:pPr>
            <a:r>
              <a:t>   - Preserving 144 temporal frames increases model parameters and dramatically accelerates overfitting on small datasets.</a:t>
            </a:r>
          </a:p>
          <a:p>
            <a:pPr>
              <a:defRPr sz="1100">
                <a:solidFill>
                  <a:srgbClr val="0F172A"/>
                </a:solidFill>
              </a:defRPr>
            </a:pPr>
            <a:r>
              <a:t>   - Test accuracy on frames144 drops to 51–61%, falling well below the pooled 24/48/60 baseline (64–71%).</a:t>
            </a:r>
          </a:p>
          <a:p>
            <a:pPr>
              <a:defRPr sz="1100">
                <a:solidFill>
                  <a:srgbClr val="0F172A"/>
                </a:solidFill>
              </a:defRPr>
            </a:pPr>
            <a:r>
              <a:t>   - Summary statistics (mean + std) provide essential implicit regularization for small sample regimes.</a:t>
            </a:r>
          </a:p>
          <a:p>
            <a:pPr>
              <a:defRPr sz="1100">
                <a:solidFill>
                  <a:srgbClr val="0F172A"/>
                </a:solidFill>
              </a:defRPr>
            </a:pPr>
          </a:p>
          <a:p>
            <a:pPr>
              <a:defRPr sz="1100">
                <a:solidFill>
                  <a:srgbClr val="0F172A"/>
                </a:solidFill>
              </a:defRPr>
            </a:pPr>
            <a:r>
              <a:t>2. Additive Gaussian Noise Augmentation Does Not Reliably Boost Generalization</a:t>
            </a:r>
          </a:p>
          <a:p>
            <a:pPr>
              <a:defRPr sz="1100">
                <a:solidFill>
                  <a:srgbClr val="0F172A"/>
                </a:solidFill>
              </a:defRPr>
            </a:pPr>
            <a:r>
              <a:t>   - Across German (EmoDB), French (CAFE), Greek (AESDD), and Spanish (MESD), clean Version A augmentation shifts test accuracy by only -2% to +5%.</a:t>
            </a:r>
          </a:p>
          <a:p>
            <a:pPr>
              <a:defRPr sz="1100">
                <a:solidFill>
                  <a:srgbClr val="0F172A"/>
                </a:solidFill>
              </a:defRPr>
            </a:pPr>
            <a:r>
              <a:t>   - Most shifts fall within the random seed standard deviation (±2% to ±6%), indicating no statistically significant regularization benefit.</a:t>
            </a:r>
          </a:p>
          <a:p>
            <a:pPr>
              <a:defRPr sz="1100">
                <a:solidFill>
                  <a:srgbClr val="0F172A"/>
                </a:solidFill>
              </a:defRPr>
            </a:pPr>
            <a:r>
              <a:t>   - The paper's claimed peak accuracies (~97–99%) were not replicated under our implementation across any of the four benchmarks.</a:t>
            </a:r>
          </a:p>
          <a:p>
            <a:pPr>
              <a:defRPr sz="1100">
                <a:solidFill>
                  <a:srgbClr val="0F172A"/>
                </a:solidFill>
              </a:defRPr>
            </a:pPr>
          </a:p>
          <a:p>
            <a:pPr>
              <a:defRPr sz="1100">
                <a:solidFill>
                  <a:srgbClr val="0F172A"/>
                </a:solidFill>
              </a:defRPr>
            </a:pPr>
            <a:r>
              <a:t>3. Speaker Identity Memorization is the Dominant Hidden Factor in High Reported Accuracies</a:t>
            </a:r>
          </a:p>
          <a:p>
            <a:pPr>
              <a:defRPr sz="1100">
                <a:solidFill>
                  <a:srgbClr val="0F172A"/>
                </a:solidFill>
              </a:defRPr>
            </a:pPr>
            <a:r>
              <a:t>   - Evaluating on unseen speakers causes a sharp 12% to 25% accuracy collapse across all corpora.</a:t>
            </a:r>
          </a:p>
          <a:p>
            <a:pPr>
              <a:defRPr sz="1100">
                <a:solidFill>
                  <a:srgbClr val="0F172A"/>
                </a:solidFill>
              </a:defRPr>
            </a:pPr>
            <a:r>
              <a:t>   - When combined with data leakage (augmenting before splitting, +15-20%), models easily reach artificial 90%+ scores without true emotion generalization.</a:t>
            </a:r>
          </a:p>
          <a:p>
            <a:pPr>
              <a:defRPr sz="1100">
                <a:solidFill>
                  <a:srgbClr val="0F172A"/>
                </a:solidFill>
              </a:defRPr>
            </a:pPr>
          </a:p>
          <a:p>
            <a:pPr>
              <a:defRPr sz="1100">
                <a:solidFill>
                  <a:srgbClr val="0F172A"/>
                </a:solidFill>
              </a:defRPr>
            </a:pPr>
            <a:r>
              <a:t>4. University Reproduction Takeaway</a:t>
            </a:r>
          </a:p>
          <a:p>
            <a:pPr>
              <a:defRPr sz="1100">
                <a:solidFill>
                  <a:srgbClr val="0F172A"/>
                </a:solidFill>
              </a:defRPr>
            </a:pPr>
            <a:r>
              <a:t>   - Scientific honesty requires reporting genuine leak-free numbers: this 1D-CNN architecture achieves ~65-72% in speaker-dependent conditions, and ~48-55% in speaker-independent conditions.</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TextBox 1"/>
          <p:cNvSpPr txBox="1"/>
          <p:nvPr/>
        </p:nvSpPr>
        <p:spPr>
          <a:xfrm>
            <a:off x="731520" y="365760"/>
            <a:ext cx="10515600" cy="365760"/>
          </a:xfrm>
          <a:prstGeom prst="rect">
            <a:avLst/>
          </a:prstGeom>
          <a:noFill/>
        </p:spPr>
        <p:txBody>
          <a:bodyPr wrap="square">
            <a:spAutoFit/>
          </a:bodyPr>
          <a:lstStyle/>
          <a:p>
            <a:pPr>
              <a:defRPr sz="1000" b="1">
                <a:solidFill>
                  <a:srgbClr val="0E7490"/>
                </a:solidFill>
              </a:defRPr>
            </a:pPr>
            <a:r>
              <a:t>SPEECH EMOTION RECOGNITION • WEEK 4</a:t>
            </a:r>
          </a:p>
        </p:txBody>
      </p:sp>
      <p:sp>
        <p:nvSpPr>
          <p:cNvPr id="3" name="TextBox 2"/>
          <p:cNvSpPr txBox="1"/>
          <p:nvPr/>
        </p:nvSpPr>
        <p:spPr>
          <a:xfrm>
            <a:off x="731520" y="640080"/>
            <a:ext cx="10515600" cy="731520"/>
          </a:xfrm>
          <a:prstGeom prst="rect">
            <a:avLst/>
          </a:prstGeom>
          <a:noFill/>
        </p:spPr>
        <p:txBody>
          <a:bodyPr wrap="square">
            <a:spAutoFit/>
          </a:bodyPr>
          <a:lstStyle/>
          <a:p>
            <a:pPr>
              <a:defRPr sz="2400" b="1">
                <a:solidFill>
                  <a:srgbClr val="1E3A8A"/>
                </a:solidFill>
              </a:defRPr>
            </a:pPr>
            <a:r>
              <a:t>Issues, Ambiguities &amp; Scientific Integrity</a:t>
            </a:r>
          </a:p>
        </p:txBody>
      </p:sp>
      <p:sp>
        <p:nvSpPr>
          <p:cNvPr id="4" name="Rounded Rectangle 3"/>
          <p:cNvSpPr/>
          <p:nvPr/>
        </p:nvSpPr>
        <p:spPr>
          <a:xfrm>
            <a:off x="731520" y="1554480"/>
            <a:ext cx="5120640" cy="4754880"/>
          </a:xfrm>
          <a:prstGeom prst="roundRect">
            <a:avLst/>
          </a:prstGeom>
          <a:solidFill>
            <a:srgbClr val="FFFFFF"/>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14400" y="1691640"/>
            <a:ext cx="4754880" cy="457200"/>
          </a:xfrm>
          <a:prstGeom prst="rect">
            <a:avLst/>
          </a:prstGeom>
          <a:noFill/>
        </p:spPr>
        <p:txBody>
          <a:bodyPr wrap="none">
            <a:spAutoFit/>
          </a:bodyPr>
          <a:lstStyle/>
          <a:p>
            <a:pPr>
              <a:defRPr sz="1400" b="1">
                <a:solidFill>
                  <a:srgbClr val="1E3A8A"/>
                </a:solidFill>
              </a:defRPr>
            </a:pPr>
            <a:r>
              <a:t>Documented Paper Ambiguities</a:t>
            </a:r>
          </a:p>
        </p:txBody>
      </p:sp>
      <p:sp>
        <p:nvSpPr>
          <p:cNvPr id="6" name="TextBox 5"/>
          <p:cNvSpPr txBox="1"/>
          <p:nvPr/>
        </p:nvSpPr>
        <p:spPr>
          <a:xfrm>
            <a:off x="914400" y="2103120"/>
            <a:ext cx="4754880" cy="4023360"/>
          </a:xfrm>
          <a:prstGeom prst="rect">
            <a:avLst/>
          </a:prstGeom>
          <a:noFill/>
        </p:spPr>
        <p:txBody>
          <a:bodyPr wrap="square">
            <a:spAutoFit/>
          </a:bodyPr>
          <a:lstStyle/>
          <a:p>
            <a:pPr>
              <a:defRPr sz="1100">
                <a:solidFill>
                  <a:srgbClr val="0F172A"/>
                </a:solidFill>
              </a:defRPr>
            </a:pPr>
            <a:r>
              <a:t>• Missing Specifications in the Published Article:</a:t>
            </a:r>
          </a:p>
          <a:p>
            <a:pPr>
              <a:defRPr sz="1100">
                <a:solidFill>
                  <a:srgbClr val="0F172A"/>
                </a:solidFill>
              </a:defRPr>
            </a:pPr>
            <a:r>
              <a:t>  1. Input Dimension Construction:</a:t>
            </a:r>
          </a:p>
          <a:p>
            <a:pPr>
              <a:defRPr sz="1100">
                <a:solidFill>
                  <a:srgbClr val="0F172A"/>
                </a:solidFill>
              </a:defRPr>
            </a:pPr>
            <a:r>
              <a:t>     - States '144 feature vectors' but omits frame length, hop size, windowing function, and audio duration.</a:t>
            </a:r>
          </a:p>
          <a:p>
            <a:pPr>
              <a:defRPr sz="1100">
                <a:solidFill>
                  <a:srgbClr val="0F172A"/>
                </a:solidFill>
              </a:defRPr>
            </a:pPr>
            <a:r>
              <a:t>  2. Padding Configuration:</a:t>
            </a:r>
          </a:p>
          <a:p>
            <a:pPr>
              <a:defRPr sz="1100">
                <a:solidFill>
                  <a:srgbClr val="0F172A"/>
                </a:solidFill>
              </a:defRPr>
            </a:pPr>
            <a:r>
              <a:t>     - Uses kernel size 15 across 4 Conv1D layers. Without padding='same', spatial dimensions collapse to negative numbers on 24-dim inputs.</a:t>
            </a:r>
          </a:p>
          <a:p>
            <a:pPr>
              <a:defRPr sz="1100">
                <a:solidFill>
                  <a:srgbClr val="0F172A"/>
                </a:solidFill>
              </a:defRPr>
            </a:pPr>
            <a:r>
              <a:t>  3. Augmentation Timing:</a:t>
            </a:r>
          </a:p>
          <a:p>
            <a:pPr>
              <a:defRPr sz="1100">
                <a:solidFill>
                  <a:srgbClr val="0F172A"/>
                </a:solidFill>
              </a:defRPr>
            </a:pPr>
            <a:r>
              <a:t>     - Completely silent on whether 5x Gaussian augmentation occurred before or after train/val/test splitting.</a:t>
            </a:r>
          </a:p>
          <a:p>
            <a:pPr>
              <a:defRPr sz="1100">
                <a:solidFill>
                  <a:srgbClr val="0F172A"/>
                </a:solidFill>
              </a:defRPr>
            </a:pPr>
            <a:r>
              <a:t>  4. Speaker Partitioning:</a:t>
            </a:r>
          </a:p>
          <a:p>
            <a:pPr>
              <a:defRPr sz="1100">
                <a:solidFill>
                  <a:srgbClr val="0F172A"/>
                </a:solidFill>
              </a:defRPr>
            </a:pPr>
            <a:r>
              <a:t>     - No mention of speaker disjointness or speaker cross-validation.</a:t>
            </a:r>
          </a:p>
        </p:txBody>
      </p:sp>
      <p:sp>
        <p:nvSpPr>
          <p:cNvPr id="7" name="Rounded Rectangle 6"/>
          <p:cNvSpPr/>
          <p:nvPr/>
        </p:nvSpPr>
        <p:spPr>
          <a:xfrm>
            <a:off x="6217920" y="1554480"/>
            <a:ext cx="5212080" cy="4754880"/>
          </a:xfrm>
          <a:prstGeom prst="roundRect">
            <a:avLst/>
          </a:prstGeom>
          <a:solidFill>
            <a:srgbClr val="FFFFFF"/>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400800" y="1691640"/>
            <a:ext cx="4846320" cy="457200"/>
          </a:xfrm>
          <a:prstGeom prst="rect">
            <a:avLst/>
          </a:prstGeom>
          <a:noFill/>
        </p:spPr>
        <p:txBody>
          <a:bodyPr wrap="none">
            <a:spAutoFit/>
          </a:bodyPr>
          <a:lstStyle/>
          <a:p>
            <a:pPr>
              <a:defRPr sz="1400" b="1">
                <a:solidFill>
                  <a:srgbClr val="1E3A8A"/>
                </a:solidFill>
              </a:defRPr>
            </a:pPr>
            <a:r>
              <a:t>Reproduction Integrity Principles</a:t>
            </a:r>
          </a:p>
        </p:txBody>
      </p:sp>
      <p:sp>
        <p:nvSpPr>
          <p:cNvPr id="9" name="TextBox 8"/>
          <p:cNvSpPr txBox="1"/>
          <p:nvPr/>
        </p:nvSpPr>
        <p:spPr>
          <a:xfrm>
            <a:off x="6400800" y="2103120"/>
            <a:ext cx="4846320" cy="4023360"/>
          </a:xfrm>
          <a:prstGeom prst="rect">
            <a:avLst/>
          </a:prstGeom>
          <a:noFill/>
        </p:spPr>
        <p:txBody>
          <a:bodyPr wrap="square">
            <a:spAutoFit/>
          </a:bodyPr>
          <a:lstStyle/>
          <a:p>
            <a:pPr>
              <a:defRPr sz="1100">
                <a:solidFill>
                  <a:srgbClr val="0F172A"/>
                </a:solidFill>
              </a:defRPr>
            </a:pPr>
            <a:r>
              <a:t>• Adherence to Academic Best Practices:</a:t>
            </a:r>
          </a:p>
          <a:p>
            <a:pPr>
              <a:defRPr sz="1100">
                <a:solidFill>
                  <a:srgbClr val="0F172A"/>
                </a:solidFill>
              </a:defRPr>
            </a:pPr>
            <a:r>
              <a:t>  - Data Provenance Disclosures: EmoDB and AESDD from official releases; CAFE and MESD ingested via CAMEO HuggingFace mirror (not verified against official Zenodo/Mendeley releases).</a:t>
            </a:r>
          </a:p>
          <a:p>
            <a:pPr>
              <a:defRPr sz="1100">
                <a:solidFill>
                  <a:srgbClr val="0F172A"/>
                </a:solidFill>
              </a:defRPr>
            </a:pPr>
            <a:r>
              <a:t>  - Paper Citation Clarifications: Documented difference between 97.2% (Page 8 / Figure 8 text for 30 coeffs) and 97.5% (Page 13 Table 2 / Page 2 Abstract peak across all coeffs).</a:t>
            </a:r>
          </a:p>
          <a:p>
            <a:pPr>
              <a:defRPr sz="1100">
                <a:solidFill>
                  <a:srgbClr val="0F172A"/>
                </a:solidFill>
              </a:defRPr>
            </a:pPr>
            <a:r>
              <a:t>  - Zero Cherry-Picking: Multi-seed evaluations (42, 43, 44) reported with mean ± standard deviation.</a:t>
            </a:r>
          </a:p>
          <a:p>
            <a:pPr>
              <a:defRPr sz="1100">
                <a:solidFill>
                  <a:srgbClr val="0F172A"/>
                </a:solidFill>
              </a:defRPr>
            </a:pPr>
            <a:r>
              <a:t>  - Frozen Test Sets: Selected models chosen solely by validation accuracy; test partition scored exactly once.</a:t>
            </a:r>
          </a:p>
          <a:p>
            <a:pPr>
              <a:defRPr sz="1100">
                <a:solidFill>
                  <a:srgbClr val="0F172A"/>
                </a:solidFill>
              </a:defRPr>
            </a:pPr>
            <a:r>
              <a:t>  - Cautious Language: Claims framed as 'not replicated under our implementation' rather than absolute failure.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TextBox 1"/>
          <p:cNvSpPr txBox="1"/>
          <p:nvPr/>
        </p:nvSpPr>
        <p:spPr>
          <a:xfrm>
            <a:off x="731520" y="365760"/>
            <a:ext cx="10515600" cy="365760"/>
          </a:xfrm>
          <a:prstGeom prst="rect">
            <a:avLst/>
          </a:prstGeom>
          <a:noFill/>
        </p:spPr>
        <p:txBody>
          <a:bodyPr wrap="square">
            <a:spAutoFit/>
          </a:bodyPr>
          <a:lstStyle/>
          <a:p>
            <a:pPr>
              <a:defRPr sz="1000" b="1">
                <a:solidFill>
                  <a:srgbClr val="0E7490"/>
                </a:solidFill>
              </a:defRPr>
            </a:pPr>
            <a:r>
              <a:t>SPEECH EMOTION RECOGNITION • WEEK 4</a:t>
            </a:r>
          </a:p>
        </p:txBody>
      </p:sp>
      <p:sp>
        <p:nvSpPr>
          <p:cNvPr id="3" name="TextBox 2"/>
          <p:cNvSpPr txBox="1"/>
          <p:nvPr/>
        </p:nvSpPr>
        <p:spPr>
          <a:xfrm>
            <a:off x="731520" y="640080"/>
            <a:ext cx="10515600" cy="731520"/>
          </a:xfrm>
          <a:prstGeom prst="rect">
            <a:avLst/>
          </a:prstGeom>
          <a:noFill/>
        </p:spPr>
        <p:txBody>
          <a:bodyPr wrap="square">
            <a:spAutoFit/>
          </a:bodyPr>
          <a:lstStyle/>
          <a:p>
            <a:pPr>
              <a:defRPr sz="2400" b="1">
                <a:solidFill>
                  <a:srgbClr val="1E3A8A"/>
                </a:solidFill>
              </a:defRPr>
            </a:pPr>
            <a:r>
              <a:t>Next Steps: Week 5 Research Roadmap</a:t>
            </a:r>
          </a:p>
        </p:txBody>
      </p:sp>
      <p:sp>
        <p:nvSpPr>
          <p:cNvPr id="4" name="Rounded Rectangle 3"/>
          <p:cNvSpPr/>
          <p:nvPr/>
        </p:nvSpPr>
        <p:spPr>
          <a:xfrm>
            <a:off x="731520" y="1554480"/>
            <a:ext cx="3383280" cy="4754880"/>
          </a:xfrm>
          <a:prstGeom prst="roundRect">
            <a:avLst/>
          </a:prstGeom>
          <a:solidFill>
            <a:srgbClr val="FFFFFF"/>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14400" y="1691640"/>
            <a:ext cx="3017520" cy="457200"/>
          </a:xfrm>
          <a:prstGeom prst="rect">
            <a:avLst/>
          </a:prstGeom>
          <a:noFill/>
        </p:spPr>
        <p:txBody>
          <a:bodyPr wrap="none">
            <a:spAutoFit/>
          </a:bodyPr>
          <a:lstStyle/>
          <a:p>
            <a:pPr>
              <a:defRPr sz="1400" b="1">
                <a:solidFill>
                  <a:srgbClr val="1E3A8A"/>
                </a:solidFill>
              </a:defRPr>
            </a:pPr>
            <a:r>
              <a:t>1. Advanced Regularization</a:t>
            </a:r>
          </a:p>
        </p:txBody>
      </p:sp>
      <p:sp>
        <p:nvSpPr>
          <p:cNvPr id="6" name="TextBox 5"/>
          <p:cNvSpPr txBox="1"/>
          <p:nvPr/>
        </p:nvSpPr>
        <p:spPr>
          <a:xfrm>
            <a:off x="914400" y="2103120"/>
            <a:ext cx="3017520" cy="4023360"/>
          </a:xfrm>
          <a:prstGeom prst="rect">
            <a:avLst/>
          </a:prstGeom>
          <a:noFill/>
        </p:spPr>
        <p:txBody>
          <a:bodyPr wrap="square">
            <a:spAutoFit/>
          </a:bodyPr>
          <a:lstStyle/>
          <a:p>
            <a:pPr>
              <a:defRPr sz="1100">
                <a:solidFill>
                  <a:srgbClr val="0F172A"/>
                </a:solidFill>
              </a:defRPr>
            </a:pPr>
            <a:r>
              <a:t>• Combating Overfitting:</a:t>
            </a:r>
          </a:p>
          <a:p>
            <a:pPr>
              <a:defRPr sz="1100">
                <a:solidFill>
                  <a:srgbClr val="0F172A"/>
                </a:solidFill>
              </a:defRPr>
            </a:pPr>
            <a:r>
              <a:t>  - L2 weight decay on dense layers.</a:t>
            </a:r>
          </a:p>
          <a:p>
            <a:pPr>
              <a:defRPr sz="1100">
                <a:solidFill>
                  <a:srgbClr val="0F172A"/>
                </a:solidFill>
              </a:defRPr>
            </a:pPr>
            <a:r>
              <a:t>  - SpatialDropout1D across convolutional feature maps.</a:t>
            </a:r>
          </a:p>
          <a:p>
            <a:pPr>
              <a:defRPr sz="1100">
                <a:solidFill>
                  <a:srgbClr val="0F172A"/>
                </a:solidFill>
              </a:defRPr>
            </a:pPr>
            <a:r>
              <a:t>  - Early stopping with patience=15 to prevent late-epoch memorization.</a:t>
            </a:r>
          </a:p>
          <a:p>
            <a:pPr>
              <a:defRPr sz="1100">
                <a:solidFill>
                  <a:srgbClr val="0F172A"/>
                </a:solidFill>
              </a:defRPr>
            </a:pPr>
            <a:r>
              <a:t>  - Cosine annealing learning rate schedules.</a:t>
            </a:r>
          </a:p>
        </p:txBody>
      </p:sp>
      <p:sp>
        <p:nvSpPr>
          <p:cNvPr id="7" name="Rounded Rectangle 6"/>
          <p:cNvSpPr/>
          <p:nvPr/>
        </p:nvSpPr>
        <p:spPr>
          <a:xfrm>
            <a:off x="4389120" y="1554480"/>
            <a:ext cx="3383280" cy="4754880"/>
          </a:xfrm>
          <a:prstGeom prst="roundRect">
            <a:avLst/>
          </a:prstGeom>
          <a:solidFill>
            <a:srgbClr val="FFFFFF"/>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572000" y="1691640"/>
            <a:ext cx="3017520" cy="457200"/>
          </a:xfrm>
          <a:prstGeom prst="rect">
            <a:avLst/>
          </a:prstGeom>
          <a:noFill/>
        </p:spPr>
        <p:txBody>
          <a:bodyPr wrap="none">
            <a:spAutoFit/>
          </a:bodyPr>
          <a:lstStyle/>
          <a:p>
            <a:pPr>
              <a:defRPr sz="1400" b="1">
                <a:solidFill>
                  <a:srgbClr val="1E3A8A"/>
                </a:solidFill>
              </a:defRPr>
            </a:pPr>
            <a:r>
              <a:t>2. Acoustic Augmentations</a:t>
            </a:r>
          </a:p>
        </p:txBody>
      </p:sp>
      <p:sp>
        <p:nvSpPr>
          <p:cNvPr id="9" name="TextBox 8"/>
          <p:cNvSpPr txBox="1"/>
          <p:nvPr/>
        </p:nvSpPr>
        <p:spPr>
          <a:xfrm>
            <a:off x="4572000" y="2103120"/>
            <a:ext cx="3017520" cy="4023360"/>
          </a:xfrm>
          <a:prstGeom prst="rect">
            <a:avLst/>
          </a:prstGeom>
          <a:noFill/>
        </p:spPr>
        <p:txBody>
          <a:bodyPr wrap="square">
            <a:spAutoFit/>
          </a:bodyPr>
          <a:lstStyle/>
          <a:p>
            <a:pPr>
              <a:defRPr sz="1100">
                <a:solidFill>
                  <a:srgbClr val="0F172A"/>
                </a:solidFill>
              </a:defRPr>
            </a:pPr>
            <a:r>
              <a:t>• Beyond Additive White Noise:</a:t>
            </a:r>
          </a:p>
          <a:p>
            <a:pPr>
              <a:defRPr sz="1100">
                <a:solidFill>
                  <a:srgbClr val="0F172A"/>
                </a:solidFill>
              </a:defRPr>
            </a:pPr>
            <a:r>
              <a:t>  - SpecAugment (frequency and time masking) on spectrograms.</a:t>
            </a:r>
          </a:p>
          <a:p>
            <a:pPr>
              <a:defRPr sz="1100">
                <a:solidFill>
                  <a:srgbClr val="0F172A"/>
                </a:solidFill>
              </a:defRPr>
            </a:pPr>
            <a:r>
              <a:t>  - Pitch shifting (±2 semitones) to simulate speaker vocal tract variance.</a:t>
            </a:r>
          </a:p>
          <a:p>
            <a:pPr>
              <a:defRPr sz="1100">
                <a:solidFill>
                  <a:srgbClr val="0F172A"/>
                </a:solidFill>
              </a:defRPr>
            </a:pPr>
            <a:r>
              <a:t>  - Time stretching (0.9x–1.1x) to vary speaking rate.</a:t>
            </a:r>
          </a:p>
          <a:p>
            <a:pPr>
              <a:defRPr sz="1100">
                <a:solidFill>
                  <a:srgbClr val="0F172A"/>
                </a:solidFill>
              </a:defRPr>
            </a:pPr>
            <a:r>
              <a:t>  - Test whether acoustic shifts improve speaker independence.</a:t>
            </a:r>
          </a:p>
        </p:txBody>
      </p:sp>
      <p:sp>
        <p:nvSpPr>
          <p:cNvPr id="10" name="Rounded Rectangle 9"/>
          <p:cNvSpPr/>
          <p:nvPr/>
        </p:nvSpPr>
        <p:spPr>
          <a:xfrm>
            <a:off x="8046720" y="1554480"/>
            <a:ext cx="3383280" cy="4754880"/>
          </a:xfrm>
          <a:prstGeom prst="roundRect">
            <a:avLst/>
          </a:prstGeom>
          <a:solidFill>
            <a:srgbClr val="FFFFFF"/>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229600" y="1691640"/>
            <a:ext cx="3017520" cy="457200"/>
          </a:xfrm>
          <a:prstGeom prst="rect">
            <a:avLst/>
          </a:prstGeom>
          <a:noFill/>
        </p:spPr>
        <p:txBody>
          <a:bodyPr wrap="none">
            <a:spAutoFit/>
          </a:bodyPr>
          <a:lstStyle/>
          <a:p>
            <a:pPr>
              <a:defRPr sz="1400" b="1">
                <a:solidFill>
                  <a:srgbClr val="1E3A8A"/>
                </a:solidFill>
              </a:defRPr>
            </a:pPr>
            <a:r>
              <a:t>3. Final Paper &amp; Code Release</a:t>
            </a:r>
          </a:p>
        </p:txBody>
      </p:sp>
      <p:sp>
        <p:nvSpPr>
          <p:cNvPr id="12" name="TextBox 11"/>
          <p:cNvSpPr txBox="1"/>
          <p:nvPr/>
        </p:nvSpPr>
        <p:spPr>
          <a:xfrm>
            <a:off x="8229600" y="2103120"/>
            <a:ext cx="3017520" cy="4023360"/>
          </a:xfrm>
          <a:prstGeom prst="rect">
            <a:avLst/>
          </a:prstGeom>
          <a:noFill/>
        </p:spPr>
        <p:txBody>
          <a:bodyPr wrap="square">
            <a:spAutoFit/>
          </a:bodyPr>
          <a:lstStyle/>
          <a:p>
            <a:pPr>
              <a:defRPr sz="1100">
                <a:solidFill>
                  <a:srgbClr val="0F172A"/>
                </a:solidFill>
              </a:defRPr>
            </a:pPr>
            <a:r>
              <a:t>• Deliverables &amp; Synthesis:</a:t>
            </a:r>
          </a:p>
          <a:p>
            <a:pPr>
              <a:defRPr sz="1100">
                <a:solidFill>
                  <a:srgbClr val="0F172A"/>
                </a:solidFill>
              </a:defRPr>
            </a:pPr>
            <a:r>
              <a:t>  - Comprehensive reproduction report detailing why the paper's 97.2% claim is fragile.</a:t>
            </a:r>
          </a:p>
          <a:p>
            <a:pPr>
              <a:defRPr sz="1100">
                <a:solidFill>
                  <a:srgbClr val="0F172A"/>
                </a:solidFill>
              </a:defRPr>
            </a:pPr>
            <a:r>
              <a:t>  - Open-source reproduction repository with automated verification suites.</a:t>
            </a:r>
          </a:p>
          <a:p>
            <a:pPr>
              <a:defRPr sz="1100">
                <a:solidFill>
                  <a:srgbClr val="0F172A"/>
                </a:solidFill>
              </a:defRPr>
            </a:pPr>
            <a:r>
              <a:t>  - Guidelines for rigorous, leak-free evaluation in speech emotion recognition research.</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TextBox 1"/>
          <p:cNvSpPr txBox="1"/>
          <p:nvPr/>
        </p:nvSpPr>
        <p:spPr>
          <a:xfrm>
            <a:off x="731520" y="365760"/>
            <a:ext cx="10515600" cy="365760"/>
          </a:xfrm>
          <a:prstGeom prst="rect">
            <a:avLst/>
          </a:prstGeom>
          <a:noFill/>
        </p:spPr>
        <p:txBody>
          <a:bodyPr wrap="square">
            <a:spAutoFit/>
          </a:bodyPr>
          <a:lstStyle/>
          <a:p>
            <a:pPr>
              <a:defRPr sz="1000" b="1">
                <a:solidFill>
                  <a:srgbClr val="0E7490"/>
                </a:solidFill>
              </a:defRPr>
            </a:pPr>
            <a:r>
              <a:t>SPEECH EMOTION RECOGNITION • WEEK 4</a:t>
            </a:r>
          </a:p>
        </p:txBody>
      </p:sp>
      <p:sp>
        <p:nvSpPr>
          <p:cNvPr id="3" name="TextBox 2"/>
          <p:cNvSpPr txBox="1"/>
          <p:nvPr/>
        </p:nvSpPr>
        <p:spPr>
          <a:xfrm>
            <a:off x="731520" y="640080"/>
            <a:ext cx="10515600" cy="731520"/>
          </a:xfrm>
          <a:prstGeom prst="rect">
            <a:avLst/>
          </a:prstGeom>
          <a:noFill/>
        </p:spPr>
        <p:txBody>
          <a:bodyPr wrap="square">
            <a:spAutoFit/>
          </a:bodyPr>
          <a:lstStyle/>
          <a:p>
            <a:pPr>
              <a:defRPr sz="2400" b="1">
                <a:solidFill>
                  <a:srgbClr val="1E3A8A"/>
                </a:solidFill>
              </a:defRPr>
            </a:pPr>
            <a:r>
              <a:t>Backup Slide: Multi-Corpus Architecture &amp; Loss Dynamics</a:t>
            </a:r>
          </a:p>
        </p:txBody>
      </p:sp>
      <p:sp>
        <p:nvSpPr>
          <p:cNvPr id="4" name="Rounded Rectangle 3"/>
          <p:cNvSpPr/>
          <p:nvPr/>
        </p:nvSpPr>
        <p:spPr>
          <a:xfrm>
            <a:off x="731520" y="1554480"/>
            <a:ext cx="5120640" cy="4754880"/>
          </a:xfrm>
          <a:prstGeom prst="roundRect">
            <a:avLst/>
          </a:prstGeom>
          <a:solidFill>
            <a:srgbClr val="FFFFFF"/>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14400" y="1691640"/>
            <a:ext cx="4754880" cy="457200"/>
          </a:xfrm>
          <a:prstGeom prst="rect">
            <a:avLst/>
          </a:prstGeom>
          <a:noFill/>
        </p:spPr>
        <p:txBody>
          <a:bodyPr wrap="none">
            <a:spAutoFit/>
          </a:bodyPr>
          <a:lstStyle/>
          <a:p>
            <a:pPr>
              <a:defRPr sz="1400" b="1">
                <a:solidFill>
                  <a:srgbClr val="1E3A8A"/>
                </a:solidFill>
              </a:defRPr>
            </a:pPr>
            <a:r>
              <a:t>1D-CNN Layer-by-Layer Specifications</a:t>
            </a:r>
          </a:p>
        </p:txBody>
      </p:sp>
      <p:sp>
        <p:nvSpPr>
          <p:cNvPr id="6" name="TextBox 5"/>
          <p:cNvSpPr txBox="1"/>
          <p:nvPr/>
        </p:nvSpPr>
        <p:spPr>
          <a:xfrm>
            <a:off x="914400" y="2103120"/>
            <a:ext cx="4754880" cy="4023360"/>
          </a:xfrm>
          <a:prstGeom prst="rect">
            <a:avLst/>
          </a:prstGeom>
          <a:noFill/>
        </p:spPr>
        <p:txBody>
          <a:bodyPr wrap="square">
            <a:spAutoFit/>
          </a:bodyPr>
          <a:lstStyle/>
          <a:p>
            <a:pPr>
              <a:defRPr sz="1050">
                <a:solidFill>
                  <a:srgbClr val="0F172A"/>
                </a:solidFill>
              </a:defRPr>
            </a:pPr>
            <a:r>
              <a:t>• Baseline Model (Global Pooled Summary):</a:t>
            </a:r>
          </a:p>
          <a:p>
            <a:pPr>
              <a:defRPr sz="1050">
                <a:solidFill>
                  <a:srgbClr val="0F172A"/>
                </a:solidFill>
              </a:defRPr>
            </a:pPr>
            <a:r>
              <a:t>  - Input: (N, D, 1) where D in {24, 48, 60}</a:t>
            </a:r>
          </a:p>
          <a:p>
            <a:pPr>
              <a:defRPr sz="1050">
                <a:solidFill>
                  <a:srgbClr val="0F172A"/>
                </a:solidFill>
              </a:defRPr>
            </a:pPr>
            <a:r>
              <a:t>  - Block 1: Conv1D(8, k=15, same) -&gt; BN -&gt; ReLU -&gt; MaxPool(2)</a:t>
            </a:r>
          </a:p>
          <a:p>
            <a:pPr>
              <a:defRPr sz="1050">
                <a:solidFill>
                  <a:srgbClr val="0F172A"/>
                </a:solidFill>
              </a:defRPr>
            </a:pPr>
            <a:r>
              <a:t>  - Block 2: Conv1D(16, k=15, same) -&gt; BN -&gt; ReLU -&gt; MaxPool(2)</a:t>
            </a:r>
          </a:p>
          <a:p>
            <a:pPr>
              <a:defRPr sz="1050">
                <a:solidFill>
                  <a:srgbClr val="0F172A"/>
                </a:solidFill>
              </a:defRPr>
            </a:pPr>
            <a:r>
              <a:t>  - Block 3: Conv1D(32, k=15, same) -&gt; BN -&gt; ReLU -&gt; MaxPool(2)</a:t>
            </a:r>
          </a:p>
          <a:p>
            <a:pPr>
              <a:defRPr sz="1050">
                <a:solidFill>
                  <a:srgbClr val="0F172A"/>
                </a:solidFill>
              </a:defRPr>
            </a:pPr>
            <a:r>
              <a:t>  - Block 4: Conv1D(64, k=15, same) -&gt; BN -&gt; ReLU -&gt; MaxPool(2)</a:t>
            </a:r>
          </a:p>
          <a:p>
            <a:pPr>
              <a:defRPr sz="1050">
                <a:solidFill>
                  <a:srgbClr val="0F172A"/>
                </a:solidFill>
              </a:defRPr>
            </a:pPr>
            <a:r>
              <a:t>  - Head: Dropout(0.3) -&gt; Flatten -&gt; Dense(120, ReLU) -&gt; Dropout(0.2) -&gt; Dense(C, Softmax)</a:t>
            </a:r>
          </a:p>
          <a:p>
            <a:pPr>
              <a:defRPr sz="1050">
                <a:solidFill>
                  <a:srgbClr val="0F172A"/>
                </a:solidFill>
              </a:defRPr>
            </a:pPr>
            <a:r>
              <a:t>  - Total Parameters: 49,687 (12 coeffs) / 65,047 (24 &amp; 30 coeffs)</a:t>
            </a:r>
          </a:p>
          <a:p>
            <a:pPr>
              <a:defRPr sz="1050">
                <a:solidFill>
                  <a:srgbClr val="0F172A"/>
                </a:solidFill>
              </a:defRPr>
            </a:pPr>
          </a:p>
          <a:p>
            <a:pPr>
              <a:defRPr sz="1050">
                <a:solidFill>
                  <a:srgbClr val="0F172A"/>
                </a:solidFill>
              </a:defRPr>
            </a:pPr>
            <a:r>
              <a:t>• frames144 Model (Temporal Sequence):</a:t>
            </a:r>
          </a:p>
          <a:p>
            <a:pPr>
              <a:defRPr sz="1050">
                <a:solidFill>
                  <a:srgbClr val="0F172A"/>
                </a:solidFill>
              </a:defRPr>
            </a:pPr>
            <a:r>
              <a:t>  - Input: (N, 144, C) where C in {12, 24, 30}</a:t>
            </a:r>
          </a:p>
          <a:p>
            <a:pPr>
              <a:defRPr sz="1050">
                <a:solidFill>
                  <a:srgbClr val="0F172A"/>
                </a:solidFill>
              </a:defRPr>
            </a:pPr>
            <a:r>
              <a:t>  - Pooling over time: 144 -&gt; 72 -&gt; 36 -&gt; 18 -&gt; 9 frames</a:t>
            </a:r>
          </a:p>
          <a:p>
            <a:pPr>
              <a:defRPr sz="1050">
                <a:solidFill>
                  <a:srgbClr val="0F172A"/>
                </a:solidFill>
              </a:defRPr>
            </a:pPr>
            <a:r>
              <a:t>  - Flatten: 9 x 64 = 576 units into Dense(120)</a:t>
            </a:r>
          </a:p>
          <a:p>
            <a:pPr>
              <a:defRPr sz="1050">
                <a:solidFill>
                  <a:srgbClr val="0F172A"/>
                </a:solidFill>
              </a:defRPr>
            </a:pPr>
            <a:r>
              <a:t>  - Total Parameters: ~104,000</a:t>
            </a:r>
          </a:p>
        </p:txBody>
      </p:sp>
      <p:sp>
        <p:nvSpPr>
          <p:cNvPr id="7" name="Rounded Rectangle 6"/>
          <p:cNvSpPr/>
          <p:nvPr/>
        </p:nvSpPr>
        <p:spPr>
          <a:xfrm>
            <a:off x="6217920" y="1554480"/>
            <a:ext cx="5212080" cy="4754880"/>
          </a:xfrm>
          <a:prstGeom prst="roundRect">
            <a:avLst/>
          </a:prstGeom>
          <a:solidFill>
            <a:srgbClr val="FFFFFF"/>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400800" y="1691640"/>
            <a:ext cx="4846320" cy="457200"/>
          </a:xfrm>
          <a:prstGeom prst="rect">
            <a:avLst/>
          </a:prstGeom>
          <a:noFill/>
        </p:spPr>
        <p:txBody>
          <a:bodyPr wrap="none">
            <a:spAutoFit/>
          </a:bodyPr>
          <a:lstStyle/>
          <a:p>
            <a:pPr>
              <a:defRPr sz="1400" b="1">
                <a:solidFill>
                  <a:srgbClr val="1E3A8A"/>
                </a:solidFill>
              </a:defRPr>
            </a:pPr>
            <a:r>
              <a:t>Multi-Seed Experimental Summary</a:t>
            </a:r>
          </a:p>
        </p:txBody>
      </p:sp>
      <p:sp>
        <p:nvSpPr>
          <p:cNvPr id="9" name="TextBox 8"/>
          <p:cNvSpPr txBox="1"/>
          <p:nvPr/>
        </p:nvSpPr>
        <p:spPr>
          <a:xfrm>
            <a:off x="6400800" y="2103120"/>
            <a:ext cx="4846320" cy="4023360"/>
          </a:xfrm>
          <a:prstGeom prst="rect">
            <a:avLst/>
          </a:prstGeom>
          <a:noFill/>
        </p:spPr>
        <p:txBody>
          <a:bodyPr wrap="square">
            <a:spAutoFit/>
          </a:bodyPr>
          <a:lstStyle/>
          <a:p>
            <a:pPr>
              <a:defRPr sz="1050">
                <a:solidFill>
                  <a:srgbClr val="0F172A"/>
                </a:solidFill>
              </a:defRPr>
            </a:pPr>
            <a:r>
              <a:t>• Execution &amp; Reproducibility Parameters:</a:t>
            </a:r>
          </a:p>
          <a:p>
            <a:pPr>
              <a:defRPr sz="1050">
                <a:solidFill>
                  <a:srgbClr val="0F172A"/>
                </a:solidFill>
              </a:defRPr>
            </a:pPr>
            <a:r>
              <a:t>  - Optimizer: Adam, Learning Rate = 0.001</a:t>
            </a:r>
          </a:p>
          <a:p>
            <a:pPr>
              <a:defRPr sz="1050">
                <a:solidFill>
                  <a:srgbClr val="0F172A"/>
                </a:solidFill>
              </a:defRPr>
            </a:pPr>
            <a:r>
              <a:t>  - Epochs: 100, Batch Size = 32</a:t>
            </a:r>
          </a:p>
          <a:p>
            <a:pPr>
              <a:defRPr sz="1050">
                <a:solidFill>
                  <a:srgbClr val="0F172A"/>
                </a:solidFill>
              </a:defRPr>
            </a:pPr>
            <a:r>
              <a:t>  - Loss: Sparse Categorical Cross-Entropy</a:t>
            </a:r>
          </a:p>
          <a:p>
            <a:pPr>
              <a:defRPr sz="1050">
                <a:solidFill>
                  <a:srgbClr val="0F172A"/>
                </a:solidFill>
              </a:defRPr>
            </a:pPr>
            <a:r>
              <a:t>  - Checkpoint: ModelCheckpoint monitoring val_accuracy (mode='max')</a:t>
            </a:r>
          </a:p>
          <a:p>
            <a:pPr>
              <a:defRPr sz="1050">
                <a:solidFill>
                  <a:srgbClr val="0F172A"/>
                </a:solidFill>
              </a:defRPr>
            </a:pPr>
            <a:r>
              <a:t>  - Test Evaluation: Frozen checkpoint evaluated once on test split</a:t>
            </a:r>
          </a:p>
          <a:p>
            <a:pPr>
              <a:defRPr sz="1050">
                <a:solidFill>
                  <a:srgbClr val="0F172A"/>
                </a:solidFill>
              </a:defRPr>
            </a:pPr>
          </a:p>
          <a:p>
            <a:pPr>
              <a:defRPr sz="1050">
                <a:solidFill>
                  <a:srgbClr val="0F172A"/>
                </a:solidFill>
              </a:defRPr>
            </a:pPr>
            <a:r>
              <a:t>• Verification &amp; Testing:</a:t>
            </a:r>
          </a:p>
          <a:p>
            <a:pPr>
              <a:defRPr sz="1050">
                <a:solidFill>
                  <a:srgbClr val="0F172A"/>
                </a:solidFill>
              </a:defRPr>
            </a:pPr>
            <a:r>
              <a:t>  - Automated unit test suite: tests/test_week4.py</a:t>
            </a:r>
          </a:p>
          <a:p>
            <a:pPr>
              <a:defRPr sz="1050">
                <a:solidFill>
                  <a:srgbClr val="0F172A"/>
                </a:solidFill>
              </a:defRPr>
            </a:pPr>
            <a:r>
              <a:t>  - Confirms zero NaNs, correct tensor dimensions, valid split sizes, and strict speaker disjointness.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